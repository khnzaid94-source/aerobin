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501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SUSTAINAI  ·  INTERN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1060704"/>
            <a:ext cx="100584" cy="10058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91440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AeroBin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03504" y="15544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 Impact Report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3504" y="2039112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B8C8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Pune's Pollution Before It Starts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3504" y="26060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AeroBin's AI burn-risk model into measurable environmental, social, and governance outcomes — with baselines, targets, and a practical measurement approach.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" y="3419856"/>
            <a:ext cx="5303520" cy="384048"/>
          </a:xfrm>
          <a:prstGeom prst="roundRect">
            <a:avLst>
              <a:gd name="adj" fmla="val 14286"/>
            </a:avLst>
          </a:prstGeom>
          <a:solidFill>
            <a:srgbClr val="1E2D3D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341985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 ·  ESG  (Environmental · Social · Governance)  ·  9 metrics  ·  3 pillars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477316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Khan  ·  AKI's Poona College, Pune  ·  CPCB AQI data 2015–2025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502920"/>
            <a:ext cx="2011680" cy="2011680"/>
          </a:xfrm>
          <a:prstGeom prst="ellipse">
            <a:avLst/>
          </a:prstGeom>
          <a:solidFill>
            <a:srgbClr val="1A1A2E"/>
          </a:solidFill>
          <a:ln w="254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4032" y="758952"/>
            <a:ext cx="1499616" cy="1499616"/>
          </a:xfrm>
          <a:prstGeom prst="ellipse">
            <a:avLst/>
          </a:prstGeom>
          <a:solidFill>
            <a:srgbClr val="1A1A2E"/>
          </a:solidFill>
          <a:ln w="19050">
            <a:solidFill>
              <a:srgbClr val="00B3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70064" y="1014984"/>
            <a:ext cx="987552" cy="987552"/>
          </a:xfrm>
          <a:prstGeom prst="ellipse">
            <a:avLst/>
          </a:prstGeom>
          <a:solidFill>
            <a:srgbClr val="00D4AA">
              <a:alpha val="8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0064" y="1014984"/>
            <a:ext cx="9875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17536" y="4389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58784" y="1188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17536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" y="3950208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1E2D3D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40050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2416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042416" y="4187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· Waste diverted · Fuel saved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163824" y="3950208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1E2D3D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40050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02736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02736" y="4187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Adoption · Equity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724144" y="3950208"/>
            <a:ext cx="2377440" cy="621792"/>
          </a:xfrm>
          <a:prstGeom prst="roundRect">
            <a:avLst>
              <a:gd name="adj" fmla="val 11765"/>
            </a:avLst>
          </a:prstGeom>
          <a:solidFill>
            <a:srgbClr val="1E2D3D"/>
          </a:solidFill>
          <a:ln w="12700">
            <a:solidFill>
              <a:srgbClr val="00B3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5584" y="400507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63056" y="39867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63056" y="41879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 · Accountability · Transparency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METRICS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ESG Impact Report  ·  Zaid Khan  ·  SustainAI  ·  Pune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566928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Environmental Impact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15568"/>
            <a:ext cx="8449056" cy="292608"/>
          </a:xfrm>
          <a:prstGeom prst="roundRect">
            <a:avLst>
              <a:gd name="adj" fmla="val 18750"/>
            </a:avLst>
          </a:prstGeom>
          <a:solidFill>
            <a:srgbClr val="E6F7F3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115568"/>
            <a:ext cx="8302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metrics directly tied to AeroBin's core mechanism: predicting and preventing open waste burning before it occurs.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1508760"/>
            <a:ext cx="844905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600200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002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32688" y="16002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Reduction (µg/m³)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1892808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station readings in pilot wards vs. control wards, weekly Oct–Feb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10312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CPCB AQI API — PM2.5 channel, 5 station average across pilot wards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77840" y="1600200"/>
            <a:ext cx="3090672" cy="347472"/>
          </a:xfrm>
          <a:prstGeom prst="roundRect">
            <a:avLst>
              <a:gd name="adj" fmla="val 15789"/>
            </a:avLst>
          </a:prstGeom>
          <a:solidFill>
            <a:srgbClr val="E6F7F3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1600200"/>
            <a:ext cx="29443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µg/m³ avg. PM2.5 in Pune winter (CPCB 2022–24)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577840" y="2020824"/>
            <a:ext cx="309067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50992" y="2020824"/>
            <a:ext cx="29443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~68 µg/m³  (↓20% in open-burning-attributable share)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" y="2587752"/>
            <a:ext cx="844905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79192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791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32688" y="267919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Diverted from Burning (tonnes/month)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2971800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collection logs: total waste collected from High-risk wards before burning window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18211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dispatch records + bin sensor weight logs (pilot bins)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2679192"/>
            <a:ext cx="3090672" cy="347472"/>
          </a:xfrm>
          <a:prstGeom prst="roundRect">
            <a:avLst>
              <a:gd name="adj" fmla="val 15789"/>
            </a:avLst>
          </a:prstGeom>
          <a:solidFill>
            <a:srgbClr val="E6F7F3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50992" y="2679192"/>
            <a:ext cx="29443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tonnes/month escapes collection in pilot wards (estimated)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77840" y="3099816"/>
            <a:ext cx="309067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3099816"/>
            <a:ext cx="29443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 tonnes/month (↓75% uncollected waste in High-risk wards)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666744"/>
            <a:ext cx="844905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758184"/>
            <a:ext cx="384048" cy="256032"/>
          </a:xfrm>
          <a:prstGeom prst="roundRect">
            <a:avLst>
              <a:gd name="adj" fmla="val 17857"/>
            </a:avLst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758184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32688" y="37581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Fuel Saved (litres/month)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" y="4050792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logged per route before vs. after model-driven routing; fewer false dispatches = fewer wasted trips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2688" y="426110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r>
              <a:rPr lang="en-US" sz="9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fleet fuel logs; GPS route distance per trip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3758184"/>
            <a:ext cx="3090672" cy="347472"/>
          </a:xfrm>
          <a:prstGeom prst="roundRect">
            <a:avLst>
              <a:gd name="adj" fmla="val 15789"/>
            </a:avLst>
          </a:prstGeom>
          <a:solidFill>
            <a:srgbClr val="E6F7F3"/>
          </a:solidFill>
          <a:ln w="12700">
            <a:solidFill>
              <a:srgbClr val="0D7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50992" y="3758184"/>
            <a:ext cx="29443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 </a:t>
            </a:r>
            <a:r>
              <a:rPr lang="en-US" sz="85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~180L/month wasted on blanket dispatch across pilot wards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4178808"/>
            <a:ext cx="3090672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4178808"/>
            <a:ext cx="294436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≤90L/month (↓50% via precision dispatch)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A1A2E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GOVERNANCE METRICS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ESG Impact Report  ·  Zaid Khan  ·  SustainAI  ·  Pune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47472" y="566928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Governance Impact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078992"/>
            <a:ext cx="4160520" cy="256032"/>
          </a:xfrm>
          <a:prstGeom prst="roundRect">
            <a:avLst>
              <a:gd name="adj" fmla="val 21429"/>
            </a:avLst>
          </a:prstGeom>
          <a:solidFill>
            <a:srgbClr val="EAF2FB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0789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·  SOCIAL — people reached and health protected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" y="146304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55448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5544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77824" y="155448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Respiratory Complaint Rate (cases/month)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77824" y="181051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health centres in pilot wards vs. control wards (Oct–Feb)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77824" y="21214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Target:  </a:t>
            </a:r>
            <a:r>
              <a:rPr lang="en-US" sz="7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~38 respiratory cases/month per ward (NFHS-5 Pune proxy)  →  ≤28 cases/month (↓26% in pilot wards)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347472" y="2578608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67004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00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77824" y="26700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Adoption Rate (%)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77824" y="292608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High-risk SMS recipients who logged a dump-slot use within 48 hrs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77824" y="323697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Target:  </a:t>
            </a:r>
            <a:r>
              <a:rPr lang="en-US" sz="7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(no current intervention baseline)  →  ≥25% adoption by end of 12-week pilot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47472" y="3694176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8561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8561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77824" y="378561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Equity Gap (%)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77824" y="40416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 precision in low-income wards (sparse sensors) vs. higher-income wards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77824" y="435254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Target:  </a:t>
            </a:r>
            <a:r>
              <a:rPr lang="en-US" sz="7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gap not currently measured  →  ≤10% precision gap between richest and poorest pilot wards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636008" y="1078992"/>
            <a:ext cx="4160520" cy="256032"/>
          </a:xfrm>
          <a:prstGeom prst="roundRect">
            <a:avLst>
              <a:gd name="adj" fmla="val 21429"/>
            </a:avLst>
          </a:prstGeom>
          <a:solidFill>
            <a:srgbClr val="FEF9E7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1078992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 ·  GOVERNANCE — accountability and transparency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36008" y="1463040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1554480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155448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57216" y="155448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Audit Trail Coverage (%)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157216" y="181051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dispatch decisions that include a logged burn-risk score + top-3 features (logistic regression outputs these natively)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57216" y="212140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Target:  </a:t>
            </a:r>
            <a:r>
              <a:rPr lang="en-US" sz="7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(rule-based system leaves no audit trail)  →  100% of dispatch decisions logged and auditable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636008" y="2578608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2670048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36592" y="26700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57216" y="26700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PMC Alert Response Rate (%)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57216" y="2926080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High-risk alerts (score ≥70) that resulted in a PMC dispatch within 24 hrs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57216" y="323697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Target:  </a:t>
            </a:r>
            <a:r>
              <a:rPr lang="en-US" sz="7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— no alert system exists yet  →  ≥80% of High-risk alerts actioned within 24 hrs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4636008" y="3694176"/>
            <a:ext cx="41605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36592" y="3785616"/>
            <a:ext cx="347472" cy="219456"/>
          </a:xfrm>
          <a:prstGeom prst="roundRect">
            <a:avLst>
              <a:gd name="adj" fmla="val 16667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36592" y="378561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57216" y="378561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Verifiability Score (binary)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157216" y="404164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r>
              <a:rPr lang="en-US" sz="80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model inputs (CPCB AQI, IMD weather) publicly accessible and independently reproducible? Annual audit check.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157216" y="435254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Target:  </a:t>
            </a:r>
            <a:r>
              <a:rPr lang="en-US" sz="780" dirty="0">
                <a:solidFill>
                  <a:srgbClr val="3D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CPCB is open; IMD and ward data need documentation  →  100% of inputs publicly cited and independently verifiable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4919472"/>
            <a:ext cx="8449056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AeroBin  ·  ESG Impact Report  ·  Zaid Khan  ·  SustainAI  ·  Pune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347472" y="182880"/>
            <a:ext cx="475488" cy="292608"/>
          </a:xfrm>
          <a:prstGeom prst="roundRect">
            <a:avLst>
              <a:gd name="adj" fmla="val 18750"/>
            </a:avLst>
          </a:prstGeom>
          <a:solidFill>
            <a:srgbClr val="1E2D3D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82880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4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DECISIONS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47472" y="566928"/>
            <a:ext cx="8449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Enables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170432"/>
            <a:ext cx="4169664" cy="1536192"/>
          </a:xfrm>
          <a:prstGeom prst="roundRect">
            <a:avLst>
              <a:gd name="adj" fmla="val 595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298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  ·  Environmental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517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E1 + E2 together tell you if the model is the problem or adoption is.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PM2.5 doesn't drop (E1 fails) but waste diverted rises (E2 succeeds), the collection is working but other pollution sources dominate. If both fail, the model's burn-risk scores are wrong — retune thresholds.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0016" y="1170432"/>
            <a:ext cx="4169664" cy="1536192"/>
          </a:xfrm>
          <a:prstGeom prst="roundRect">
            <a:avLst>
              <a:gd name="adj" fmla="val 595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64608" y="1298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EC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  ·  Social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64608" y="151790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adoption rate is the early-warning signal for the whole system.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64608" y="1920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adoption stays below 15% by Week 4, the AI is working but the human layer is failing. The fix is communication design (language, channel, convenience) — not the model.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2834640"/>
            <a:ext cx="4169664" cy="1536192"/>
          </a:xfrm>
          <a:prstGeom prst="roundRect">
            <a:avLst>
              <a:gd name="adj" fmla="val 595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29626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D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  ·  Governance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2064" y="3182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 response rate tells you if PMC is using the system or ignoring it.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" y="35844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that's 85% accurate but triggers PMC action only 40% of the time delivers 34% real-world impact. Governance adoption is as critical as model accuracy.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0016" y="2834640"/>
            <a:ext cx="4169664" cy="1536192"/>
          </a:xfrm>
          <a:prstGeom prst="roundRect">
            <a:avLst>
              <a:gd name="adj" fmla="val 5952"/>
            </a:avLst>
          </a:prstGeom>
          <a:solidFill>
            <a:srgbClr val="1E2D3D"/>
          </a:solidFill>
          <a:ln w="12700">
            <a:solidFill>
              <a:srgbClr val="2A3D52"/>
            </a:solidFill>
            <a:prstDash val="solid"/>
          </a:ln>
          <a:effectLst>
            <a:outerShdw blurRad="177800" dist="50800" dir="27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64608" y="29626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  ·  Cross-pillar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4608" y="31821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equity gap is the scale-readiness test.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358444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20%+ less accurate in low-income wards at pilot scale, scaling to 15 PMC zones will entrench inequality — wealthier wards get protection, poorer wards get ignored. Fix S3 before scaling.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912</Words>
  <Application>Microsoft Office PowerPoint</Application>
  <PresentationFormat>On-screen Show (16:9)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AeroBin — ESG Impact Report</dc:title>
  <dc:subject>PptxGenJS Presentation</dc:subject>
  <dc:creator>Zaid Khan</dc:creator>
  <cp:lastModifiedBy>Zaid Khan</cp:lastModifiedBy>
  <cp:revision>2</cp:revision>
  <dcterms:created xsi:type="dcterms:W3CDTF">2026-06-26T00:24:26Z</dcterms:created>
  <dcterms:modified xsi:type="dcterms:W3CDTF">2026-06-26T00:45:54Z</dcterms:modified>
</cp:coreProperties>
</file>