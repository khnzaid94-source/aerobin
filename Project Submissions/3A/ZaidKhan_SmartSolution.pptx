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8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5074920"/>
            <a:ext cx="12191695" cy="36576"/>
          </a:xfrm>
          <a:prstGeom prst="rect">
            <a:avLst/>
          </a:prstGeom>
          <a:solidFill>
            <a:srgbClr val="E6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4114800" cy="411480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0" y="1737360"/>
            <a:ext cx="1828800" cy="1828800"/>
          </a:xfrm>
          <a:prstGeom prst="ellipse">
            <a:avLst/>
          </a:prstGeom>
          <a:solidFill>
            <a:srgbClr val="5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E6C95C"/>
                </a:solidFill>
                <a:latin typeface="Calibri"/>
              </a:rPr>
              <a:t>SMART SOLUTION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143000"/>
            <a:ext cx="365760" cy="914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1143000"/>
            <a:ext cx="365760" cy="91440"/>
          </a:xfrm>
          <a:prstGeom prst="rect">
            <a:avLst/>
          </a:prstGeom>
          <a:solidFill>
            <a:srgbClr val="C1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54480" y="1143000"/>
            <a:ext cx="365760" cy="91440"/>
          </a:xfrm>
          <a:prstGeom prst="rect">
            <a:avLst/>
          </a:prstGeom>
          <a:solidFill>
            <a:srgbClr val="FD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20240" y="1143000"/>
            <a:ext cx="365760" cy="91440"/>
          </a:xfrm>
          <a:prstGeom prst="rect">
            <a:avLst/>
          </a:prstGeom>
          <a:solidFill>
            <a:srgbClr val="FF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1143000"/>
            <a:ext cx="365760" cy="91440"/>
          </a:xfrm>
          <a:prstGeom prst="rect">
            <a:avLst/>
          </a:prstGeom>
          <a:solidFill>
            <a:srgbClr val="E3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1143000"/>
            <a:ext cx="365760" cy="91440"/>
          </a:xfrm>
          <a:prstGeom prst="rect">
            <a:avLst/>
          </a:prstGeom>
          <a:solidFill>
            <a:srgbClr val="7E2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>
                <a:solidFill>
                  <a:srgbClr val="C9A227"/>
                </a:solidFill>
                <a:latin typeface="Calibri"/>
              </a:rPr>
              <a:t>AeroBin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>
                <a:solidFill>
                  <a:srgbClr val="FFFFFF"/>
                </a:solidFill>
                <a:latin typeface="Calibri"/>
              </a:rPr>
              <a:t>A Smarter Way to Collect Waste,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>
                <a:solidFill>
                  <a:srgbClr val="FFFFFF"/>
                </a:solidFill>
                <a:latin typeface="Calibri"/>
              </a:rPr>
              <a:t>Before Pune Burns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0" i="0" dirty="0">
                <a:solidFill>
                  <a:srgbClr val="DBE6DE"/>
                </a:solidFill>
                <a:latin typeface="Calibri"/>
              </a:rPr>
              <a:t>An AQI-triggered waste-collection and open-burning prevention system that uses CPCB air-quality data to reroute municipal trucks ahead of pollution spikes.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3657600" cy="686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E6C95C"/>
                </a:solidFill>
                <a:latin typeface="Calibri"/>
              </a:rPr>
              <a:t>DESIGNED BY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Zaid Khan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0" i="0" dirty="0">
                <a:solidFill>
                  <a:srgbClr val="CFDCD2"/>
                </a:solidFill>
                <a:latin typeface="Calibri"/>
              </a:rPr>
              <a:t>AKI’s Poona College of Arts, Science &amp; 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492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>
                <a:solidFill>
                  <a:srgbClr val="E6C95C"/>
                </a:solidFill>
                <a:latin typeface="Calibri"/>
              </a:rPr>
              <a:t>DOMAIN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i="0">
                <a:solidFill>
                  <a:srgbClr val="FFFFFF"/>
                </a:solidFill>
                <a:latin typeface="Calibri"/>
              </a:rPr>
              <a:t>Waste Management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0" i="0">
                <a:solidFill>
                  <a:srgbClr val="CFDCD2"/>
                </a:solidFill>
                <a:latin typeface="Calibri"/>
              </a:rPr>
              <a:t>Smart City  ·  Air-Quality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492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>
                <a:solidFill>
                  <a:srgbClr val="E6C95C"/>
                </a:solidFill>
                <a:latin typeface="Calibri"/>
              </a:rPr>
              <a:t>DATA FOUNDATION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i="0">
                <a:solidFill>
                  <a:srgbClr val="FFFFFF"/>
                </a:solidFill>
                <a:latin typeface="Calibri"/>
              </a:rPr>
              <a:t>CPCB AQI Bulletins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0" i="0">
                <a:solidFill>
                  <a:srgbClr val="CFDCD2"/>
                </a:solidFill>
                <a:latin typeface="Calibri"/>
              </a:rPr>
              <a:t>2015–2025  ·  298 cities  ·  Pune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E6C95C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600" b="1" i="0">
                <a:solidFill>
                  <a:srgbClr val="FFFFFF"/>
                </a:solidFill>
                <a:latin typeface="Calibri"/>
              </a:rPr>
              <a:t>Why Pune Burns, and Why It Costs Us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365760"/>
            <a:ext cx="566928" cy="566928"/>
          </a:xfrm>
          <a:prstGeom prst="ellipse">
            <a:avLst/>
          </a:prstGeom>
          <a:noFill/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365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E6C95C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1" i="0">
                <a:solidFill>
                  <a:srgbClr val="444B47"/>
                </a:solidFill>
                <a:latin typeface="Calibri"/>
              </a:rPr>
              <a:t>AeroBin  ·  AQI-Triggered Waste Operations  ·  </a:t>
            </a:r>
            <a:r>
              <a:rPr lang="en-US" sz="900" b="0" i="0">
                <a:solidFill>
                  <a:srgbClr val="6B726E"/>
                </a:solidFill>
                <a:latin typeface="Calibri"/>
              </a:rPr>
              <a:t>Smart Solution Concept Note  ·  Domain: Waste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836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6B726E"/>
                </a:solidFill>
                <a:latin typeface="Calibri"/>
              </a:rPr>
              <a:t>SustainAI  ·  Pune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557784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600200"/>
            <a:ext cx="54864" cy="45720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1600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>
                <a:solidFill>
                  <a:srgbClr val="1B4332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965960"/>
            <a:ext cx="5029200" cy="958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700" b="1" i="0" dirty="0">
                <a:solidFill>
                  <a:srgbClr val="232B26"/>
                </a:solidFill>
                <a:latin typeface="Calibri"/>
              </a:rPr>
              <a:t>Open waste burning makes Pune’s winter air dangerous.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0" i="1" dirty="0">
                <a:solidFill>
                  <a:srgbClr val="444B47"/>
                </a:solidFill>
                <a:latin typeface="Calibri"/>
              </a:rPr>
              <a:t>“Households and contractors burn dry leaves, construction debris and mixed waste to avoid disposal costs — a major source of PM2.5 right when Pune’s AQI is already at its worst.”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611880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>
                <a:solidFill>
                  <a:srgbClr val="1B4332"/>
                </a:solidFill>
                <a:latin typeface="Calibri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995928"/>
            <a:ext cx="4983480" cy="1798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Worst from Oct–Feb across Pune’s wards, peri-urban fringe and illegal dumpsites.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PM2.5 from burning carries deep into lungs; linked to asthma, cardiac stress and child mortality.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My CPCB analysis: Pune’s mean AQI swings from ≈70 (monsoon) to &gt;150 (winter) — the burning window.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Pune generates ≈2,100 </a:t>
            </a:r>
            <a:r>
              <a:rPr lang="en-US" sz="1200" b="0" i="0" dirty="0" err="1">
                <a:solidFill>
                  <a:srgbClr val="444B47"/>
                </a:solidFill>
                <a:latin typeface="Calibri"/>
              </a:rPr>
              <a:t>tonnes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 of waste/day; even a small burnt share drives severe-air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71600"/>
            <a:ext cx="544068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54864" cy="4572000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6002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>
                <a:solidFill>
                  <a:srgbClr val="1B4332"/>
                </a:solidFill>
                <a:latin typeface="Calibri"/>
              </a:rPr>
              <a:t>SYSTEM GAPS TODAY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2112264"/>
            <a:ext cx="310896" cy="310896"/>
          </a:xfrm>
          <a:prstGeom prst="ellipse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21122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1B4332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057400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232B26"/>
                </a:solidFill>
                <a:latin typeface="Calibri"/>
              </a:rPr>
              <a:t>Static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368296"/>
            <a:ext cx="438912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Trucks run fixed routes regardless of where air is degrading.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3136392"/>
            <a:ext cx="310896" cy="310896"/>
          </a:xfrm>
          <a:prstGeom prst="ellipse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31363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1B4332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081528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232B26"/>
                </a:solidFill>
                <a:latin typeface="Calibri"/>
              </a:rPr>
              <a:t>Reactive, Not Predictive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392424"/>
            <a:ext cx="438912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Burning is reported after the smoke — enforcement is too late.</a:t>
            </a:r>
          </a:p>
        </p:txBody>
      </p:sp>
      <p:sp>
        <p:nvSpPr>
          <p:cNvPr id="29" name="Oval 28"/>
          <p:cNvSpPr/>
          <p:nvPr/>
        </p:nvSpPr>
        <p:spPr>
          <a:xfrm>
            <a:off x="6519672" y="4160520"/>
            <a:ext cx="310896" cy="310896"/>
          </a:xfrm>
          <a:prstGeom prst="ellipse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41605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1B4332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10565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232B26"/>
                </a:solidFill>
                <a:latin typeface="Calibri"/>
              </a:rPr>
              <a:t>No AQI Linkage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416552"/>
            <a:ext cx="438912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Waste ops ignore the very air data that predicts spikes.</a:t>
            </a:r>
          </a:p>
        </p:txBody>
      </p:sp>
      <p:sp>
        <p:nvSpPr>
          <p:cNvPr id="33" name="Oval 32"/>
          <p:cNvSpPr/>
          <p:nvPr/>
        </p:nvSpPr>
        <p:spPr>
          <a:xfrm>
            <a:off x="6519672" y="5184648"/>
            <a:ext cx="310896" cy="310896"/>
          </a:xfrm>
          <a:prstGeom prst="ellipse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5184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1B4332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5129784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232B26"/>
                </a:solidFill>
                <a:latin typeface="Calibri"/>
              </a:rPr>
              <a:t>Low-Tech Burning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5440680"/>
            <a:ext cx="438912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No fast, cheap pickup alternative for fringe households.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E6C95C"/>
                </a:solidFill>
                <a:latin typeface="Calibri"/>
              </a:rPr>
              <a:t>SOLUTION DESIGN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600" b="1" i="0">
                <a:solidFill>
                  <a:srgbClr val="FFFFFF"/>
                </a:solidFill>
                <a:latin typeface="Calibri"/>
              </a:rPr>
              <a:t>AeroBin: AQI-Triggered Waste Operations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365760"/>
            <a:ext cx="566928" cy="566928"/>
          </a:xfrm>
          <a:prstGeom prst="ellipse">
            <a:avLst/>
          </a:prstGeom>
          <a:noFill/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365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E6C95C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1" i="0">
                <a:solidFill>
                  <a:srgbClr val="444B47"/>
                </a:solidFill>
                <a:latin typeface="Calibri"/>
              </a:rPr>
              <a:t>AeroBin  ·  AQI-Triggered Waste Operations  ·  </a:t>
            </a:r>
            <a:r>
              <a:rPr lang="en-US" sz="900" b="0" i="0">
                <a:solidFill>
                  <a:srgbClr val="6B726E"/>
                </a:solidFill>
                <a:latin typeface="Calibri"/>
              </a:rPr>
              <a:t>Smart Solution Concept Note  ·  Domain: Waste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836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6B726E"/>
                </a:solidFill>
                <a:latin typeface="Calibri"/>
              </a:rPr>
              <a:t>SustainAI  ·  Pune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98448"/>
            <a:ext cx="1120140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463040"/>
            <a:ext cx="54864" cy="87782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616087"/>
            <a:ext cx="10607040" cy="654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1" i="0" dirty="0">
                <a:solidFill>
                  <a:srgbClr val="1B4332"/>
                </a:solidFill>
                <a:latin typeface="Calibri"/>
              </a:rPr>
              <a:t>What it is: 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A 3-layer system — Smart Bins, an AQI-Trigger Engine, and a Dynamic Dispatch network — that pre-empts open burning by moving Pune’s waste collection BEFORE air quality collapses.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Why it is different:  </a:t>
            </a:r>
            <a:r>
              <a:rPr lang="en-US" sz="1200" b="0" i="1" dirty="0">
                <a:solidFill>
                  <a:srgbClr val="444B47"/>
                </a:solidFill>
                <a:latin typeface="Calibri"/>
              </a:rPr>
              <a:t>air-quality data DRIVES the operation — not the usual “smart bin that pings when full.” That inversion is the whole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359359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2697480"/>
            <a:ext cx="3593592" cy="457200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3593592" cy="1828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752344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FFFFFF"/>
                </a:solidFill>
                <a:latin typeface="Calibri"/>
              </a:rPr>
              <a:t>LAYER 1  ·  Smart Waste Bins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3227832" cy="635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IoT load + temp sensors on bins in high-burn wards.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Flags overheating bins (possible ignition) in real time.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Times pickup to need, not a fixed calendar.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2697480"/>
            <a:ext cx="359359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06824" y="2697480"/>
            <a:ext cx="3593592" cy="45720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06824" y="2971800"/>
            <a:ext cx="3593592" cy="1828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2752344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FFFFFF"/>
                </a:solidFill>
                <a:latin typeface="Calibri"/>
              </a:rPr>
              <a:t>LAYER 2  ·  AQI-Trigger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46120"/>
            <a:ext cx="3227832" cy="635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Ingests CPCB AQI + IMD weather forecast daily.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Predicts a 48-hr burning-risk score per ward.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Rising AQI + dry wind + low humidity → auto-alert.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8" y="2697480"/>
            <a:ext cx="359359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10728" y="2697480"/>
            <a:ext cx="3593592" cy="457200"/>
          </a:xfrm>
          <a:prstGeom prst="roundRect">
            <a:avLst/>
          </a:prstGeom>
          <a:solidFill>
            <a:srgbClr val="5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10728" y="2971800"/>
            <a:ext cx="3593592" cy="182880"/>
          </a:xfrm>
          <a:prstGeom prst="rect">
            <a:avLst/>
          </a:prstGeom>
          <a:solidFill>
            <a:srgbClr val="5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2752344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>
                <a:solidFill>
                  <a:srgbClr val="FFFFFF"/>
                </a:solidFill>
                <a:latin typeface="Calibri"/>
              </a:rPr>
              <a:t>LAYER 3  ·  Dynamic Dispatch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246120"/>
            <a:ext cx="3227832" cy="697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Reroutes trucks to at-risk wards before the spike.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Maps nearest legal disposal / bio-CNG plant.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▪ </a:t>
            </a:r>
            <a:r>
              <a:rPr lang="en-US" sz="1200" b="0" i="0" dirty="0">
                <a:solidFill>
                  <a:srgbClr val="444B47"/>
                </a:solidFill>
                <a:latin typeface="Calibri"/>
              </a:rPr>
              <a:t>Citizens get an SMS slot to dump leaf waste free.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1B4332"/>
                </a:solidFill>
                <a:latin typeface="Calibri"/>
              </a:rPr>
              <a:t>DATA FLOW  —  air data to cleaner air, with a learning loop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20640"/>
            <a:ext cx="1783080" cy="54864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318016"/>
            <a:ext cx="1783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232B26"/>
                </a:solidFill>
                <a:latin typeface="Calibri"/>
              </a:rPr>
              <a:t>CPCB AQI  ·  + Weather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322576" y="5266944"/>
            <a:ext cx="310896" cy="256032"/>
          </a:xfrm>
          <a:prstGeom prst="rightArrow">
            <a:avLst/>
          </a:prstGeom>
          <a:solidFill>
            <a:srgbClr val="444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670048" y="5120640"/>
            <a:ext cx="1783080" cy="54864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70048" y="5318016"/>
            <a:ext cx="1783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232B26"/>
                </a:solidFill>
                <a:latin typeface="Calibri"/>
              </a:rPr>
              <a:t>Burn-Risk  ·  Model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489704" y="5266944"/>
            <a:ext cx="310896" cy="256032"/>
          </a:xfrm>
          <a:prstGeom prst="rightArrow">
            <a:avLst/>
          </a:prstGeom>
          <a:solidFill>
            <a:srgbClr val="444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37176" y="5120640"/>
            <a:ext cx="1783080" cy="5486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37176" y="5318016"/>
            <a:ext cx="1783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Truck  ·  Dispatch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656832" y="5266944"/>
            <a:ext cx="310896" cy="256032"/>
          </a:xfrm>
          <a:prstGeom prst="rightArrow">
            <a:avLst/>
          </a:prstGeom>
          <a:solidFill>
            <a:srgbClr val="444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004304" y="5120640"/>
            <a:ext cx="1783080" cy="54864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04304" y="5318016"/>
            <a:ext cx="1783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232B26"/>
                </a:solidFill>
                <a:latin typeface="Calibri"/>
              </a:rPr>
              <a:t>Free Citizen  ·  Pickup Slot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23960" y="5266944"/>
            <a:ext cx="310896" cy="256032"/>
          </a:xfrm>
          <a:prstGeom prst="rightArrow">
            <a:avLst/>
          </a:prstGeom>
          <a:solidFill>
            <a:srgbClr val="444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171432" y="5120640"/>
            <a:ext cx="1783080" cy="548640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71432" y="5318016"/>
            <a:ext cx="1783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Less Burning  ·  ↓ PM2.5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760720"/>
            <a:ext cx="11155680" cy="184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↺  Closed loop:  </a:t>
            </a:r>
            <a:r>
              <a:rPr lang="en-US" sz="1200" b="0" i="1" dirty="0">
                <a:solidFill>
                  <a:srgbClr val="444B47"/>
                </a:solidFill>
                <a:latin typeface="Calibri"/>
              </a:rPr>
              <a:t>the measured AQI improvement feeds back into the burn-risk model, so predictions sharpen every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E6C95C"/>
                </a:solidFill>
                <a:latin typeface="Calibri"/>
              </a:rPr>
              <a:t>EXPECTED IMPACT &amp;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600" b="1" i="0">
                <a:solidFill>
                  <a:srgbClr val="FFFFFF"/>
                </a:solidFill>
                <a:latin typeface="Calibri"/>
              </a:rPr>
              <a:t>What Changes When AeroBin Runs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365760"/>
            <a:ext cx="566928" cy="566928"/>
          </a:xfrm>
          <a:prstGeom prst="ellipse">
            <a:avLst/>
          </a:prstGeom>
          <a:noFill/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365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E6C95C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1" i="0">
                <a:solidFill>
                  <a:srgbClr val="444B47"/>
                </a:solidFill>
                <a:latin typeface="Calibri"/>
              </a:rPr>
              <a:t>AeroBin  ·  AQI-Triggered Waste Operations  ·  </a:t>
            </a:r>
            <a:r>
              <a:rPr lang="en-US" sz="900" b="0" i="0">
                <a:solidFill>
                  <a:srgbClr val="6B726E"/>
                </a:solidFill>
                <a:latin typeface="Calibri"/>
              </a:rPr>
              <a:t>Smart Solution Concept Note  ·  Domain: Waste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836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6B726E"/>
                </a:solidFill>
                <a:latin typeface="Calibri"/>
              </a:rPr>
              <a:t>SustainAI  ·  Pune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267004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536192"/>
            <a:ext cx="54864" cy="996696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1517904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700" b="1" i="0">
                <a:solidFill>
                  <a:srgbClr val="232B26"/>
                </a:solidFill>
                <a:latin typeface="Calibri"/>
              </a:rPr>
              <a:t>30–40%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2377440" cy="339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Reduction in winter open-burning incidents (pilot wards).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371600"/>
            <a:ext cx="267004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46704" y="1536192"/>
            <a:ext cx="54864" cy="996696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7872" y="1517904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700" b="1" i="0">
                <a:solidFill>
                  <a:srgbClr val="232B26"/>
                </a:solidFill>
                <a:latin typeface="Calibri"/>
              </a:rPr>
              <a:t>≈20%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048256"/>
            <a:ext cx="2377440" cy="339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Of winter PM2.5 is attributable to open burning — the share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AeroBin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 targets.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1371600"/>
            <a:ext cx="267004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536192"/>
            <a:ext cx="54864" cy="996696"/>
          </a:xfrm>
          <a:prstGeom prst="roundRect">
            <a:avLst/>
          </a:prstGeom>
          <a:solidFill>
            <a:srgbClr val="5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1517904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700" b="1" i="0">
                <a:solidFill>
                  <a:srgbClr val="232B26"/>
                </a:solidFill>
                <a:latin typeface="Calibri"/>
              </a:rPr>
              <a:t>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048256"/>
            <a:ext cx="2377440" cy="339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Fewer truck-km via route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optimisation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 → lower fleet cost &amp; fuel.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371600"/>
            <a:ext cx="267004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34272" y="1536192"/>
            <a:ext cx="54864" cy="996696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1517904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700" b="1" i="0">
                <a:solidFill>
                  <a:srgbClr val="232B26"/>
                </a:solidFill>
                <a:latin typeface="Calibri"/>
              </a:rPr>
              <a:t>1,000s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048256"/>
            <a:ext cx="2377440" cy="339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Households reached with free, timed leaf-waste pickup.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907792"/>
            <a:ext cx="55778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3090672"/>
            <a:ext cx="54864" cy="19202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09067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>
                <a:solidFill>
                  <a:srgbClr val="1B4332"/>
                </a:solidFill>
                <a:latin typeface="Calibri"/>
              </a:rPr>
              <a:t>THE PILOT  —  12 weeks, pre-monsoon to peak winter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474720"/>
            <a:ext cx="4983480" cy="650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1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Zones: Hadapsar,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Wagholi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 fringe,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Bhosari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,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Kharadi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, </a:t>
            </a:r>
            <a:r>
              <a:rPr lang="en-US" sz="1100" b="0" i="0" dirty="0" err="1">
                <a:solidFill>
                  <a:srgbClr val="444B47"/>
                </a:solidFill>
                <a:latin typeface="Calibri"/>
              </a:rPr>
              <a:t>Mundhwa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 (high-burn wards).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50 smart bins + AQI-trigger engine on 2 PMC depot routes.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▪  </a:t>
            </a: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Budget ≈₹18 lakh; payback &lt; 2 yrs via disposal + health-cost savings.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907792"/>
            <a:ext cx="5440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63640" y="3090672"/>
            <a:ext cx="54864" cy="1920240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309067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>
                <a:solidFill>
                  <a:srgbClr val="1B4332"/>
                </a:solidFill>
                <a:latin typeface="Calibri"/>
              </a:rPr>
              <a:t>KEY RISKS &amp; MITIGATION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519672" y="3547872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349300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232B26"/>
                </a:solidFill>
                <a:latin typeface="Calibri"/>
              </a:rPr>
              <a:t>Sensor theft/damage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30752"/>
            <a:ext cx="4572000" cy="166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6B726E"/>
                </a:solidFill>
                <a:latin typeface="Calibri"/>
              </a:rPr>
              <a:t>Tamper-alert + bin placement in supervised yards.</a:t>
            </a:r>
          </a:p>
        </p:txBody>
      </p:sp>
      <p:sp>
        <p:nvSpPr>
          <p:cNvPr id="38" name="Oval 37"/>
          <p:cNvSpPr/>
          <p:nvPr/>
        </p:nvSpPr>
        <p:spPr>
          <a:xfrm>
            <a:off x="6519672" y="4078224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0" y="402336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232B26"/>
                </a:solidFill>
                <a:latin typeface="Calibri"/>
              </a:rPr>
              <a:t>Low citizen adoption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61104"/>
            <a:ext cx="4572000" cy="166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6B726E"/>
                </a:solidFill>
                <a:latin typeface="Calibri"/>
              </a:rPr>
              <a:t>Free slots + SMS nudge; tie to Swachh </a:t>
            </a:r>
            <a:r>
              <a:rPr lang="en-US" sz="1100" b="0" i="0" dirty="0" err="1">
                <a:solidFill>
                  <a:srgbClr val="6B726E"/>
                </a:solidFill>
                <a:latin typeface="Calibri"/>
              </a:rPr>
              <a:t>Survekshan</a:t>
            </a:r>
            <a:r>
              <a:rPr lang="en-US" sz="1100" b="0" i="0" dirty="0">
                <a:solidFill>
                  <a:srgbClr val="6B726E"/>
                </a:solidFill>
                <a:latin typeface="Calibri"/>
              </a:rPr>
              <a:t>.</a:t>
            </a:r>
          </a:p>
        </p:txBody>
      </p:sp>
      <p:sp>
        <p:nvSpPr>
          <p:cNvPr id="41" name="Oval 40"/>
          <p:cNvSpPr/>
          <p:nvPr/>
        </p:nvSpPr>
        <p:spPr>
          <a:xfrm>
            <a:off x="6519672" y="4608576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4553712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232B26"/>
                </a:solidFill>
                <a:latin typeface="Calibri"/>
              </a:rPr>
              <a:t>AQI data gaps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791456"/>
            <a:ext cx="4572000" cy="166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6B726E"/>
                </a:solidFill>
                <a:latin typeface="Calibri"/>
              </a:rPr>
              <a:t>Fall back to IMD weather + 3-yr seasonal baseline.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349240"/>
            <a:ext cx="11201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02920" y="5513832"/>
            <a:ext cx="54864" cy="731520"/>
          </a:xfrm>
          <a:prstGeom prst="roundRect">
            <a:avLst/>
          </a:prstGeom>
          <a:solidFill>
            <a:srgbClr val="5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54589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>
                <a:solidFill>
                  <a:srgbClr val="1B4332"/>
                </a:solidFill>
                <a:latin typeface="Calibri"/>
              </a:rPr>
              <a:t>WHO BENEFITS</a:t>
            </a:r>
          </a:p>
        </p:txBody>
      </p:sp>
      <p:sp>
        <p:nvSpPr>
          <p:cNvPr id="47" name="Oval 46"/>
          <p:cNvSpPr/>
          <p:nvPr/>
        </p:nvSpPr>
        <p:spPr>
          <a:xfrm>
            <a:off x="777240" y="58064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8408" y="5751576"/>
            <a:ext cx="2606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Residents breathe cleaner winter air</a:t>
            </a:r>
          </a:p>
        </p:txBody>
      </p:sp>
      <p:sp>
        <p:nvSpPr>
          <p:cNvPr id="49" name="Oval 48"/>
          <p:cNvSpPr/>
          <p:nvPr/>
        </p:nvSpPr>
        <p:spPr>
          <a:xfrm>
            <a:off x="3474720" y="58064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75888" y="5751576"/>
            <a:ext cx="2606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PMC gets cheaper, data-driven routes</a:t>
            </a:r>
          </a:p>
        </p:txBody>
      </p:sp>
      <p:sp>
        <p:nvSpPr>
          <p:cNvPr id="51" name="Oval 50"/>
          <p:cNvSpPr/>
          <p:nvPr/>
        </p:nvSpPr>
        <p:spPr>
          <a:xfrm>
            <a:off x="6172200" y="58064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73368" y="5751576"/>
            <a:ext cx="2606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Waste workers get safer shifts</a:t>
            </a:r>
          </a:p>
        </p:txBody>
      </p:sp>
      <p:sp>
        <p:nvSpPr>
          <p:cNvPr id="53" name="Oval 52"/>
          <p:cNvSpPr/>
          <p:nvPr/>
        </p:nvSpPr>
        <p:spPr>
          <a:xfrm>
            <a:off x="8869680" y="58064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0848" y="5751576"/>
            <a:ext cx="2606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444B47"/>
                </a:solidFill>
                <a:latin typeface="Calibri"/>
              </a:rPr>
              <a:t>City cuts black-carbon &amp; methane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753</Words>
  <Application>Microsoft Office PowerPoint</Application>
  <PresentationFormat>Widescreen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Zaid Khan</cp:lastModifiedBy>
  <cp:revision>3</cp:revision>
  <dcterms:created xsi:type="dcterms:W3CDTF">2013-01-27T09:14:16Z</dcterms:created>
  <dcterms:modified xsi:type="dcterms:W3CDTF">2026-06-21T14:09:04Z</dcterms:modified>
  <cp:category/>
</cp:coreProperties>
</file>