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70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6188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1508760" cy="310896"/>
          </a:xfrm>
          <a:prstGeom prst="roundRect">
            <a:avLst>
              <a:gd name="adj" fmla="val 17647"/>
            </a:avLst>
          </a:prstGeom>
          <a:solidFill>
            <a:srgbClr val="1E2D3D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SUSTAINAI  · </a:t>
            </a:r>
            <a:r>
              <a:rPr lang="en-US" sz="800" b="1" dirty="0">
                <a:solidFill>
                  <a:srgbClr val="E6C95C"/>
                </a:solidFill>
              </a:rPr>
              <a:t>AI WORKFLOW DESIGN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91440" cy="9144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91440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AeroBin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94360" y="15727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00D4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Pune's Pollution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94360" y="208483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It Starts.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94360" y="278892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on the AeroBin smart-waste solution: an AI burn-risk model that turns CPCB air-quality data into a 48-hour burning forecast per ward, so trucks move before the smoke starts.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4360" y="3703320"/>
            <a:ext cx="5120640" cy="402336"/>
          </a:xfrm>
          <a:prstGeom prst="roundRect">
            <a:avLst>
              <a:gd name="adj" fmla="val 13636"/>
            </a:avLst>
          </a:prstGeom>
          <a:solidFill>
            <a:srgbClr val="1E2D3D"/>
          </a:solidFill>
          <a:ln w="12700">
            <a:solidFill>
              <a:srgbClr val="00B3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703320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USE CASE   ·   A classification model predicts burn-risk per ward for the next 48 hours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477316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Zaid Khan  ·  AKI's Poona College, Pune   ·  CPCB AQI data 2015–2025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255610" y="590045"/>
            <a:ext cx="2194560" cy="2194560"/>
          </a:xfrm>
          <a:prstGeom prst="ellipse">
            <a:avLst/>
          </a:prstGeom>
          <a:solidFill>
            <a:srgbClr val="00D4AA">
              <a:alpha val="12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80960" y="955805"/>
            <a:ext cx="1463040" cy="1463040"/>
          </a:xfrm>
          <a:prstGeom prst="ellipse">
            <a:avLst/>
          </a:prstGeom>
          <a:solidFill>
            <a:srgbClr val="00D4AA">
              <a:alpha val="25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0" y="91440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01168"/>
            <a:ext cx="384048" cy="256032"/>
          </a:xfrm>
          <a:prstGeom prst="roundRect">
            <a:avLst>
              <a:gd name="adj" fmla="val 17857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0116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" y="201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AI FITS &amp; WHAT IT TAKES IN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47472" y="566928"/>
            <a:ext cx="8449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Trigger Layer: From Rule-Based to Predictive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4919472"/>
            <a:ext cx="8449056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AeroBin  ·  AI-Integrated Waste Operations  ·  Classification (Burn-Risk Prediction)  ·  SustainAI · Pune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47472" y="1188720"/>
            <a:ext cx="39776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30352" y="129844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AI ADDS VALUE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0352" y="155448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AeroBin uses a simple rule.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"Rising AQI + dry wind + low humidity = alert." That rule is blunt: it fires too often or too late, and treats every ward the same.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" y="2340864"/>
            <a:ext cx="1737360" cy="402336"/>
          </a:xfrm>
          <a:prstGeom prst="roundRect">
            <a:avLst>
              <a:gd name="adj" fmla="val 15909"/>
            </a:avLst>
          </a:prstGeom>
          <a:solidFill>
            <a:srgbClr val="FFF0F0"/>
          </a:solidFill>
          <a:ln w="12700">
            <a:solidFill>
              <a:srgbClr val="F5BAB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340864"/>
            <a:ext cx="1682496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</a:t>
            </a:r>
            <a:r>
              <a:rPr lang="en-US" sz="8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static thresholds, misses ward patterns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286000" y="2340864"/>
            <a:ext cx="1874520" cy="402336"/>
          </a:xfrm>
          <a:prstGeom prst="roundRect">
            <a:avLst>
              <a:gd name="adj" fmla="val 15909"/>
            </a:avLst>
          </a:prstGeom>
          <a:solidFill>
            <a:srgbClr val="E6FAF6"/>
          </a:solidFill>
          <a:ln w="12700">
            <a:solidFill>
              <a:srgbClr val="00B3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22576" y="2340864"/>
            <a:ext cx="1801368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B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</a:t>
            </a:r>
            <a:r>
              <a:rPr lang="en-US" sz="8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learns each ward's burn signature; outputs a probability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462272" y="1188720"/>
            <a:ext cx="4334256" cy="36118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45152" y="1298448"/>
            <a:ext cx="3968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→ MODEL → OUTPUT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90288" y="1591056"/>
            <a:ext cx="4078224" cy="256032"/>
          </a:xfrm>
          <a:prstGeom prst="roundRect">
            <a:avLst>
              <a:gd name="adj" fmla="val 17857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90288" y="1591056"/>
            <a:ext cx="4078224" cy="25603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 (features)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663440" y="188366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CPCB AQI trend (7-day) + dominant pollutant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663440" y="21259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 forecast: temp, humidity, wind, rain prob.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663440" y="236829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 profile: population, green cover, market/festival flag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663440" y="261061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Calendar: month, day-of-week, holiday/prohibition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90288" y="2926080"/>
            <a:ext cx="4078224" cy="256032"/>
          </a:xfrm>
          <a:prstGeom prst="roundRect">
            <a:avLst>
              <a:gd name="adj" fmla="val 17857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90288" y="2926080"/>
            <a:ext cx="4078224" cy="25603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663440" y="32186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 —  "Will this ward burn in the next 48 hrs?"  (binary: Yes / No, with confidence %)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90288" y="3630168"/>
            <a:ext cx="4078224" cy="256032"/>
          </a:xfrm>
          <a:prstGeom prst="roundRect">
            <a:avLst>
              <a:gd name="adj" fmla="val 17857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90288" y="3630168"/>
            <a:ext cx="4078224" cy="25603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(decision-ready)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663440" y="392277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Per-ward Burn-Risk Score (0–100) + risk band (Low / Med / High). High → trigger dispatch + free pickup slots.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47472" y="2926080"/>
            <a:ext cx="3977640" cy="914400"/>
          </a:xfrm>
          <a:prstGeom prst="roundRect">
            <a:avLst>
              <a:gd name="adj" fmla="val 10000"/>
            </a:avLst>
          </a:prstGeom>
          <a:solidFill>
            <a:srgbClr val="E6FAF6"/>
          </a:solidFill>
          <a:ln w="12700">
            <a:solidFill>
              <a:srgbClr val="00B3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299923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B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AI SOLVES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30352" y="3227832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solves the core question: which ward will burn, and when — not just "is air bad now."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converts reactive enforcement into proactive, ward-specific dispatch.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01168"/>
            <a:ext cx="384048" cy="256032"/>
          </a:xfrm>
          <a:prstGeom prst="roundRect">
            <a:avLst>
              <a:gd name="adj" fmla="val 17857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0116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" y="201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CAPABILITY &amp; FULL WORKFLOW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47472" y="566928"/>
            <a:ext cx="8449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Classification: From Raw Data to Truck Dispatch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4919472"/>
            <a:ext cx="8449056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AeroBin  ·  AI-Integrated Waste Operations  ·  Classification (Burn-Risk Prediction)  ·  SustainAI · Pune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47472" y="1170432"/>
            <a:ext cx="8449056" cy="329184"/>
          </a:xfrm>
          <a:prstGeom prst="roundRect">
            <a:avLst>
              <a:gd name="adj" fmla="val 19444"/>
            </a:avLst>
          </a:prstGeom>
          <a:solidFill>
            <a:srgbClr val="E6FAF6"/>
          </a:solidFill>
          <a:ln w="12700">
            <a:solidFill>
              <a:srgbClr val="00B3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" y="1170432"/>
            <a:ext cx="8302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CHOSEN:  Classification  —  because the question is a clear yes/no with a probability ("will ward X burn?"). Decision-ready and easy to act on.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7472" y="1627632"/>
            <a:ext cx="148132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96112" y="1682496"/>
            <a:ext cx="347472" cy="347472"/>
          </a:xfrm>
          <a:prstGeom prst="ellipse">
            <a:avLst/>
          </a:prstGeom>
          <a:solidFill>
            <a:srgbClr val="1A1A2E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1682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20624" y="2084832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B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20624" y="2331720"/>
            <a:ext cx="1335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CPCB AQI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 weather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 profile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865376" y="2340864"/>
            <a:ext cx="118872" cy="0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11680" y="1627632"/>
            <a:ext cx="148132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0" y="1682496"/>
            <a:ext cx="347472" cy="347472"/>
          </a:xfrm>
          <a:prstGeom prst="ellipse">
            <a:avLst/>
          </a:prstGeom>
          <a:solidFill>
            <a:srgbClr val="1A1A2E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0" y="1682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084832" y="2084832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B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084832" y="2331720"/>
            <a:ext cx="1335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merge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AQI 7d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ward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529584" y="2340864"/>
            <a:ext cx="118872" cy="0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75888" y="1627632"/>
            <a:ext cx="148132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224528" y="1682496"/>
            <a:ext cx="347472" cy="347472"/>
          </a:xfrm>
          <a:prstGeom prst="ellipse">
            <a:avLst/>
          </a:prstGeom>
          <a:solidFill>
            <a:srgbClr val="1A1A2E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24528" y="1682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749040" y="2084832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B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749040" y="2331720"/>
            <a:ext cx="1335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(Gradient Boost /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Reg.)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history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193792" y="2340864"/>
            <a:ext cx="118872" cy="0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40096" y="1627632"/>
            <a:ext cx="148132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888736" y="1682496"/>
            <a:ext cx="347472" cy="347472"/>
          </a:xfrm>
          <a:prstGeom prst="ellipse">
            <a:avLst/>
          </a:prstGeom>
          <a:solidFill>
            <a:srgbClr val="1A1A2E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88736" y="1682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13248" y="2084832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B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413248" y="2331720"/>
            <a:ext cx="1335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Burn-Risk Score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ward + band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/ Med / High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858000" y="2340864"/>
            <a:ext cx="118872" cy="0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004304" y="1627632"/>
            <a:ext cx="148132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552944" y="1682496"/>
            <a:ext cx="347472" cy="347472"/>
          </a:xfrm>
          <a:prstGeom prst="ellipse">
            <a:avLst/>
          </a:prstGeom>
          <a:solidFill>
            <a:srgbClr val="1A1A2E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52944" y="1682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077456" y="2084832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B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077456" y="2331720"/>
            <a:ext cx="1335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→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 dispatch +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pickup SMS;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retrains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47472" y="3108960"/>
            <a:ext cx="8449056" cy="347472"/>
          </a:xfrm>
          <a:prstGeom prst="roundRect">
            <a:avLst>
              <a:gd name="adj" fmla="val 18421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3776" y="3108960"/>
            <a:ext cx="8302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FEEDBACK LOOP:   after each season, actual burning incidents (satellite hotspots / complaints) become NEW LABELLED DATA → model retrains and sharpens every monsoon-to-winter cycle.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47472" y="3566160"/>
            <a:ext cx="8449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BECOMES A DECISION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47472" y="3813048"/>
            <a:ext cx="1984248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20624" y="3867912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B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signals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20624" y="4123944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 + weather + ward context collected daily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459736" y="3813048"/>
            <a:ext cx="1984248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2532888" y="3867912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B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2532888" y="4123944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outputs 0–100 burn probability per ward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572000" y="3813048"/>
            <a:ext cx="1984248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4645152" y="3867912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B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645152" y="4123944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≥ 70 → High → auto-trigger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684264" y="3813048"/>
            <a:ext cx="1984248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6757416" y="3867912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B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757416" y="4123944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Trucks rerouted + citizens get free dump slots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01168"/>
            <a:ext cx="384048" cy="256032"/>
          </a:xfrm>
          <a:prstGeom prst="roundRect">
            <a:avLst>
              <a:gd name="adj" fmla="val 17857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0116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" y="201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PLATFORMS &amp; FEASIBILITY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47472" y="566928"/>
            <a:ext cx="8449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Realistic, Accessible Tools to Build This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4919472"/>
            <a:ext cx="8449056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AeroBin  ·  AI-Integrated Waste Operations  ·  Classification (Burn-Risk Prediction)  ·  SustainAI · Pune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47472" y="117043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TOOL STACK  (by workflow stage)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7472" y="1444752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" y="1481328"/>
            <a:ext cx="4828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B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93776" y="1700784"/>
            <a:ext cx="4828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CPCB AQI API / UrbanEmissions CSV  ·  OpenWeatherMap (IMD)  ·  Python requests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2029968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" y="2066544"/>
            <a:ext cx="4828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B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cleaning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93776" y="2286000"/>
            <a:ext cx="4828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+ NumPy  ·  Google Sheets or SQLite for the pilot  ·  Colab notebooks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7472" y="2615184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3776" y="2651760"/>
            <a:ext cx="4828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B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93776" y="2871216"/>
            <a:ext cx="4828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pipelines  ·  rolling-window AQI features  ·  one-hot ward encoding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3200400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3776" y="3236976"/>
            <a:ext cx="4828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B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(build)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93776" y="3456432"/>
            <a:ext cx="4828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Teachable Machine (no-code demo)  ·  scikit-learn (LogReg / Gradient Boosting)  ·  AutoML Tables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7472" y="3785616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3776" y="3822192"/>
            <a:ext cx="4828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B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&amp; deployment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93776" y="4041648"/>
            <a:ext cx="4828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/ Flask dashboard  ·  daily batch job  ·  Twilio SMS API for alerts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650992" y="1170432"/>
            <a:ext cx="3145536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797296" y="126187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TOOLS  &amp;  FEASIBILITY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797296" y="1517904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tools are free or freemium — no paid licences needed for the pilot.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797296" y="1828800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Teachable Machine gives a no-code working demo in an hour.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797296" y="2139696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runs in Colab on a free GPU; no infra to buy.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797296" y="2450592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is interpretable — regulators can audit it.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797296" y="2761488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+ Twilio turn the model into a live dashboard + SMS alerts.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650992" y="3383280"/>
            <a:ext cx="987552" cy="658368"/>
          </a:xfrm>
          <a:prstGeom prst="roundRect">
            <a:avLst>
              <a:gd name="adj" fmla="val 12500"/>
            </a:avLst>
          </a:prstGeom>
          <a:solidFill>
            <a:srgbClr val="1A1A2E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50992" y="3401568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 hr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650992" y="3694176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 no-code demo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6729984" y="3383280"/>
            <a:ext cx="987552" cy="658368"/>
          </a:xfrm>
          <a:prstGeom prst="roundRect">
            <a:avLst>
              <a:gd name="adj" fmla="val 12500"/>
            </a:avLst>
          </a:prstGeom>
          <a:solidFill>
            <a:srgbClr val="1A1A2E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29984" y="3401568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729984" y="3694176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/ open data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7808976" y="3383280"/>
            <a:ext cx="987552" cy="658368"/>
          </a:xfrm>
          <a:prstGeom prst="roundRect">
            <a:avLst>
              <a:gd name="adj" fmla="val 12500"/>
            </a:avLst>
          </a:prstGeom>
          <a:solidFill>
            <a:srgbClr val="1A1A2E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08976" y="3401568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Interpretable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808976" y="3694176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model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721</Words>
  <Application>Microsoft Office PowerPoint</Application>
  <PresentationFormat>On-screen Show (16:9)</PresentationFormat>
  <Paragraphs>104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AeroBin — Predicting Pune's Pollution Before It Starts</dc:title>
  <dc:subject>PptxGenJS Presentation</dc:subject>
  <dc:creator>Zaid Khan</dc:creator>
  <cp:lastModifiedBy>Zaid Khan</cp:lastModifiedBy>
  <cp:revision>4</cp:revision>
  <dcterms:created xsi:type="dcterms:W3CDTF">2026-06-25T19:30:43Z</dcterms:created>
  <dcterms:modified xsi:type="dcterms:W3CDTF">2026-06-26T15:01:52Z</dcterms:modified>
</cp:coreProperties>
</file>