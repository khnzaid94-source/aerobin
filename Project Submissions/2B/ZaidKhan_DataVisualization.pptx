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77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1A231E"/>
              </a:gs>
              <a:gs pos="100000">
                <a:srgbClr val="23322B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1E3A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2A3F3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1828800"/>
            <a:ext cx="2011680" cy="2011680"/>
          </a:xfrm>
          <a:prstGeom prst="ellipse">
            <a:avLst/>
          </a:prstGeom>
          <a:solidFill>
            <a:srgbClr val="146C43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960120"/>
            <a:ext cx="1828800" cy="2540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0972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alibri"/>
              </a:rPr>
              <a:t>INDIAN AIR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2412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Visualizing a Decade of
CPCB Air-Quality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B7B74"/>
                </a:solidFill>
                <a:latin typeface="Calibri"/>
              </a:rPr>
              <a:t>Data-driven insights from 298 Indian cities over ten years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94760"/>
            <a:ext cx="10332720" cy="12700"/>
          </a:xfrm>
          <a:prstGeom prst="rect">
            <a:avLst/>
          </a:prstGeom>
          <a:solidFill>
            <a:srgbClr val="3A4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4572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E8B04B"/>
                </a:solidFill>
                <a:latin typeface="Calibri"/>
              </a:rPr>
              <a:t>PREPARED BY</a:t>
            </a:r>
            <a:r>
              <a:rPr lang="en-IN" sz="900" b="1" i="0" dirty="0">
                <a:solidFill>
                  <a:srgbClr val="E8B04B"/>
                </a:solidFill>
                <a:latin typeface="Calibri"/>
              </a:rPr>
              <a:t> </a:t>
            </a:r>
            <a:r>
              <a:rPr lang="en-IN" sz="900" b="1" dirty="0">
                <a:solidFill>
                  <a:srgbClr val="E8B04B"/>
                </a:solidFill>
                <a:latin typeface="Calibri"/>
              </a:rPr>
              <a:t>INTERN</a:t>
            </a:r>
            <a:endParaRPr lang="en-IN" sz="900" b="1" i="0" dirty="0">
              <a:solidFill>
                <a:srgbClr val="E8B04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Zaid Khan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27448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9EAAA2"/>
                </a:solidFill>
                <a:latin typeface="Calibri"/>
              </a:rPr>
              <a:t>AKI’s Poona College of Arts,
Science and 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06908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E8B04B"/>
                </a:solidFill>
                <a:latin typeface="Calibri"/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43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CPCB daily AQI bulletins (2015–2025)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7091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EAAA2"/>
                </a:solidFill>
                <a:latin typeface="Calibri"/>
              </a:rPr>
              <a:t>Source: UrbanEmissions.info  ·  298 cities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715000"/>
            <a:ext cx="995600" cy="27432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905000" y="5715000"/>
            <a:ext cx="995600" cy="27432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95600" y="5715000"/>
            <a:ext cx="995600" cy="27432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86200" y="5715000"/>
            <a:ext cx="995600" cy="274320"/>
          </a:xfrm>
          <a:prstGeom prst="rect">
            <a:avLst/>
          </a:prstGeom>
          <a:solidFill>
            <a:srgbClr val="E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76800" y="5715000"/>
            <a:ext cx="995600" cy="274320"/>
          </a:xfrm>
          <a:prstGeom prst="rect">
            <a:avLst/>
          </a:prstGeom>
          <a:solidFill>
            <a:srgbClr val="9C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67400" y="5715000"/>
            <a:ext cx="995600" cy="274320"/>
          </a:xfrm>
          <a:prstGeom prst="rect">
            <a:avLst/>
          </a:prstGeom>
          <a:solidFill>
            <a:srgbClr val="5D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6035040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B7B74"/>
                </a:solidFill>
                <a:latin typeface="Calibri"/>
              </a:rPr>
              <a:t>Good   ·   Satisfactory   ·   Moderate   ·   Poor   ·   Very Poor   ·   Severe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4A5F52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flip="none" rotWithShape="1">
            <a:gsLst>
              <a:gs pos="0">
                <a:srgbClr val="0B4F3A"/>
              </a:gs>
              <a:gs pos="100000">
                <a:srgbClr val="146C4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-457200"/>
            <a:ext cx="1828800" cy="1828800"/>
          </a:xfrm>
          <a:prstGeom prst="ellipse">
            <a:avLst/>
          </a:prstGeom>
          <a:solidFill>
            <a:srgbClr val="128C7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1440" y="457200"/>
            <a:ext cx="1005840" cy="1005840"/>
          </a:xfrm>
          <a:prstGeom prst="ellipse">
            <a:avLst/>
          </a:prstGeom>
          <a:solidFill>
            <a:srgbClr val="E8B04B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3DEA8"/>
                </a:solidFill>
                <a:latin typeface="Calibr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 &amp;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B74"/>
                </a:solidFill>
                <a:latin typeface="Calibri"/>
              </a:rPr>
              <a:t>Indian Air Quality · CPCB Data Visualization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6547104"/>
            <a:ext cx="523160" cy="14630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90560" y="6547104"/>
            <a:ext cx="523160" cy="146304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08720" y="6547104"/>
            <a:ext cx="523160" cy="146304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0" y="6547104"/>
            <a:ext cx="523160" cy="146304"/>
          </a:xfrm>
          <a:prstGeom prst="rect">
            <a:avLst/>
          </a:prstGeom>
          <a:solidFill>
            <a:srgbClr val="E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45040" y="6547104"/>
            <a:ext cx="523160" cy="146304"/>
          </a:xfrm>
          <a:prstGeom prst="rect">
            <a:avLst/>
          </a:prstGeom>
          <a:solidFill>
            <a:srgbClr val="9C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63200" y="6547104"/>
            <a:ext cx="523160" cy="146304"/>
          </a:xfrm>
          <a:prstGeom prst="rect">
            <a:avLst/>
          </a:prstGeom>
          <a:solidFill>
            <a:srgbClr val="5D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8B04B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554480"/>
            <a:ext cx="52120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>
            <a:off x="502920" y="1554480"/>
            <a:ext cx="5212080" cy="566928"/>
          </a:xfrm>
          <a:prstGeom prst="round2SameRect">
            <a:avLst/>
          </a:prstGeom>
          <a:gradFill flip="none" rotWithShape="1">
            <a:gsLst>
              <a:gs pos="0">
                <a:srgbClr val="0B4F3A"/>
              </a:gs>
              <a:gs pos="100000">
                <a:srgbClr val="146C4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15544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331720"/>
            <a:ext cx="466344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C3E36"/>
                </a:solidFill>
                <a:latin typeface="Calibri"/>
              </a:rPr>
              <a:t>•  CPCB daily AQI bulletins — official Govt. of India data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C3E36"/>
                </a:solidFill>
                <a:latin typeface="Calibri"/>
              </a:rPr>
              <a:t>•  435,010 daily city records, May 2015 → Jul 2025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C3E36"/>
                </a:solidFill>
                <a:latin typeface="Calibri"/>
              </a:rPr>
              <a:t>•  298 cities, incl. 3,295 days for Pune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C3E36"/>
                </a:solidFill>
                <a:latin typeface="Calibri"/>
              </a:rPr>
              <a:t>•  Fields: date, city, AQI, category, pollutant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C3E36"/>
                </a:solidFill>
                <a:latin typeface="Calibri"/>
              </a:rPr>
              <a:t>•  Source: UrbanEmissions.info (CPCB mirror)</a:t>
            </a:r>
          </a:p>
          <a:p>
            <a:pPr algn="l">
              <a:spcAft>
                <a:spcPts val="400"/>
              </a:spcAft>
            </a:pPr>
            <a:endParaRPr sz="1250" b="0" i="0">
              <a:solidFill>
                <a:srgbClr val="2C3E36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C3E36"/>
                </a:solidFill>
                <a:latin typeface="Calibri"/>
              </a:rPr>
              <a:t>•  Cleaned: standardised categories, derived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C3E36"/>
                </a:solidFill>
                <a:latin typeface="Calibri"/>
              </a:rPr>
              <a:t>    year / month, recomputed CPCI health bands</a:t>
            </a:r>
          </a:p>
          <a:p>
            <a:pPr algn="l">
              <a:spcAft>
                <a:spcPts val="400"/>
              </a:spcAft>
            </a:pPr>
            <a:endParaRPr sz="1250" b="0" i="0">
              <a:solidFill>
                <a:srgbClr val="2C3E36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C3E36"/>
                </a:solidFill>
                <a:latin typeface="Calibri"/>
              </a:rPr>
              <a:t>•  Three purpose-built visuals: trend, comparison,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C3E36"/>
                </a:solidFill>
                <a:latin typeface="Calibri"/>
              </a:rPr>
              <a:t>    and distribution — each with a single insight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554480"/>
            <a:ext cx="1783080" cy="141732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146C43"/>
              </a:gs>
              <a:gs pos="100000">
                <a:srgbClr val="128C7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1664208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3957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3DEA8"/>
                </a:solidFill>
                <a:latin typeface="Calibri"/>
              </a:rPr>
              <a:t>cities monitored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1554480"/>
            <a:ext cx="1783080" cy="141732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146C43"/>
              </a:gs>
              <a:gs pos="100000">
                <a:srgbClr val="128C7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0" y="1664208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435K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3957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3DEA8"/>
                </a:solidFill>
                <a:latin typeface="Calibri"/>
              </a:rPr>
              <a:t>daily records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1554480"/>
            <a:ext cx="1783080" cy="141732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146C43"/>
              </a:gs>
              <a:gs pos="100000">
                <a:srgbClr val="128C7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1240" y="1664208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10+ yr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3957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3DEA8"/>
                </a:solidFill>
                <a:latin typeface="Calibri"/>
              </a:rPr>
              <a:t>coverage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200400"/>
            <a:ext cx="571500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 Same Side Corner Rectangle 30"/>
          <p:cNvSpPr/>
          <p:nvPr/>
        </p:nvSpPr>
        <p:spPr>
          <a:xfrm>
            <a:off x="5989320" y="3200400"/>
            <a:ext cx="5715000" cy="502920"/>
          </a:xfrm>
          <a:prstGeom prst="round2SameRect">
            <a:avLst/>
          </a:prstGeom>
          <a:gradFill flip="none" rotWithShape="1">
            <a:gsLst>
              <a:gs pos="0">
                <a:srgbClr val="0B4F3A"/>
              </a:gs>
              <a:gs pos="100000">
                <a:srgbClr val="146C4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3200400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KEY FINDINGS AT A GLANCE</a:t>
            </a:r>
          </a:p>
        </p:txBody>
      </p:sp>
      <p:sp>
        <p:nvSpPr>
          <p:cNvPr id="33" name="Oval 32"/>
          <p:cNvSpPr/>
          <p:nvPr/>
        </p:nvSpPr>
        <p:spPr>
          <a:xfrm>
            <a:off x="6245352" y="3941064"/>
            <a:ext cx="146304" cy="146304"/>
          </a:xfrm>
          <a:prstGeom prst="ellipse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386791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B4F3A"/>
                </a:solidFill>
                <a:latin typeface="Calibri"/>
              </a:rPr>
              <a:t>81 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388620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2C3E36"/>
                </a:solidFill>
                <a:latin typeface="Calibri"/>
              </a:rPr>
              <a:t>seasonal AQI swing in Pune (Jul 70 ↔ Dec 152)</a:t>
            </a:r>
          </a:p>
        </p:txBody>
      </p:sp>
      <p:sp>
        <p:nvSpPr>
          <p:cNvPr id="36" name="Oval 35"/>
          <p:cNvSpPr/>
          <p:nvPr/>
        </p:nvSpPr>
        <p:spPr>
          <a:xfrm>
            <a:off x="6245352" y="4690871"/>
            <a:ext cx="146304" cy="146304"/>
          </a:xfrm>
          <a:prstGeom prst="ellipse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4617719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B4F3A"/>
                </a:solidFill>
                <a:latin typeface="Calibri"/>
              </a:rPr>
              <a:t>112 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4636007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2C3E36"/>
                </a:solidFill>
                <a:latin typeface="Calibri"/>
              </a:rPr>
              <a:t>gap between Pune and Delhi (2024 mean AQI)</a:t>
            </a:r>
          </a:p>
        </p:txBody>
      </p:sp>
      <p:sp>
        <p:nvSpPr>
          <p:cNvPr id="39" name="Oval 38"/>
          <p:cNvSpPr/>
          <p:nvPr/>
        </p:nvSpPr>
        <p:spPr>
          <a:xfrm>
            <a:off x="6245352" y="5440679"/>
            <a:ext cx="146304" cy="146304"/>
          </a:xfrm>
          <a:prstGeom prst="ellipse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5367527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B4F3A"/>
                </a:solidFill>
                <a:latin typeface="Calibri"/>
              </a:rPr>
              <a:t>43%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5385815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2C3E36"/>
                </a:solidFill>
                <a:latin typeface="Calibri"/>
              </a:rPr>
              <a:t>of Pune days are "Moderate" — only ~5% truly "Good"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flip="none" rotWithShape="1">
            <a:gsLst>
              <a:gs pos="0">
                <a:srgbClr val="0B4F3A"/>
              </a:gs>
              <a:gs pos="100000">
                <a:srgbClr val="146C4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-457200"/>
            <a:ext cx="1828800" cy="1828800"/>
          </a:xfrm>
          <a:prstGeom prst="ellipse">
            <a:avLst/>
          </a:prstGeom>
          <a:solidFill>
            <a:srgbClr val="128C7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1440" y="457200"/>
            <a:ext cx="1005840" cy="1005840"/>
          </a:xfrm>
          <a:prstGeom prst="ellipse">
            <a:avLst/>
          </a:prstGeom>
          <a:solidFill>
            <a:srgbClr val="E8B04B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058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F3DEA8"/>
                </a:solidFill>
                <a:latin typeface="Calibri"/>
              </a:rPr>
              <a:t>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A Decade of Pune Air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B74"/>
                </a:solidFill>
                <a:latin typeface="Calibri"/>
              </a:rPr>
              <a:t>Indian Air Quality · CPCB Data Visualization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6547104"/>
            <a:ext cx="523160" cy="14630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90560" y="6547104"/>
            <a:ext cx="523160" cy="146304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08720" y="6547104"/>
            <a:ext cx="523160" cy="146304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0" y="6547104"/>
            <a:ext cx="523160" cy="146304"/>
          </a:xfrm>
          <a:prstGeom prst="rect">
            <a:avLst/>
          </a:prstGeom>
          <a:solidFill>
            <a:srgbClr val="E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45040" y="6547104"/>
            <a:ext cx="523160" cy="146304"/>
          </a:xfrm>
          <a:prstGeom prst="rect">
            <a:avLst/>
          </a:prstGeom>
          <a:solidFill>
            <a:srgbClr val="9C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63200" y="6547104"/>
            <a:ext cx="523160" cy="146304"/>
          </a:xfrm>
          <a:prstGeom prst="rect">
            <a:avLst/>
          </a:prstGeom>
          <a:solidFill>
            <a:srgbClr val="5D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8B04B"/>
                </a:solidFill>
                <a:latin typeface="Calibri"/>
              </a:rPr>
              <a:t>3</a:t>
            </a:r>
          </a:p>
        </p:txBody>
      </p:sp>
      <p:pic>
        <p:nvPicPr>
          <p:cNvPr id="17" name="Picture 16" descr="chart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26679" cy="323763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412480" y="1554480"/>
            <a:ext cx="338328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182880" bIns="146304" rtlCol="0" anchor="ctr"/>
          <a:lstStyle/>
          <a:p>
            <a:pPr algn="l"/>
            <a:r>
              <a:rPr sz="1300" b="1">
                <a:solidFill>
                  <a:srgbClr val="0B4F3A"/>
                </a:solidFill>
                <a:latin typeface="Calibri"/>
              </a:rPr>
              <a:t>INSIGHT · SEASONAL CYCLE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Pune’s AQI follows a strong, repeating seasonal cycle.</a:t>
            </a:r>
          </a:p>
          <a:p>
            <a:pPr algn="l">
              <a:spcAft>
                <a:spcPts val="200"/>
              </a:spcAft>
            </a:pPr>
            <a:endParaRPr sz="1150">
              <a:solidFill>
                <a:srgbClr val="2C3E36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Winter peak in December (~AQI 152);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monsoon low in July (~AQI 70) — a swing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of ~81 points.</a:t>
            </a:r>
          </a:p>
          <a:p>
            <a:pPr algn="l">
              <a:spcAft>
                <a:spcPts val="200"/>
              </a:spcAft>
            </a:pPr>
            <a:endParaRPr sz="1150">
              <a:solidFill>
                <a:srgbClr val="2C3E36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Roughly half the year sits in the "Moderate"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band (&gt;100), so residents breathe unhealthy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air on a predictable winter schedule every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single year.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240280"/>
            <a:ext cx="50800" cy="320040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flip="none" rotWithShape="1">
            <a:gsLst>
              <a:gs pos="0">
                <a:srgbClr val="0B4F3A"/>
              </a:gs>
              <a:gs pos="100000">
                <a:srgbClr val="146C4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-457200"/>
            <a:ext cx="1828800" cy="1828800"/>
          </a:xfrm>
          <a:prstGeom prst="ellipse">
            <a:avLst/>
          </a:prstGeom>
          <a:solidFill>
            <a:srgbClr val="128C7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1440" y="457200"/>
            <a:ext cx="1005840" cy="1005840"/>
          </a:xfrm>
          <a:prstGeom prst="ellipse">
            <a:avLst/>
          </a:prstGeom>
          <a:solidFill>
            <a:srgbClr val="E8B04B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058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F3DEA8"/>
                </a:solidFill>
                <a:latin typeface="Calibri"/>
              </a:rPr>
              <a:t>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Pune vs Peer Metros &amp; National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B74"/>
                </a:solidFill>
                <a:latin typeface="Calibri"/>
              </a:rPr>
              <a:t>Indian Air Quality · CPCB Data Visualization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6547104"/>
            <a:ext cx="523160" cy="14630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90560" y="6547104"/>
            <a:ext cx="523160" cy="146304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08720" y="6547104"/>
            <a:ext cx="523160" cy="146304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0" y="6547104"/>
            <a:ext cx="523160" cy="146304"/>
          </a:xfrm>
          <a:prstGeom prst="rect">
            <a:avLst/>
          </a:prstGeom>
          <a:solidFill>
            <a:srgbClr val="E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45040" y="6547104"/>
            <a:ext cx="523160" cy="146304"/>
          </a:xfrm>
          <a:prstGeom prst="rect">
            <a:avLst/>
          </a:prstGeom>
          <a:solidFill>
            <a:srgbClr val="9C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63200" y="6547104"/>
            <a:ext cx="523160" cy="146304"/>
          </a:xfrm>
          <a:prstGeom prst="rect">
            <a:avLst/>
          </a:prstGeom>
          <a:solidFill>
            <a:srgbClr val="5D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8B04B"/>
                </a:solidFill>
                <a:latin typeface="Calibri"/>
              </a:rPr>
              <a:t>4</a:t>
            </a:r>
          </a:p>
        </p:txBody>
      </p:sp>
      <p:pic>
        <p:nvPicPr>
          <p:cNvPr id="17" name="Picture 16" descr="chart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26679" cy="353396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412480" y="1554480"/>
            <a:ext cx="338328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182880" bIns="146304" rtlCol="0" anchor="ctr"/>
          <a:lstStyle/>
          <a:p>
            <a:pPr algn="l"/>
            <a:r>
              <a:rPr sz="1300" b="1">
                <a:solidFill>
                  <a:srgbClr val="0B4F3A"/>
                </a:solidFill>
                <a:latin typeface="Calibri"/>
              </a:rPr>
              <a:t>INSIGHT · MID-TIER CITY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Pune is cleaner than Delhi but still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tracks the national average.</a:t>
            </a:r>
          </a:p>
          <a:p>
            <a:pPr algn="l">
              <a:spcAft>
                <a:spcPts val="200"/>
              </a:spcAft>
            </a:pPr>
            <a:endParaRPr sz="1150">
              <a:solidFill>
                <a:srgbClr val="2C3E36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2024 mean AQI: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   Pune 97  |  Delhi 209  |  India 106</a:t>
            </a:r>
          </a:p>
          <a:p>
            <a:pPr algn="l">
              <a:spcAft>
                <a:spcPts val="200"/>
              </a:spcAft>
            </a:pPr>
            <a:endParaRPr sz="1150">
              <a:solidFill>
                <a:srgbClr val="2C3E36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~112 pts below Delhi, ~9 pts off the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all-India mean — a moderately polluted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city, not a clean one. Vehicle congestion,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dust and biomass keep it in the Moderate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band despite coastal winds.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240280"/>
            <a:ext cx="50800" cy="320040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flip="none" rotWithShape="1">
            <a:gsLst>
              <a:gs pos="0">
                <a:srgbClr val="0B4F3A"/>
              </a:gs>
              <a:gs pos="100000">
                <a:srgbClr val="146C4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-457200"/>
            <a:ext cx="1828800" cy="1828800"/>
          </a:xfrm>
          <a:prstGeom prst="ellipse">
            <a:avLst/>
          </a:prstGeom>
          <a:solidFill>
            <a:srgbClr val="128C7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1440" y="457200"/>
            <a:ext cx="1005840" cy="1005840"/>
          </a:xfrm>
          <a:prstGeom prst="ellipse">
            <a:avLst/>
          </a:prstGeom>
          <a:solidFill>
            <a:srgbClr val="E8B04B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"/>
            <a:ext cx="10058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F3DEA8"/>
                </a:solidFill>
                <a:latin typeface="Calibri"/>
              </a:rPr>
              <a:t>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Where Pune’s Days Actually 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B74"/>
                </a:solidFill>
                <a:latin typeface="Calibri"/>
              </a:rPr>
              <a:t>Indian Air Quality · CPCB Data Visualization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6547104"/>
            <a:ext cx="523160" cy="14630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90560" y="6547104"/>
            <a:ext cx="523160" cy="146304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08720" y="6547104"/>
            <a:ext cx="523160" cy="146304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0" y="6547104"/>
            <a:ext cx="523160" cy="146304"/>
          </a:xfrm>
          <a:prstGeom prst="rect">
            <a:avLst/>
          </a:prstGeom>
          <a:solidFill>
            <a:srgbClr val="E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45040" y="6547104"/>
            <a:ext cx="523160" cy="146304"/>
          </a:xfrm>
          <a:prstGeom prst="rect">
            <a:avLst/>
          </a:prstGeom>
          <a:solidFill>
            <a:srgbClr val="9C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63200" y="6547104"/>
            <a:ext cx="523160" cy="146304"/>
          </a:xfrm>
          <a:prstGeom prst="rect">
            <a:avLst/>
          </a:prstGeom>
          <a:solidFill>
            <a:srgbClr val="5D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8B04B"/>
                </a:solidFill>
                <a:latin typeface="Calibri"/>
              </a:rPr>
              <a:t>5</a:t>
            </a:r>
          </a:p>
        </p:txBody>
      </p:sp>
      <p:pic>
        <p:nvPicPr>
          <p:cNvPr id="17" name="Picture 16" descr="chart3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452360" cy="361742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183879" y="1554480"/>
            <a:ext cx="3611880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182880" bIns="146304" rtlCol="0" anchor="ctr"/>
          <a:lstStyle/>
          <a:p>
            <a:pPr algn="l"/>
            <a:r>
              <a:rPr sz="1300" b="1">
                <a:solidFill>
                  <a:srgbClr val="0B4F3A"/>
                </a:solidFill>
                <a:latin typeface="Calibri"/>
              </a:rPr>
              <a:t>INSIGHT · RARE "GOOD" DAYS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Most Pune days are "Satisfactory" or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"Moderate"; truly "Good" days are rare.</a:t>
            </a:r>
          </a:p>
          <a:p>
            <a:pPr algn="l">
              <a:spcAft>
                <a:spcPts val="200"/>
              </a:spcAft>
            </a:pPr>
            <a:endParaRPr sz="1150">
              <a:solidFill>
                <a:srgbClr val="2C3E36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2016–24: Moderate 43% · Good+Sat 52%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Jan–Jul 2025: Moderate 56% · Good+Sat 45%</a:t>
            </a:r>
          </a:p>
          <a:p>
            <a:pPr algn="l">
              <a:spcAft>
                <a:spcPts val="200"/>
              </a:spcAft>
            </a:pPr>
            <a:endParaRPr sz="1150">
              <a:solidFill>
                <a:srgbClr val="2C3E36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Even in the cleaner monsoon half, the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2C3E36"/>
                </a:solidFill>
                <a:latin typeface="Calibri"/>
              </a:rPr>
              <a:t>dominant category is still "Moderate".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965960"/>
            <a:ext cx="50800" cy="1920239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" y="5440680"/>
            <a:ext cx="11338560" cy="105156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0B4F3A"/>
              </a:gs>
              <a:gs pos="100000">
                <a:srgbClr val="146C4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55040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8B04B"/>
                </a:solidFill>
                <a:latin typeface="Calibri"/>
              </a:rPr>
              <a:t>PROBLEM   →   DATA   →  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61304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Vehicle congestion &amp; emissions are a persistent urban burden.   10+ years of CPCB AQI show Pune locked in the Moderate band with winter spikes (Dec ~152).   A measurable, recurring air-quality burden exists — targeted interventions (no-idling zones, cycling, green buffers) address the dominant PM2.5/PM10.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533</Words>
  <Application>Microsoft Office PowerPoint</Application>
  <PresentationFormat>Widescreen</PresentationFormat>
  <Paragraphs>86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Zaid Khan</cp:lastModifiedBy>
  <cp:revision>2</cp:revision>
  <dcterms:created xsi:type="dcterms:W3CDTF">2013-01-27T09:14:16Z</dcterms:created>
  <dcterms:modified xsi:type="dcterms:W3CDTF">2026-06-20T14:44:42Z</dcterms:modified>
  <cp:category/>
</cp:coreProperties>
</file>