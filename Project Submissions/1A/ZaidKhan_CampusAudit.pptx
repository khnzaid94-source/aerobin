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8"/>
  </p:notesMasterIdLst>
  <p:sldIdLst>
    <p:sldId id="256" r:id="rId2"/>
    <p:sldId id="257" r:id="rId3"/>
    <p:sldId id="258" r:id="rId4"/>
    <p:sldId id="259" r:id="rId5"/>
    <p:sldId id="260" r:id="rId6"/>
    <p:sldId id="261" r:id="rId7"/>
  </p:sld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94" d="100"/>
          <a:sy n="94" d="100"/>
        </p:scale>
        <p:origin x="660" y="60"/>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notesMaster" Target="notesMasters/notesMaster1.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tableStyles" Target="tableStyle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theme" Target="theme/theme1.xml"/><Relationship Id="rId5" Type="http://schemas.openxmlformats.org/officeDocument/2006/relationships/slide" Target="slides/slide4.xml"/><Relationship Id="rId10"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46574954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3.png"/><Relationship Id="rId4" Type="http://schemas.openxmlformats.org/officeDocument/2006/relationships/image" Target="../media/image2.png"/></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5.jpeg"/><Relationship Id="rId7" Type="http://schemas.openxmlformats.org/officeDocument/2006/relationships/image" Target="../media/image4.png"/><Relationship Id="rId2" Type="http://schemas.openxmlformats.org/officeDocument/2006/relationships/notesSlide" Target="../notesSlides/notesSlide2.xml"/><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10.png"/><Relationship Id="rId5" Type="http://schemas.openxmlformats.org/officeDocument/2006/relationships/image" Target="../media/image2.png"/><Relationship Id="rId10" Type="http://schemas.openxmlformats.org/officeDocument/2006/relationships/image" Target="../media/image9.png"/><Relationship Id="rId4" Type="http://schemas.openxmlformats.org/officeDocument/2006/relationships/image" Target="../media/image6.png"/><Relationship Id="rId9" Type="http://schemas.openxmlformats.org/officeDocument/2006/relationships/image" Target="../media/image8.png"/></Relationships>
</file>

<file path=ppt/slides/_rels/slide3.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image" Target="../media/image5.jpeg"/><Relationship Id="rId7"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1.xml"/><Relationship Id="rId6" Type="http://schemas.openxmlformats.org/officeDocument/2006/relationships/image" Target="../media/image3.png"/><Relationship Id="rId11" Type="http://schemas.openxmlformats.org/officeDocument/2006/relationships/image" Target="../media/image10.png"/><Relationship Id="rId5" Type="http://schemas.openxmlformats.org/officeDocument/2006/relationships/image" Target="../media/image2.png"/><Relationship Id="rId10" Type="http://schemas.openxmlformats.org/officeDocument/2006/relationships/image" Target="../media/image9.png"/><Relationship Id="rId4" Type="http://schemas.openxmlformats.org/officeDocument/2006/relationships/image" Target="../media/image11.png"/><Relationship Id="rId9" Type="http://schemas.openxmlformats.org/officeDocument/2006/relationships/image" Target="../media/image8.png"/></Relationships>
</file>

<file path=ppt/slides/_rels/slide4.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jpeg"/><Relationship Id="rId7" Type="http://schemas.openxmlformats.org/officeDocument/2006/relationships/image" Target="../media/image7.png"/><Relationship Id="rId2" Type="http://schemas.openxmlformats.org/officeDocument/2006/relationships/notesSlide" Target="../notesSlides/notesSlide4.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2.png"/><Relationship Id="rId10" Type="http://schemas.openxmlformats.org/officeDocument/2006/relationships/image" Target="../media/image10.png"/><Relationship Id="rId4" Type="http://schemas.openxmlformats.org/officeDocument/2006/relationships/image" Target="../media/image12.png"/><Relationship Id="rId9" Type="http://schemas.openxmlformats.org/officeDocument/2006/relationships/image" Target="../media/image9.png"/></Relationships>
</file>

<file path=ppt/slides/_rels/slide5.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jpeg"/><Relationship Id="rId7" Type="http://schemas.openxmlformats.org/officeDocument/2006/relationships/image" Target="../media/image7.png"/><Relationship Id="rId2" Type="http://schemas.openxmlformats.org/officeDocument/2006/relationships/notesSlide" Target="../notesSlides/notesSlide5.xml"/><Relationship Id="rId1" Type="http://schemas.openxmlformats.org/officeDocument/2006/relationships/slideLayout" Target="../slideLayouts/slideLayout1.xml"/><Relationship Id="rId6" Type="http://schemas.openxmlformats.org/officeDocument/2006/relationships/image" Target="../media/image3.png"/><Relationship Id="rId5" Type="http://schemas.openxmlformats.org/officeDocument/2006/relationships/image" Target="../media/image2.png"/><Relationship Id="rId10" Type="http://schemas.openxmlformats.org/officeDocument/2006/relationships/image" Target="../media/image10.png"/><Relationship Id="rId4" Type="http://schemas.openxmlformats.org/officeDocument/2006/relationships/image" Target="../media/image13.png"/><Relationship Id="rId9" Type="http://schemas.openxmlformats.org/officeDocument/2006/relationships/image" Target="../media/image9.png"/></Relationships>
</file>

<file path=ppt/slides/_rels/slide6.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image" Target="../media/image5.jpeg"/><Relationship Id="rId7" Type="http://schemas.openxmlformats.org/officeDocument/2006/relationships/image" Target="../media/image7.png"/><Relationship Id="rId2" Type="http://schemas.openxmlformats.org/officeDocument/2006/relationships/notesSlide" Target="../notesSlides/notesSlide6.xml"/><Relationship Id="rId1" Type="http://schemas.openxmlformats.org/officeDocument/2006/relationships/slideLayout" Target="../slideLayouts/slideLayout1.xml"/><Relationship Id="rId6" Type="http://schemas.openxmlformats.org/officeDocument/2006/relationships/image" Target="../media/image4.png"/><Relationship Id="rId5" Type="http://schemas.openxmlformats.org/officeDocument/2006/relationships/image" Target="../media/image2.png"/><Relationship Id="rId10" Type="http://schemas.openxmlformats.org/officeDocument/2006/relationships/image" Target="../media/image10.png"/><Relationship Id="rId4" Type="http://schemas.openxmlformats.org/officeDocument/2006/relationships/image" Target="../media/image14.png"/><Relationship Id="rId9" Type="http://schemas.openxmlformats.org/officeDocument/2006/relationships/image" Target="../media/image9.png"/></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50E06"/>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2161520" cy="6858000"/>
          </a:xfrm>
          <a:prstGeom prst="rect">
            <a:avLst/>
          </a:prstGeom>
        </p:spPr>
      </p:pic>
      <p:sp>
        <p:nvSpPr>
          <p:cNvPr id="3" name="Shape 0"/>
          <p:cNvSpPr/>
          <p:nvPr/>
        </p:nvSpPr>
        <p:spPr>
          <a:xfrm>
            <a:off x="0" y="0"/>
            <a:ext cx="12161520" cy="6858000"/>
          </a:xfrm>
          <a:prstGeom prst="rect">
            <a:avLst/>
          </a:prstGeom>
          <a:solidFill>
            <a:srgbClr val="000000">
              <a:alpha val="65000"/>
            </a:srgbClr>
          </a:solidFill>
          <a:ln w="12700">
            <a:solidFill>
              <a:srgbClr val="000000"/>
            </a:solidFill>
            <a:prstDash val="solid"/>
          </a:ln>
        </p:spPr>
      </p:sp>
      <p:sp>
        <p:nvSpPr>
          <p:cNvPr id="4" name="Shape 1"/>
          <p:cNvSpPr/>
          <p:nvPr/>
        </p:nvSpPr>
        <p:spPr>
          <a:xfrm>
            <a:off x="4754880" y="960120"/>
            <a:ext cx="2194560" cy="0"/>
          </a:xfrm>
          <a:prstGeom prst="line">
            <a:avLst/>
          </a:prstGeom>
          <a:noFill/>
          <a:ln w="10160">
            <a:solidFill>
              <a:srgbClr val="6BBFB5"/>
            </a:solidFill>
            <a:prstDash val="solid"/>
          </a:ln>
        </p:spPr>
      </p:sp>
      <p:sp>
        <p:nvSpPr>
          <p:cNvPr id="5" name="Shape 2"/>
          <p:cNvSpPr/>
          <p:nvPr/>
        </p:nvSpPr>
        <p:spPr>
          <a:xfrm>
            <a:off x="4754880" y="5870448"/>
            <a:ext cx="2194560" cy="0"/>
          </a:xfrm>
          <a:prstGeom prst="line">
            <a:avLst/>
          </a:prstGeom>
          <a:noFill/>
          <a:ln w="10160">
            <a:solidFill>
              <a:srgbClr val="6BBFB5"/>
            </a:solidFill>
            <a:prstDash val="solid"/>
          </a:ln>
        </p:spPr>
      </p:sp>
      <p:sp>
        <p:nvSpPr>
          <p:cNvPr id="6" name="Text 3"/>
          <p:cNvSpPr/>
          <p:nvPr/>
        </p:nvSpPr>
        <p:spPr>
          <a:xfrm>
            <a:off x="4389120" y="1188720"/>
            <a:ext cx="7132320" cy="960120"/>
          </a:xfrm>
          <a:prstGeom prst="rect">
            <a:avLst/>
          </a:prstGeom>
          <a:noFill/>
          <a:ln/>
        </p:spPr>
        <p:txBody>
          <a:bodyPr wrap="square" lIns="0" tIns="0" rIns="0" bIns="0" rtlCol="0" anchor="ctr"/>
          <a:lstStyle/>
          <a:p>
            <a:pPr marL="0" indent="0" algn="ctr">
              <a:buNone/>
            </a:pPr>
            <a:r>
              <a:rPr lang="en-US" sz="7000" dirty="0">
                <a:solidFill>
                  <a:srgbClr val="FFFFFF"/>
                </a:solidFill>
                <a:latin typeface="Georgia" pitchFamily="34" charset="0"/>
                <a:ea typeface="Georgia" pitchFamily="34" charset="-122"/>
                <a:cs typeface="Georgia" pitchFamily="34" charset="-120"/>
              </a:rPr>
              <a:t>Campus</a:t>
            </a:r>
            <a:endParaRPr lang="en-US" sz="7000" dirty="0"/>
          </a:p>
        </p:txBody>
      </p:sp>
      <p:sp>
        <p:nvSpPr>
          <p:cNvPr id="7" name="Text 4"/>
          <p:cNvSpPr/>
          <p:nvPr/>
        </p:nvSpPr>
        <p:spPr>
          <a:xfrm>
            <a:off x="4389120" y="2148840"/>
            <a:ext cx="7132320" cy="960120"/>
          </a:xfrm>
          <a:prstGeom prst="rect">
            <a:avLst/>
          </a:prstGeom>
          <a:noFill/>
          <a:ln/>
        </p:spPr>
        <p:txBody>
          <a:bodyPr wrap="square" lIns="0" tIns="0" rIns="0" bIns="0" rtlCol="0" anchor="ctr"/>
          <a:lstStyle/>
          <a:p>
            <a:pPr marL="0" indent="0" algn="ctr">
              <a:buNone/>
            </a:pPr>
            <a:r>
              <a:rPr lang="en-US" sz="7000" dirty="0">
                <a:solidFill>
                  <a:srgbClr val="6BBFB5"/>
                </a:solidFill>
                <a:latin typeface="Georgia" pitchFamily="34" charset="0"/>
                <a:ea typeface="Georgia" pitchFamily="34" charset="-122"/>
                <a:cs typeface="Georgia" pitchFamily="34" charset="-120"/>
              </a:rPr>
              <a:t>Sustainability</a:t>
            </a:r>
            <a:endParaRPr lang="en-US" sz="7000" dirty="0"/>
          </a:p>
        </p:txBody>
      </p:sp>
      <p:sp>
        <p:nvSpPr>
          <p:cNvPr id="8" name="Text 5"/>
          <p:cNvSpPr/>
          <p:nvPr/>
        </p:nvSpPr>
        <p:spPr>
          <a:xfrm>
            <a:off x="4389120" y="3108960"/>
            <a:ext cx="7132320" cy="960120"/>
          </a:xfrm>
          <a:prstGeom prst="rect">
            <a:avLst/>
          </a:prstGeom>
          <a:noFill/>
          <a:ln/>
        </p:spPr>
        <p:txBody>
          <a:bodyPr wrap="square" lIns="0" tIns="0" rIns="0" bIns="0" rtlCol="0" anchor="ctr"/>
          <a:lstStyle/>
          <a:p>
            <a:pPr marL="0" indent="0" algn="ctr">
              <a:buNone/>
            </a:pPr>
            <a:r>
              <a:rPr lang="en-US" sz="7000" dirty="0">
                <a:solidFill>
                  <a:srgbClr val="FFFFFF"/>
                </a:solidFill>
                <a:latin typeface="Georgia" pitchFamily="34" charset="0"/>
              </a:rPr>
              <a:t>Assessment</a:t>
            </a:r>
            <a:endParaRPr lang="en-US" sz="7000" dirty="0"/>
          </a:p>
        </p:txBody>
      </p:sp>
      <p:sp>
        <p:nvSpPr>
          <p:cNvPr id="9" name="Text 6"/>
          <p:cNvSpPr/>
          <p:nvPr/>
        </p:nvSpPr>
        <p:spPr>
          <a:xfrm>
            <a:off x="4389120" y="4224528"/>
            <a:ext cx="7132320" cy="292608"/>
          </a:xfrm>
          <a:prstGeom prst="rect">
            <a:avLst/>
          </a:prstGeom>
          <a:noFill/>
          <a:ln/>
        </p:spPr>
        <p:txBody>
          <a:bodyPr wrap="square" lIns="0" tIns="0" rIns="0" bIns="0" rtlCol="0" anchor="ctr"/>
          <a:lstStyle/>
          <a:p>
            <a:pPr marL="0" indent="0" algn="ctr">
              <a:buNone/>
            </a:pPr>
            <a:r>
              <a:rPr lang="en-US" sz="1300" i="1" dirty="0">
                <a:solidFill>
                  <a:srgbClr val="C8E6C9"/>
                </a:solidFill>
                <a:latin typeface="Calibri" pitchFamily="34" charset="0"/>
                <a:ea typeface="Calibri" pitchFamily="34" charset="-122"/>
                <a:cs typeface="Calibri" pitchFamily="34" charset="-120"/>
              </a:rPr>
              <a:t>AKI's Poona College of Arts, Science and Commerce</a:t>
            </a:r>
            <a:endParaRPr lang="en-US" sz="1300" dirty="0"/>
          </a:p>
        </p:txBody>
      </p:sp>
      <p:sp>
        <p:nvSpPr>
          <p:cNvPr id="10" name="Text 7"/>
          <p:cNvSpPr/>
          <p:nvPr/>
        </p:nvSpPr>
        <p:spPr>
          <a:xfrm>
            <a:off x="4389120" y="4535424"/>
            <a:ext cx="7132320" cy="460000"/>
          </a:xfrm>
          <a:prstGeom prst="rect">
            <a:avLst/>
          </a:prstGeom>
          <a:noFill/>
          <a:ln/>
        </p:spPr>
        <p:txBody>
          <a:bodyPr wrap="square" lIns="0" tIns="0" rIns="0" bIns="0" rtlCol="0" anchor="ctr"/>
          <a:lstStyle/>
          <a:p>
            <a:pPr marL="0" indent="0" algn="ctr">
              <a:buNone/>
            </a:pPr>
            <a:r>
              <a:rPr lang="en-US" sz="1000" dirty="0">
                <a:solidFill>
                  <a:srgbClr val="8DB58F"/>
                </a:solidFill>
                <a:latin typeface="Calibri" pitchFamily="34" charset="0"/>
                <a:ea typeface="Calibri" pitchFamily="34" charset="-122"/>
                <a:cs typeface="Calibri" pitchFamily="34" charset="-120"/>
              </a:rPr>
              <a:t>Mapping ground-level sustainability issues.</a:t>
            </a:r>
            <a:endParaRPr lang="en-US" sz="1000" dirty="0"/>
          </a:p>
          <a:p>
            <a:pPr marL="0" indent="0" algn="ctr">
              <a:buNone/>
            </a:pPr>
            <a:r>
              <a:rPr lang="en-US" sz="1000" i="1" dirty="0">
                <a:solidFill>
                  <a:srgbClr val="6BBFB5"/>
                </a:solidFill>
                <a:latin typeface="Calibri" pitchFamily="34" charset="0"/>
                <a:ea typeface="Calibri" pitchFamily="34" charset="-122"/>
                <a:cs typeface="Calibri" pitchFamily="34" charset="-120"/>
              </a:rPr>
              <a:t>Assisted by AI, authored by humanity.</a:t>
            </a:r>
            <a:endParaRPr lang="en-US" sz="1000" dirty="0"/>
          </a:p>
        </p:txBody>
      </p:sp>
      <p:sp>
        <p:nvSpPr>
          <p:cNvPr id="11" name="Shape 8"/>
          <p:cNvSpPr/>
          <p:nvPr/>
        </p:nvSpPr>
        <p:spPr>
          <a:xfrm>
            <a:off x="4800600" y="5139472"/>
            <a:ext cx="2084832" cy="475488"/>
          </a:xfrm>
          <a:prstGeom prst="roundRect">
            <a:avLst>
              <a:gd name="adj" fmla="val 11538"/>
            </a:avLst>
          </a:prstGeom>
          <a:solidFill>
            <a:srgbClr val="1B5E20">
              <a:alpha val="70000"/>
            </a:srgbClr>
          </a:solidFill>
          <a:ln w="5080">
            <a:solidFill>
              <a:srgbClr val="FFFFFF">
                <a:alpha val="45000"/>
              </a:srgbClr>
            </a:solidFill>
            <a:prstDash val="solid"/>
          </a:ln>
        </p:spPr>
      </p:sp>
      <p:pic>
        <p:nvPicPr>
          <p:cNvPr id="12" name="Image 1" descr="preencoded.png"/>
          <p:cNvPicPr>
            <a:picLocks noChangeAspect="1"/>
          </p:cNvPicPr>
          <p:nvPr/>
        </p:nvPicPr>
        <p:blipFill>
          <a:blip r:embed="rId4"/>
          <a:stretch>
            <a:fillRect/>
          </a:stretch>
        </p:blipFill>
        <p:spPr>
          <a:xfrm>
            <a:off x="4910328" y="5194336"/>
            <a:ext cx="201168" cy="201168"/>
          </a:xfrm>
          <a:prstGeom prst="rect">
            <a:avLst/>
          </a:prstGeom>
        </p:spPr>
      </p:pic>
      <p:sp>
        <p:nvSpPr>
          <p:cNvPr id="13" name="Text 9"/>
          <p:cNvSpPr/>
          <p:nvPr/>
        </p:nvSpPr>
        <p:spPr>
          <a:xfrm>
            <a:off x="5166360" y="5187216"/>
            <a:ext cx="1664208" cy="350000"/>
          </a:xfrm>
          <a:prstGeom prst="rect">
            <a:avLst/>
          </a:prstGeom>
          <a:noFill/>
          <a:ln/>
        </p:spPr>
        <p:txBody>
          <a:bodyPr wrap="square" lIns="0" tIns="0" rIns="0" bIns="0" rtlCol="0" anchor="t"/>
          <a:lstStyle/>
          <a:p>
            <a:pPr marL="0" indent="0">
              <a:buNone/>
            </a:pPr>
            <a:r>
              <a:rPr lang="en-US" sz="850" b="1" dirty="0">
                <a:solidFill>
                  <a:srgbClr val="FFFFFF"/>
                </a:solidFill>
              </a:rPr>
              <a:t>Environmental</a:t>
            </a:r>
            <a:endParaRPr lang="en-US" sz="850" dirty="0"/>
          </a:p>
          <a:p>
            <a:pPr marL="0" indent="0">
              <a:buNone/>
            </a:pPr>
            <a:r>
              <a:rPr lang="en-US" sz="750" dirty="0">
                <a:solidFill>
                  <a:srgbClr val="C8E6C9"/>
                </a:solidFill>
              </a:rPr>
              <a:t>5 Issues</a:t>
            </a:r>
            <a:endParaRPr lang="en-US" sz="750" dirty="0"/>
          </a:p>
        </p:txBody>
      </p:sp>
      <p:sp>
        <p:nvSpPr>
          <p:cNvPr id="14" name="Shape 10"/>
          <p:cNvSpPr/>
          <p:nvPr/>
        </p:nvSpPr>
        <p:spPr>
          <a:xfrm>
            <a:off x="7013448" y="5139472"/>
            <a:ext cx="2084832" cy="475488"/>
          </a:xfrm>
          <a:prstGeom prst="roundRect">
            <a:avLst>
              <a:gd name="adj" fmla="val 11538"/>
            </a:avLst>
          </a:prstGeom>
          <a:solidFill>
            <a:srgbClr val="1565C0">
              <a:alpha val="70000"/>
            </a:srgbClr>
          </a:solidFill>
          <a:ln w="5080">
            <a:solidFill>
              <a:srgbClr val="FFFFFF">
                <a:alpha val="45000"/>
              </a:srgbClr>
            </a:solidFill>
            <a:prstDash val="solid"/>
          </a:ln>
        </p:spPr>
      </p:sp>
      <p:pic>
        <p:nvPicPr>
          <p:cNvPr id="15" name="Image 2" descr="preencoded.png"/>
          <p:cNvPicPr>
            <a:picLocks noChangeAspect="1"/>
          </p:cNvPicPr>
          <p:nvPr/>
        </p:nvPicPr>
        <p:blipFill>
          <a:blip r:embed="rId5"/>
          <a:stretch>
            <a:fillRect/>
          </a:stretch>
        </p:blipFill>
        <p:spPr>
          <a:xfrm>
            <a:off x="7123176" y="5194336"/>
            <a:ext cx="201168" cy="201168"/>
          </a:xfrm>
          <a:prstGeom prst="rect">
            <a:avLst/>
          </a:prstGeom>
        </p:spPr>
      </p:pic>
      <p:sp>
        <p:nvSpPr>
          <p:cNvPr id="16" name="Text 11"/>
          <p:cNvSpPr/>
          <p:nvPr/>
        </p:nvSpPr>
        <p:spPr>
          <a:xfrm>
            <a:off x="7379208" y="5187216"/>
            <a:ext cx="1664208" cy="350000"/>
          </a:xfrm>
          <a:prstGeom prst="rect">
            <a:avLst/>
          </a:prstGeom>
          <a:noFill/>
          <a:ln/>
        </p:spPr>
        <p:txBody>
          <a:bodyPr wrap="square" lIns="0" tIns="0" rIns="0" bIns="0" rtlCol="0" anchor="t"/>
          <a:lstStyle/>
          <a:p>
            <a:pPr marL="0" indent="0">
              <a:buNone/>
            </a:pPr>
            <a:r>
              <a:rPr lang="en-US" sz="850" b="1" dirty="0">
                <a:solidFill>
                  <a:srgbClr val="FFFFFF"/>
                </a:solidFill>
              </a:rPr>
              <a:t>Social</a:t>
            </a:r>
            <a:endParaRPr lang="en-US" sz="850" dirty="0"/>
          </a:p>
          <a:p>
            <a:pPr marL="0" indent="0">
              <a:buNone/>
            </a:pPr>
            <a:r>
              <a:rPr lang="en-US" sz="750" dirty="0">
                <a:solidFill>
                  <a:srgbClr val="C8E6C9"/>
                </a:solidFill>
              </a:rPr>
              <a:t>3 Issues</a:t>
            </a:r>
            <a:endParaRPr lang="en-US" sz="750" dirty="0"/>
          </a:p>
        </p:txBody>
      </p:sp>
      <p:sp>
        <p:nvSpPr>
          <p:cNvPr id="17" name="Shape 12"/>
          <p:cNvSpPr/>
          <p:nvPr/>
        </p:nvSpPr>
        <p:spPr>
          <a:xfrm>
            <a:off x="9226296" y="5139472"/>
            <a:ext cx="2084832" cy="475488"/>
          </a:xfrm>
          <a:prstGeom prst="roundRect">
            <a:avLst>
              <a:gd name="adj" fmla="val 11538"/>
            </a:avLst>
          </a:prstGeom>
          <a:solidFill>
            <a:srgbClr val="78350F">
              <a:alpha val="70000"/>
            </a:srgbClr>
          </a:solidFill>
          <a:ln w="5080">
            <a:solidFill>
              <a:srgbClr val="FFFFFF">
                <a:alpha val="45000"/>
              </a:srgbClr>
            </a:solidFill>
            <a:prstDash val="solid"/>
          </a:ln>
        </p:spPr>
      </p:sp>
      <p:pic>
        <p:nvPicPr>
          <p:cNvPr id="18" name="Image 3" descr="preencoded.png"/>
          <p:cNvPicPr>
            <a:picLocks noChangeAspect="1"/>
          </p:cNvPicPr>
          <p:nvPr/>
        </p:nvPicPr>
        <p:blipFill>
          <a:blip r:embed="rId6"/>
          <a:stretch>
            <a:fillRect/>
          </a:stretch>
        </p:blipFill>
        <p:spPr>
          <a:xfrm>
            <a:off x="9336024" y="5194336"/>
            <a:ext cx="201168" cy="201168"/>
          </a:xfrm>
          <a:prstGeom prst="rect">
            <a:avLst/>
          </a:prstGeom>
        </p:spPr>
      </p:pic>
      <p:sp>
        <p:nvSpPr>
          <p:cNvPr id="19" name="Text 13"/>
          <p:cNvSpPr/>
          <p:nvPr/>
        </p:nvSpPr>
        <p:spPr>
          <a:xfrm>
            <a:off x="9592056" y="5187216"/>
            <a:ext cx="1664208" cy="350000"/>
          </a:xfrm>
          <a:prstGeom prst="rect">
            <a:avLst/>
          </a:prstGeom>
          <a:noFill/>
          <a:ln/>
        </p:spPr>
        <p:txBody>
          <a:bodyPr wrap="square" lIns="0" tIns="0" rIns="0" bIns="0" rtlCol="0" anchor="t"/>
          <a:lstStyle/>
          <a:p>
            <a:pPr marL="0" indent="0">
              <a:buNone/>
            </a:pPr>
            <a:r>
              <a:rPr lang="en-US" sz="850" b="1" dirty="0">
                <a:solidFill>
                  <a:srgbClr val="FFFFFF"/>
                </a:solidFill>
              </a:rPr>
              <a:t>Economic</a:t>
            </a:r>
            <a:endParaRPr lang="en-US" sz="850" dirty="0"/>
          </a:p>
          <a:p>
            <a:pPr marL="0" indent="0">
              <a:buNone/>
            </a:pPr>
            <a:r>
              <a:rPr lang="en-US" sz="750" dirty="0">
                <a:solidFill>
                  <a:srgbClr val="C8E6C9"/>
                </a:solidFill>
              </a:rPr>
              <a:t>4 Issues</a:t>
            </a:r>
            <a:endParaRPr lang="en-US" sz="750" dirty="0"/>
          </a:p>
        </p:txBody>
      </p:sp>
      <p:sp>
        <p:nvSpPr>
          <p:cNvPr id="20" name="Text 14"/>
          <p:cNvSpPr/>
          <p:nvPr/>
        </p:nvSpPr>
        <p:spPr>
          <a:xfrm>
            <a:off x="4389120" y="6016752"/>
            <a:ext cx="7132320" cy="274320"/>
          </a:xfrm>
          <a:prstGeom prst="rect">
            <a:avLst/>
          </a:prstGeom>
          <a:noFill/>
          <a:ln/>
        </p:spPr>
        <p:txBody>
          <a:bodyPr wrap="square" lIns="0" tIns="0" rIns="0" bIns="0" rtlCol="0" anchor="ctr"/>
          <a:lstStyle/>
          <a:p>
            <a:pPr marL="0" indent="0" algn="ctr">
              <a:buNone/>
            </a:pPr>
            <a:r>
              <a:rPr lang="en-US" sz="1100" dirty="0">
                <a:solidFill>
                  <a:srgbClr val="8DB58F"/>
                </a:solidFill>
                <a:latin typeface="Calibri" pitchFamily="34" charset="0"/>
                <a:ea typeface="Calibri" pitchFamily="34" charset="-122"/>
                <a:cs typeface="Calibri" pitchFamily="34" charset="-120"/>
              </a:rPr>
              <a:t>Intern: Zaid Khan</a:t>
            </a:r>
            <a:endParaRPr lang="en-US" sz="1100" dirty="0"/>
          </a:p>
        </p:txBody>
      </p:sp>
      <p:sp>
        <p:nvSpPr>
          <p:cNvPr id="21" name="Shape 15"/>
          <p:cNvSpPr/>
          <p:nvPr/>
        </p:nvSpPr>
        <p:spPr>
          <a:xfrm>
            <a:off x="0" y="6675120"/>
            <a:ext cx="12161520" cy="182880"/>
          </a:xfrm>
          <a:prstGeom prst="rect">
            <a:avLst/>
          </a:prstGeom>
          <a:solidFill>
            <a:srgbClr val="050E06"/>
          </a:solidFill>
          <a:ln w="12700">
            <a:solidFill>
              <a:srgbClr val="050E06"/>
            </a:solidFill>
            <a:prstDash val="solid"/>
          </a:ln>
        </p:spPr>
      </p:sp>
      <p:sp>
        <p:nvSpPr>
          <p:cNvPr id="22" name="Text 16"/>
          <p:cNvSpPr/>
          <p:nvPr/>
        </p:nvSpPr>
        <p:spPr>
          <a:xfrm>
            <a:off x="0" y="6675120"/>
            <a:ext cx="12161520" cy="182880"/>
          </a:xfrm>
          <a:prstGeom prst="rect">
            <a:avLst/>
          </a:prstGeom>
          <a:noFill/>
          <a:ln/>
        </p:spPr>
        <p:txBody>
          <a:bodyPr wrap="square" lIns="0" tIns="0" rIns="0" bIns="0" rtlCol="0" anchor="ctr"/>
          <a:lstStyle/>
          <a:p>
            <a:pPr marL="0" indent="0" algn="ctr">
              <a:buNone/>
            </a:pPr>
            <a:r>
              <a:rPr lang="en-US" sz="650" dirty="0">
                <a:solidFill>
                  <a:srgbClr val="6BBFB5"/>
                </a:solidFill>
              </a:rPr>
              <a:t>AKI's Poona College  ·  Campus Sustainability Audit  ·  June 2025  ·  Intern: Zaid Khan</a:t>
            </a:r>
            <a:endParaRPr lang="en-US" sz="6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1E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566160" cy="6858000"/>
          </a:xfrm>
          <a:prstGeom prst="rect">
            <a:avLst/>
          </a:prstGeom>
        </p:spPr>
      </p:pic>
      <p:sp>
        <p:nvSpPr>
          <p:cNvPr id="3" name="Shape 0"/>
          <p:cNvSpPr/>
          <p:nvPr/>
        </p:nvSpPr>
        <p:spPr>
          <a:xfrm>
            <a:off x="0" y="0"/>
            <a:ext cx="3566160" cy="54864"/>
          </a:xfrm>
          <a:prstGeom prst="rect">
            <a:avLst/>
          </a:prstGeom>
          <a:solidFill>
            <a:srgbClr val="C0392B"/>
          </a:solidFill>
          <a:ln w="12700">
            <a:solidFill>
              <a:srgbClr val="C0392B"/>
            </a:solidFill>
            <a:prstDash val="solid"/>
          </a:ln>
        </p:spPr>
      </p:sp>
      <p:sp>
        <p:nvSpPr>
          <p:cNvPr id="4" name="Shape 1"/>
          <p:cNvSpPr/>
          <p:nvPr/>
        </p:nvSpPr>
        <p:spPr>
          <a:xfrm>
            <a:off x="347472" y="292608"/>
            <a:ext cx="1097280" cy="1097280"/>
          </a:xfrm>
          <a:prstGeom prst="ellipse">
            <a:avLst/>
          </a:prstGeom>
          <a:solidFill>
            <a:srgbClr val="C0392B">
              <a:alpha val="85000"/>
            </a:srgbClr>
          </a:solidFill>
          <a:ln w="25400">
            <a:solidFill>
              <a:srgbClr val="C0392B"/>
            </a:solidFill>
            <a:prstDash val="solid"/>
          </a:ln>
        </p:spPr>
      </p:sp>
      <p:pic>
        <p:nvPicPr>
          <p:cNvPr id="5" name="Image 1" descr="preencoded.png"/>
          <p:cNvPicPr>
            <a:picLocks noChangeAspect="1"/>
          </p:cNvPicPr>
          <p:nvPr/>
        </p:nvPicPr>
        <p:blipFill>
          <a:blip r:embed="rId4"/>
          <a:stretch>
            <a:fillRect/>
          </a:stretch>
        </p:blipFill>
        <p:spPr>
          <a:xfrm>
            <a:off x="512064" y="457200"/>
            <a:ext cx="768096" cy="768096"/>
          </a:xfrm>
          <a:prstGeom prst="rect">
            <a:avLst/>
          </a:prstGeom>
        </p:spPr>
      </p:pic>
      <p:sp>
        <p:nvSpPr>
          <p:cNvPr id="6" name="Shape 2"/>
          <p:cNvSpPr/>
          <p:nvPr/>
        </p:nvSpPr>
        <p:spPr>
          <a:xfrm>
            <a:off x="1234440" y="256032"/>
            <a:ext cx="402336" cy="402336"/>
          </a:xfrm>
          <a:prstGeom prst="ellipse">
            <a:avLst/>
          </a:prstGeom>
          <a:solidFill>
            <a:srgbClr val="C0392B"/>
          </a:solidFill>
          <a:ln w="15240">
            <a:solidFill>
              <a:srgbClr val="F4F1EB"/>
            </a:solidFill>
            <a:prstDash val="solid"/>
          </a:ln>
        </p:spPr>
      </p:sp>
      <p:sp>
        <p:nvSpPr>
          <p:cNvPr id="7" name="Text 3"/>
          <p:cNvSpPr/>
          <p:nvPr/>
        </p:nvSpPr>
        <p:spPr>
          <a:xfrm>
            <a:off x="1234440" y="256032"/>
            <a:ext cx="402336" cy="402336"/>
          </a:xfrm>
          <a:prstGeom prst="rect">
            <a:avLst/>
          </a:prstGeom>
          <a:noFill/>
          <a:ln/>
        </p:spPr>
        <p:txBody>
          <a:bodyPr wrap="square" lIns="0" tIns="0" rIns="0" bIns="0" rtlCol="0" anchor="ctr"/>
          <a:lstStyle/>
          <a:p>
            <a:pPr marL="0" indent="0" algn="ctr">
              <a:buNone/>
            </a:pPr>
            <a:r>
              <a:rPr lang="en-US" sz="800" b="1" dirty="0">
                <a:solidFill>
                  <a:srgbClr val="FFFFFF"/>
                </a:solidFill>
              </a:rPr>
              <a:t>01</a:t>
            </a:r>
            <a:endParaRPr lang="en-US" sz="800" dirty="0"/>
          </a:p>
        </p:txBody>
      </p:sp>
      <p:sp>
        <p:nvSpPr>
          <p:cNvPr id="8" name="Text 4"/>
          <p:cNvSpPr/>
          <p:nvPr/>
        </p:nvSpPr>
        <p:spPr>
          <a:xfrm>
            <a:off x="201168" y="1536192"/>
            <a:ext cx="3145536" cy="1481328"/>
          </a:xfrm>
          <a:prstGeom prst="rect">
            <a:avLst/>
          </a:prstGeom>
          <a:noFill/>
          <a:ln/>
        </p:spPr>
        <p:txBody>
          <a:bodyPr wrap="square" lIns="0" tIns="0" rIns="0" bIns="0"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Poor Washroom Hygiene &amp; Maintenance</a:t>
            </a:r>
            <a:endParaRPr lang="en-US" sz="1700" dirty="0"/>
          </a:p>
        </p:txBody>
      </p:sp>
      <p:sp>
        <p:nvSpPr>
          <p:cNvPr id="9" name="Shape 5"/>
          <p:cNvSpPr/>
          <p:nvPr/>
        </p:nvSpPr>
        <p:spPr>
          <a:xfrm>
            <a:off x="201168" y="3108960"/>
            <a:ext cx="2962656" cy="0"/>
          </a:xfrm>
          <a:prstGeom prst="line">
            <a:avLst/>
          </a:prstGeom>
          <a:noFill/>
          <a:ln w="8890">
            <a:solidFill>
              <a:srgbClr val="6BBFB5"/>
            </a:solidFill>
            <a:prstDash val="solid"/>
          </a:ln>
        </p:spPr>
      </p:sp>
      <p:sp>
        <p:nvSpPr>
          <p:cNvPr id="10" name="Text 6"/>
          <p:cNvSpPr/>
          <p:nvPr/>
        </p:nvSpPr>
        <p:spPr>
          <a:xfrm>
            <a:off x="201168" y="3218688"/>
            <a:ext cx="3017520" cy="182880"/>
          </a:xfrm>
          <a:prstGeom prst="rect">
            <a:avLst/>
          </a:prstGeom>
          <a:noFill/>
          <a:ln/>
        </p:spPr>
        <p:txBody>
          <a:bodyPr wrap="square" lIns="0" tIns="0" rIns="0" bIns="0" rtlCol="0" anchor="ctr"/>
          <a:lstStyle/>
          <a:p>
            <a:pPr marL="0" indent="0">
              <a:buNone/>
            </a:pPr>
            <a:r>
              <a:rPr lang="en-US" sz="650" b="1" kern="0" spc="150" dirty="0">
                <a:solidFill>
                  <a:srgbClr val="6BBFB5"/>
                </a:solidFill>
              </a:rPr>
              <a:t>SUSTAINABILITY PILLARS</a:t>
            </a:r>
            <a:endParaRPr lang="en-US" sz="650" dirty="0"/>
          </a:p>
        </p:txBody>
      </p:sp>
      <p:sp>
        <p:nvSpPr>
          <p:cNvPr id="11" name="Shape 7"/>
          <p:cNvSpPr/>
          <p:nvPr/>
        </p:nvSpPr>
        <p:spPr>
          <a:xfrm>
            <a:off x="201168" y="3474720"/>
            <a:ext cx="3035808" cy="365760"/>
          </a:xfrm>
          <a:prstGeom prst="roundRect">
            <a:avLst>
              <a:gd name="adj" fmla="val 15000"/>
            </a:avLst>
          </a:prstGeom>
          <a:solidFill>
            <a:srgbClr val="1B5E20">
              <a:alpha val="78000"/>
            </a:srgbClr>
          </a:solidFill>
          <a:ln w="6350">
            <a:solidFill>
              <a:srgbClr val="1B5E20"/>
            </a:solidFill>
            <a:prstDash val="solid"/>
          </a:ln>
        </p:spPr>
      </p:sp>
      <p:pic>
        <p:nvPicPr>
          <p:cNvPr id="12" name="Image 2" descr="preencoded.png"/>
          <p:cNvPicPr>
            <a:picLocks noChangeAspect="1"/>
          </p:cNvPicPr>
          <p:nvPr/>
        </p:nvPicPr>
        <p:blipFill>
          <a:blip r:embed="rId5"/>
          <a:stretch>
            <a:fillRect/>
          </a:stretch>
        </p:blipFill>
        <p:spPr>
          <a:xfrm>
            <a:off x="347472" y="3557016"/>
            <a:ext cx="201168" cy="201168"/>
          </a:xfrm>
          <a:prstGeom prst="rect">
            <a:avLst/>
          </a:prstGeom>
        </p:spPr>
      </p:pic>
      <p:sp>
        <p:nvSpPr>
          <p:cNvPr id="13" name="Text 8"/>
          <p:cNvSpPr/>
          <p:nvPr/>
        </p:nvSpPr>
        <p:spPr>
          <a:xfrm>
            <a:off x="640080" y="3529584"/>
            <a:ext cx="2468880" cy="256032"/>
          </a:xfrm>
          <a:prstGeom prst="rect">
            <a:avLst/>
          </a:prstGeom>
          <a:noFill/>
          <a:ln/>
        </p:spPr>
        <p:txBody>
          <a:bodyPr wrap="square" lIns="0" tIns="0" rIns="0" bIns="0" rtlCol="0" anchor="ctr"/>
          <a:lstStyle/>
          <a:p>
            <a:pPr marL="0" indent="0">
              <a:buNone/>
            </a:pPr>
            <a:r>
              <a:rPr lang="en-US" sz="900" b="1" dirty="0">
                <a:solidFill>
                  <a:srgbClr val="FFFFFF"/>
                </a:solidFill>
              </a:rPr>
              <a:t>Environmental</a:t>
            </a:r>
            <a:endParaRPr lang="en-US" sz="900" dirty="0"/>
          </a:p>
        </p:txBody>
      </p:sp>
      <p:sp>
        <p:nvSpPr>
          <p:cNvPr id="14" name="Shape 9"/>
          <p:cNvSpPr/>
          <p:nvPr/>
        </p:nvSpPr>
        <p:spPr>
          <a:xfrm>
            <a:off x="201168" y="3950208"/>
            <a:ext cx="3035808" cy="365760"/>
          </a:xfrm>
          <a:prstGeom prst="roundRect">
            <a:avLst>
              <a:gd name="adj" fmla="val 15000"/>
            </a:avLst>
          </a:prstGeom>
          <a:solidFill>
            <a:srgbClr val="1565C0">
              <a:alpha val="78000"/>
            </a:srgbClr>
          </a:solidFill>
          <a:ln w="6350">
            <a:solidFill>
              <a:srgbClr val="1565C0"/>
            </a:solidFill>
            <a:prstDash val="solid"/>
          </a:ln>
        </p:spPr>
      </p:sp>
      <p:pic>
        <p:nvPicPr>
          <p:cNvPr id="15" name="Image 3" descr="preencoded.png"/>
          <p:cNvPicPr>
            <a:picLocks noChangeAspect="1"/>
          </p:cNvPicPr>
          <p:nvPr/>
        </p:nvPicPr>
        <p:blipFill>
          <a:blip r:embed="rId6"/>
          <a:stretch>
            <a:fillRect/>
          </a:stretch>
        </p:blipFill>
        <p:spPr>
          <a:xfrm>
            <a:off x="347472" y="4032504"/>
            <a:ext cx="201168" cy="201168"/>
          </a:xfrm>
          <a:prstGeom prst="rect">
            <a:avLst/>
          </a:prstGeom>
        </p:spPr>
      </p:pic>
      <p:sp>
        <p:nvSpPr>
          <p:cNvPr id="16" name="Text 10"/>
          <p:cNvSpPr/>
          <p:nvPr/>
        </p:nvSpPr>
        <p:spPr>
          <a:xfrm>
            <a:off x="640080" y="4005072"/>
            <a:ext cx="2468880" cy="256032"/>
          </a:xfrm>
          <a:prstGeom prst="rect">
            <a:avLst/>
          </a:prstGeom>
          <a:noFill/>
          <a:ln/>
        </p:spPr>
        <p:txBody>
          <a:bodyPr wrap="square" lIns="0" tIns="0" rIns="0" bIns="0" rtlCol="0" anchor="ctr"/>
          <a:lstStyle/>
          <a:p>
            <a:pPr marL="0" indent="0">
              <a:buNone/>
            </a:pPr>
            <a:r>
              <a:rPr lang="en-US" sz="900" b="1" dirty="0">
                <a:solidFill>
                  <a:srgbClr val="FFFFFF"/>
                </a:solidFill>
              </a:rPr>
              <a:t>Social</a:t>
            </a:r>
            <a:endParaRPr lang="en-US" sz="900" dirty="0"/>
          </a:p>
        </p:txBody>
      </p:sp>
      <p:sp>
        <p:nvSpPr>
          <p:cNvPr id="17" name="Shape 11"/>
          <p:cNvSpPr/>
          <p:nvPr/>
        </p:nvSpPr>
        <p:spPr>
          <a:xfrm>
            <a:off x="201168" y="4425696"/>
            <a:ext cx="3035808" cy="365760"/>
          </a:xfrm>
          <a:prstGeom prst="roundRect">
            <a:avLst>
              <a:gd name="adj" fmla="val 15000"/>
            </a:avLst>
          </a:prstGeom>
          <a:solidFill>
            <a:srgbClr val="78350F">
              <a:alpha val="78000"/>
            </a:srgbClr>
          </a:solidFill>
          <a:ln w="6350">
            <a:solidFill>
              <a:srgbClr val="78350F"/>
            </a:solidFill>
            <a:prstDash val="solid"/>
          </a:ln>
        </p:spPr>
      </p:sp>
      <p:pic>
        <p:nvPicPr>
          <p:cNvPr id="18" name="Image 4" descr="preencoded.png"/>
          <p:cNvPicPr>
            <a:picLocks noChangeAspect="1"/>
          </p:cNvPicPr>
          <p:nvPr/>
        </p:nvPicPr>
        <p:blipFill>
          <a:blip r:embed="rId7"/>
          <a:stretch>
            <a:fillRect/>
          </a:stretch>
        </p:blipFill>
        <p:spPr>
          <a:xfrm>
            <a:off x="347472" y="4507992"/>
            <a:ext cx="201168" cy="201168"/>
          </a:xfrm>
          <a:prstGeom prst="rect">
            <a:avLst/>
          </a:prstGeom>
        </p:spPr>
      </p:pic>
      <p:sp>
        <p:nvSpPr>
          <p:cNvPr id="19" name="Text 12"/>
          <p:cNvSpPr/>
          <p:nvPr/>
        </p:nvSpPr>
        <p:spPr>
          <a:xfrm>
            <a:off x="640080" y="4480560"/>
            <a:ext cx="2468880" cy="256032"/>
          </a:xfrm>
          <a:prstGeom prst="rect">
            <a:avLst/>
          </a:prstGeom>
          <a:noFill/>
          <a:ln/>
        </p:spPr>
        <p:txBody>
          <a:bodyPr wrap="square" lIns="0" tIns="0" rIns="0" bIns="0" rtlCol="0" anchor="ctr"/>
          <a:lstStyle/>
          <a:p>
            <a:pPr marL="0" indent="0">
              <a:buNone/>
            </a:pPr>
            <a:r>
              <a:rPr lang="en-US" sz="900" b="1" dirty="0">
                <a:solidFill>
                  <a:srgbClr val="FFFFFF"/>
                </a:solidFill>
              </a:rPr>
              <a:t>Economic</a:t>
            </a:r>
            <a:endParaRPr lang="en-US" sz="900" dirty="0"/>
          </a:p>
        </p:txBody>
      </p:sp>
      <p:sp>
        <p:nvSpPr>
          <p:cNvPr id="20" name="Text 13"/>
          <p:cNvSpPr/>
          <p:nvPr/>
        </p:nvSpPr>
        <p:spPr>
          <a:xfrm>
            <a:off x="201168" y="6455664"/>
            <a:ext cx="3035808" cy="201168"/>
          </a:xfrm>
          <a:prstGeom prst="rect">
            <a:avLst/>
          </a:prstGeom>
          <a:noFill/>
          <a:ln/>
        </p:spPr>
        <p:txBody>
          <a:bodyPr wrap="square" lIns="0" tIns="0" rIns="0" bIns="0" rtlCol="0" anchor="ctr"/>
          <a:lstStyle/>
          <a:p>
            <a:pPr marL="0" indent="0" algn="ctr">
              <a:buNone/>
            </a:pPr>
            <a:r>
              <a:rPr lang="en-US" sz="800" dirty="0">
                <a:solidFill>
                  <a:srgbClr val="6BBFB5"/>
                </a:solidFill>
              </a:rPr>
              <a:t>1 of 5</a:t>
            </a:r>
            <a:endParaRPr lang="en-US" sz="800" dirty="0"/>
          </a:p>
        </p:txBody>
      </p:sp>
      <p:sp>
        <p:nvSpPr>
          <p:cNvPr id="21" name="Text 14"/>
          <p:cNvSpPr/>
          <p:nvPr/>
        </p:nvSpPr>
        <p:spPr>
          <a:xfrm>
            <a:off x="3840480" y="182880"/>
            <a:ext cx="8119872" cy="182880"/>
          </a:xfrm>
          <a:prstGeom prst="rect">
            <a:avLst/>
          </a:prstGeom>
          <a:noFill/>
          <a:ln/>
        </p:spPr>
        <p:txBody>
          <a:bodyPr wrap="square" lIns="0" tIns="0" rIns="0" bIns="0" rtlCol="0" anchor="ctr"/>
          <a:lstStyle/>
          <a:p>
            <a:pPr marL="0" indent="0">
              <a:buNone/>
            </a:pPr>
            <a:r>
              <a:rPr lang="en-US" sz="750" dirty="0">
                <a:solidFill>
                  <a:srgbClr val="5A6E5B"/>
                </a:solidFill>
              </a:rPr>
              <a:t>Campus Sustainability Audit  /  AKI's Poona College</a:t>
            </a:r>
            <a:endParaRPr lang="en-US" sz="750" dirty="0"/>
          </a:p>
        </p:txBody>
      </p:sp>
      <p:sp>
        <p:nvSpPr>
          <p:cNvPr id="22" name="Shape 15"/>
          <p:cNvSpPr/>
          <p:nvPr/>
        </p:nvSpPr>
        <p:spPr>
          <a:xfrm>
            <a:off x="3840480" y="402336"/>
            <a:ext cx="8119872" cy="0"/>
          </a:xfrm>
          <a:prstGeom prst="line">
            <a:avLst/>
          </a:prstGeom>
          <a:noFill/>
          <a:ln w="8890">
            <a:solidFill>
              <a:srgbClr val="D5CFC4"/>
            </a:solidFill>
            <a:prstDash val="solid"/>
          </a:ln>
        </p:spPr>
      </p:sp>
      <p:pic>
        <p:nvPicPr>
          <p:cNvPr id="23" name="Image 5" descr="preencoded.png"/>
          <p:cNvPicPr>
            <a:picLocks noChangeAspect="1"/>
          </p:cNvPicPr>
          <p:nvPr/>
        </p:nvPicPr>
        <p:blipFill>
          <a:blip r:embed="rId8"/>
          <a:stretch>
            <a:fillRect/>
          </a:stretch>
        </p:blipFill>
        <p:spPr>
          <a:xfrm>
            <a:off x="3840480" y="521208"/>
            <a:ext cx="201168" cy="201168"/>
          </a:xfrm>
          <a:prstGeom prst="rect">
            <a:avLst/>
          </a:prstGeom>
        </p:spPr>
      </p:pic>
      <p:sp>
        <p:nvSpPr>
          <p:cNvPr id="24" name="Text 16"/>
          <p:cNvSpPr/>
          <p:nvPr/>
        </p:nvSpPr>
        <p:spPr>
          <a:xfrm>
            <a:off x="4114800" y="521208"/>
            <a:ext cx="914400" cy="201168"/>
          </a:xfrm>
          <a:prstGeom prst="rect">
            <a:avLst/>
          </a:prstGeom>
          <a:noFill/>
          <a:ln/>
        </p:spPr>
        <p:txBody>
          <a:bodyPr wrap="square" lIns="0" tIns="0" rIns="0" bIns="0" rtlCol="0" anchor="ctr"/>
          <a:lstStyle/>
          <a:p>
            <a:pPr marL="0" indent="0">
              <a:buNone/>
            </a:pPr>
            <a:r>
              <a:rPr lang="en-US" sz="850" b="1" dirty="0">
                <a:solidFill>
                  <a:srgbClr val="2E3D2F"/>
                </a:solidFill>
              </a:rPr>
              <a:t>Location:</a:t>
            </a:r>
            <a:endParaRPr lang="en-US" sz="850" dirty="0"/>
          </a:p>
        </p:txBody>
      </p:sp>
      <p:sp>
        <p:nvSpPr>
          <p:cNvPr id="25" name="Text 17"/>
          <p:cNvSpPr/>
          <p:nvPr/>
        </p:nvSpPr>
        <p:spPr>
          <a:xfrm>
            <a:off x="5029200" y="521208"/>
            <a:ext cx="6912864" cy="201168"/>
          </a:xfrm>
          <a:prstGeom prst="rect">
            <a:avLst/>
          </a:prstGeom>
          <a:noFill/>
          <a:ln/>
        </p:spPr>
        <p:txBody>
          <a:bodyPr wrap="square" lIns="0" tIns="0" rIns="0" bIns="0" rtlCol="0" anchor="ctr"/>
          <a:lstStyle/>
          <a:p>
            <a:pPr marL="0" indent="0">
              <a:buNone/>
            </a:pPr>
            <a:r>
              <a:rPr lang="en-US" sz="850" dirty="0">
                <a:solidFill>
                  <a:srgbClr val="5A6E5B"/>
                </a:solidFill>
              </a:rPr>
              <a:t>Ground Floor Washrooms, Main Building</a:t>
            </a:r>
            <a:endParaRPr lang="en-US" sz="850" dirty="0"/>
          </a:p>
        </p:txBody>
      </p:sp>
      <p:pic>
        <p:nvPicPr>
          <p:cNvPr id="26" name="Image 6" descr="preencoded.png"/>
          <p:cNvPicPr>
            <a:picLocks noChangeAspect="1"/>
          </p:cNvPicPr>
          <p:nvPr/>
        </p:nvPicPr>
        <p:blipFill>
          <a:blip r:embed="rId9"/>
          <a:stretch>
            <a:fillRect/>
          </a:stretch>
        </p:blipFill>
        <p:spPr>
          <a:xfrm>
            <a:off x="3840480" y="777240"/>
            <a:ext cx="201168" cy="201168"/>
          </a:xfrm>
          <a:prstGeom prst="rect">
            <a:avLst/>
          </a:prstGeom>
        </p:spPr>
      </p:pic>
      <p:sp>
        <p:nvSpPr>
          <p:cNvPr id="27" name="Text 18"/>
          <p:cNvSpPr/>
          <p:nvPr/>
        </p:nvSpPr>
        <p:spPr>
          <a:xfrm>
            <a:off x="4114800" y="777240"/>
            <a:ext cx="914400" cy="201168"/>
          </a:xfrm>
          <a:prstGeom prst="rect">
            <a:avLst/>
          </a:prstGeom>
          <a:noFill/>
          <a:ln/>
        </p:spPr>
        <p:txBody>
          <a:bodyPr wrap="square" lIns="0" tIns="0" rIns="0" bIns="0" rtlCol="0" anchor="ctr"/>
          <a:lstStyle/>
          <a:p>
            <a:pPr marL="0" indent="0">
              <a:buNone/>
            </a:pPr>
            <a:r>
              <a:rPr lang="en-US" sz="850" b="1" dirty="0">
                <a:solidFill>
                  <a:srgbClr val="2E3D2F"/>
                </a:solidFill>
              </a:rPr>
              <a:t>Observed:</a:t>
            </a:r>
            <a:endParaRPr lang="en-US" sz="850" dirty="0"/>
          </a:p>
        </p:txBody>
      </p:sp>
      <p:sp>
        <p:nvSpPr>
          <p:cNvPr id="28" name="Text 19"/>
          <p:cNvSpPr/>
          <p:nvPr/>
        </p:nvSpPr>
        <p:spPr>
          <a:xfrm>
            <a:off x="5029200" y="777240"/>
            <a:ext cx="6912864" cy="201168"/>
          </a:xfrm>
          <a:prstGeom prst="rect">
            <a:avLst/>
          </a:prstGeom>
          <a:noFill/>
          <a:ln/>
        </p:spPr>
        <p:txBody>
          <a:bodyPr wrap="square" lIns="0" tIns="0" rIns="0" bIns="0" rtlCol="0" anchor="ctr"/>
          <a:lstStyle/>
          <a:p>
            <a:pPr marL="0" indent="0">
              <a:buNone/>
            </a:pPr>
            <a:r>
              <a:rPr lang="en-US" sz="850" i="1" dirty="0">
                <a:solidFill>
                  <a:srgbClr val="5A6E5B"/>
                </a:solidFill>
              </a:rPr>
              <a:t>June 7, 2026 — 11:30 AM</a:t>
            </a:r>
            <a:endParaRPr lang="en-US" sz="850" dirty="0"/>
          </a:p>
        </p:txBody>
      </p:sp>
      <p:sp>
        <p:nvSpPr>
          <p:cNvPr id="29" name="Shape 20"/>
          <p:cNvSpPr/>
          <p:nvPr/>
        </p:nvSpPr>
        <p:spPr>
          <a:xfrm>
            <a:off x="3840480" y="1078992"/>
            <a:ext cx="8119872" cy="2286000"/>
          </a:xfrm>
          <a:prstGeom prst="roundRect">
            <a:avLst>
              <a:gd name="adj" fmla="val 3200"/>
            </a:avLst>
          </a:prstGeom>
          <a:solidFill>
            <a:srgbClr val="FFFFFF"/>
          </a:solidFill>
          <a:ln w="7620">
            <a:solidFill>
              <a:srgbClr val="DDD8CE"/>
            </a:solidFill>
            <a:prstDash val="solid"/>
          </a:ln>
          <a:effectLst>
            <a:outerShdw blurRad="101600" dist="38100" dir="8100000" algn="bl" rotWithShape="0">
              <a:srgbClr val="000000">
                <a:alpha val="15000"/>
              </a:srgbClr>
            </a:outerShdw>
          </a:effectLst>
        </p:spPr>
      </p:sp>
      <p:sp>
        <p:nvSpPr>
          <p:cNvPr id="30" name="Shape 21"/>
          <p:cNvSpPr/>
          <p:nvPr/>
        </p:nvSpPr>
        <p:spPr>
          <a:xfrm>
            <a:off x="3840480" y="1078992"/>
            <a:ext cx="59436" cy="2286000"/>
          </a:xfrm>
          <a:prstGeom prst="rect">
            <a:avLst/>
          </a:prstGeom>
          <a:solidFill>
            <a:srgbClr val="C0392B"/>
          </a:solidFill>
          <a:ln w="12700">
            <a:solidFill>
              <a:srgbClr val="C0392B"/>
            </a:solidFill>
            <a:prstDash val="solid"/>
          </a:ln>
        </p:spPr>
      </p:sp>
      <p:pic>
        <p:nvPicPr>
          <p:cNvPr id="31" name="Image 7" descr="preencoded.png"/>
          <p:cNvPicPr>
            <a:picLocks noChangeAspect="1"/>
          </p:cNvPicPr>
          <p:nvPr/>
        </p:nvPicPr>
        <p:blipFill>
          <a:blip r:embed="rId10"/>
          <a:stretch>
            <a:fillRect/>
          </a:stretch>
        </p:blipFill>
        <p:spPr>
          <a:xfrm>
            <a:off x="4041648" y="1170432"/>
            <a:ext cx="201168" cy="201168"/>
          </a:xfrm>
          <a:prstGeom prst="rect">
            <a:avLst/>
          </a:prstGeom>
        </p:spPr>
      </p:pic>
      <p:sp>
        <p:nvSpPr>
          <p:cNvPr id="32" name="Text 22"/>
          <p:cNvSpPr/>
          <p:nvPr/>
        </p:nvSpPr>
        <p:spPr>
          <a:xfrm>
            <a:off x="4315968" y="1152144"/>
            <a:ext cx="7571232" cy="256032"/>
          </a:xfrm>
          <a:prstGeom prst="rect">
            <a:avLst/>
          </a:prstGeom>
          <a:noFill/>
          <a:ln/>
        </p:spPr>
        <p:txBody>
          <a:bodyPr wrap="square" lIns="0" tIns="0" rIns="0" bIns="0" rtlCol="0" anchor="ctr"/>
          <a:lstStyle/>
          <a:p>
            <a:pPr marL="0" indent="0">
              <a:buNone/>
            </a:pPr>
            <a:r>
              <a:rPr lang="en-US" sz="1100" b="1" dirty="0">
                <a:solidFill>
                  <a:srgbClr val="2E3D2F"/>
                </a:solidFill>
                <a:latin typeface="Georgia" pitchFamily="34" charset="0"/>
                <a:ea typeface="Georgia" pitchFamily="34" charset="-122"/>
                <a:cs typeface="Georgia" pitchFamily="34" charset="-120"/>
              </a:rPr>
              <a:t>Observation Note</a:t>
            </a:r>
            <a:endParaRPr lang="en-US" sz="1100" dirty="0"/>
          </a:p>
        </p:txBody>
      </p:sp>
      <p:sp>
        <p:nvSpPr>
          <p:cNvPr id="33" name="Text 23"/>
          <p:cNvSpPr/>
          <p:nvPr/>
        </p:nvSpPr>
        <p:spPr>
          <a:xfrm>
            <a:off x="4041648" y="1444752"/>
            <a:ext cx="7845552" cy="1847088"/>
          </a:xfrm>
          <a:prstGeom prst="rect">
            <a:avLst/>
          </a:prstGeom>
          <a:noFill/>
          <a:ln/>
        </p:spPr>
        <p:txBody>
          <a:bodyPr wrap="square" lIns="0" tIns="0" rIns="0" bIns="0" rtlCol="0" anchor="ctr"/>
          <a:lstStyle/>
          <a:p>
            <a:pPr marL="0" indent="0">
              <a:buNone/>
            </a:pPr>
            <a:r>
              <a:rPr lang="en-US" sz="950" dirty="0">
                <a:solidFill>
                  <a:srgbClr val="5A6E5B"/>
                </a:solidFill>
              </a:rPr>
              <a:t>Washrooms on the ground floor were found in poor condition during a walkthrough. Walls displayed visible mold growth, and floors were wet and slippery with no non-slip mats or adequate drainage. A strong, unpleasant odor was present throughout. No waste bins were available inside the cubicles. Cleaning schedules or maintenance notices were entirely absent. Soap dispensers were empty and not restocked.</a:t>
            </a:r>
            <a:endParaRPr lang="en-US" sz="950" dirty="0"/>
          </a:p>
        </p:txBody>
      </p:sp>
      <p:sp>
        <p:nvSpPr>
          <p:cNvPr id="34" name="Shape 24"/>
          <p:cNvSpPr/>
          <p:nvPr/>
        </p:nvSpPr>
        <p:spPr>
          <a:xfrm>
            <a:off x="3840480" y="3474720"/>
            <a:ext cx="8119872" cy="0"/>
          </a:xfrm>
          <a:prstGeom prst="line">
            <a:avLst/>
          </a:prstGeom>
          <a:noFill/>
          <a:ln w="8890">
            <a:solidFill>
              <a:srgbClr val="DDD8CE"/>
            </a:solidFill>
            <a:prstDash val="solid"/>
          </a:ln>
        </p:spPr>
      </p:sp>
      <p:pic>
        <p:nvPicPr>
          <p:cNvPr id="35" name="Image 8" descr="preencoded.png"/>
          <p:cNvPicPr>
            <a:picLocks noChangeAspect="1"/>
          </p:cNvPicPr>
          <p:nvPr/>
        </p:nvPicPr>
        <p:blipFill>
          <a:blip r:embed="rId11"/>
          <a:stretch>
            <a:fillRect/>
          </a:stretch>
        </p:blipFill>
        <p:spPr>
          <a:xfrm>
            <a:off x="3840480" y="3584448"/>
            <a:ext cx="201168" cy="201168"/>
          </a:xfrm>
          <a:prstGeom prst="rect">
            <a:avLst/>
          </a:prstGeom>
        </p:spPr>
      </p:pic>
      <p:sp>
        <p:nvSpPr>
          <p:cNvPr id="36" name="Text 25"/>
          <p:cNvSpPr/>
          <p:nvPr/>
        </p:nvSpPr>
        <p:spPr>
          <a:xfrm>
            <a:off x="4114800" y="3584448"/>
            <a:ext cx="1508760" cy="201168"/>
          </a:xfrm>
          <a:prstGeom prst="rect">
            <a:avLst/>
          </a:prstGeom>
          <a:noFill/>
          <a:ln/>
        </p:spPr>
        <p:txBody>
          <a:bodyPr wrap="square" lIns="0" tIns="0" rIns="0" bIns="0" rtlCol="0" anchor="ctr"/>
          <a:lstStyle/>
          <a:p>
            <a:pPr marL="0" indent="0">
              <a:buNone/>
            </a:pPr>
            <a:r>
              <a:rPr lang="en-US" sz="850" b="1" dirty="0">
                <a:solidFill>
                  <a:srgbClr val="2E3D2F"/>
                </a:solidFill>
              </a:rPr>
              <a:t>Who is Affected:</a:t>
            </a:r>
            <a:endParaRPr lang="en-US" sz="850" dirty="0"/>
          </a:p>
        </p:txBody>
      </p:sp>
      <p:sp>
        <p:nvSpPr>
          <p:cNvPr id="37" name="Text 26"/>
          <p:cNvSpPr/>
          <p:nvPr/>
        </p:nvSpPr>
        <p:spPr>
          <a:xfrm>
            <a:off x="5623560" y="3584448"/>
            <a:ext cx="6318504" cy="201168"/>
          </a:xfrm>
          <a:prstGeom prst="rect">
            <a:avLst/>
          </a:prstGeom>
          <a:noFill/>
          <a:ln/>
        </p:spPr>
        <p:txBody>
          <a:bodyPr wrap="square" lIns="0" tIns="0" rIns="0" bIns="0" rtlCol="0" anchor="ctr"/>
          <a:lstStyle/>
          <a:p>
            <a:pPr marL="0" indent="0">
              <a:buNone/>
            </a:pPr>
            <a:r>
              <a:rPr lang="en-US" sz="850" dirty="0">
                <a:solidFill>
                  <a:srgbClr val="5A6E5B"/>
                </a:solidFill>
              </a:rPr>
              <a:t>Students, faculty, staff, and visitors accessing the ground floor facilities.</a:t>
            </a:r>
            <a:endParaRPr lang="en-US" sz="850" dirty="0"/>
          </a:p>
        </p:txBody>
      </p:sp>
      <p:sp>
        <p:nvSpPr>
          <p:cNvPr id="38" name="Shape 27"/>
          <p:cNvSpPr/>
          <p:nvPr/>
        </p:nvSpPr>
        <p:spPr>
          <a:xfrm>
            <a:off x="3840480" y="3886200"/>
            <a:ext cx="8119872" cy="2651760"/>
          </a:xfrm>
          <a:prstGeom prst="roundRect">
            <a:avLst>
              <a:gd name="adj" fmla="val 3103"/>
            </a:avLst>
          </a:prstGeom>
          <a:solidFill>
            <a:srgbClr val="1A3A1F"/>
          </a:solidFill>
          <a:ln w="10160">
            <a:solidFill>
              <a:srgbClr val="C0392B"/>
            </a:solidFill>
            <a:prstDash val="solid"/>
          </a:ln>
          <a:effectLst>
            <a:outerShdw blurRad="101600" dist="38100" dir="8100000" algn="bl" rotWithShape="0">
              <a:srgbClr val="000000">
                <a:alpha val="15000"/>
              </a:srgbClr>
            </a:outerShdw>
          </a:effectLst>
        </p:spPr>
      </p:sp>
      <p:pic>
        <p:nvPicPr>
          <p:cNvPr id="39" name="Image 9" descr="preencoded.png"/>
          <p:cNvPicPr>
            <a:picLocks noChangeAspect="1"/>
          </p:cNvPicPr>
          <p:nvPr/>
        </p:nvPicPr>
        <p:blipFill>
          <a:blip r:embed="rId10">
            <a:alphaModFix amt="22000"/>
          </a:blip>
          <a:stretch>
            <a:fillRect/>
          </a:stretch>
        </p:blipFill>
        <p:spPr>
          <a:xfrm>
            <a:off x="10497312" y="4005072"/>
            <a:ext cx="1280160" cy="1280160"/>
          </a:xfrm>
          <a:prstGeom prst="rect">
            <a:avLst/>
          </a:prstGeom>
        </p:spPr>
      </p:pic>
      <p:sp>
        <p:nvSpPr>
          <p:cNvPr id="40" name="Shape 28"/>
          <p:cNvSpPr/>
          <p:nvPr/>
        </p:nvSpPr>
        <p:spPr>
          <a:xfrm>
            <a:off x="4041648" y="4078224"/>
            <a:ext cx="1755648" cy="329184"/>
          </a:xfrm>
          <a:prstGeom prst="roundRect">
            <a:avLst>
              <a:gd name="adj" fmla="val 16667"/>
            </a:avLst>
          </a:prstGeom>
          <a:solidFill>
            <a:srgbClr val="C0392B"/>
          </a:solidFill>
          <a:ln w="12700">
            <a:solidFill>
              <a:srgbClr val="C0392B"/>
            </a:solidFill>
            <a:prstDash val="solid"/>
          </a:ln>
        </p:spPr>
      </p:sp>
      <p:sp>
        <p:nvSpPr>
          <p:cNvPr id="41" name="Text 29"/>
          <p:cNvSpPr/>
          <p:nvPr/>
        </p:nvSpPr>
        <p:spPr>
          <a:xfrm>
            <a:off x="4041648" y="4078224"/>
            <a:ext cx="1755648" cy="329184"/>
          </a:xfrm>
          <a:prstGeom prst="rect">
            <a:avLst/>
          </a:prstGeom>
          <a:noFill/>
          <a:ln/>
        </p:spPr>
        <p:txBody>
          <a:bodyPr wrap="square" lIns="0" tIns="0" rIns="0" bIns="0" rtlCol="0" anchor="ctr"/>
          <a:lstStyle/>
          <a:p>
            <a:pPr marL="0" indent="0" algn="ctr">
              <a:buNone/>
            </a:pPr>
            <a:r>
              <a:rPr lang="en-US" sz="850" b="1" dirty="0">
                <a:solidFill>
                  <a:srgbClr val="FFFFFF"/>
                </a:solidFill>
              </a:rPr>
              <a:t>IMPACT: HIGH</a:t>
            </a:r>
            <a:endParaRPr lang="en-US" sz="850" dirty="0"/>
          </a:p>
        </p:txBody>
      </p:sp>
      <p:sp>
        <p:nvSpPr>
          <p:cNvPr id="42" name="Text 30"/>
          <p:cNvSpPr/>
          <p:nvPr/>
        </p:nvSpPr>
        <p:spPr>
          <a:xfrm>
            <a:off x="5943600" y="4096512"/>
            <a:ext cx="1463040" cy="274320"/>
          </a:xfrm>
          <a:prstGeom prst="rect">
            <a:avLst/>
          </a:prstGeom>
          <a:noFill/>
          <a:ln/>
        </p:spPr>
        <p:txBody>
          <a:bodyPr wrap="square" lIns="0" tIns="0" rIns="0" bIns="0" rtlCol="0" anchor="ctr"/>
          <a:lstStyle/>
          <a:p>
            <a:pPr marL="0" indent="0">
              <a:buNone/>
            </a:pPr>
            <a:r>
              <a:rPr lang="en-US" sz="950" b="1" dirty="0">
                <a:solidFill>
                  <a:srgbClr val="6BBFB5"/>
                </a:solidFill>
              </a:rPr>
              <a:t>Reasoning:</a:t>
            </a:r>
            <a:endParaRPr lang="en-US" sz="950" dirty="0"/>
          </a:p>
        </p:txBody>
      </p:sp>
      <p:sp>
        <p:nvSpPr>
          <p:cNvPr id="43" name="Text 31"/>
          <p:cNvSpPr/>
          <p:nvPr/>
        </p:nvSpPr>
        <p:spPr>
          <a:xfrm>
            <a:off x="4041648" y="4480560"/>
            <a:ext cx="7717536" cy="1920240"/>
          </a:xfrm>
          <a:prstGeom prst="rect">
            <a:avLst/>
          </a:prstGeom>
          <a:noFill/>
          <a:ln/>
        </p:spPr>
        <p:txBody>
          <a:bodyPr wrap="square" lIns="0" tIns="0" rIns="0" bIns="0" rtlCol="0" anchor="ctr"/>
          <a:lstStyle/>
          <a:p>
            <a:pPr marL="0" indent="0">
              <a:buNone/>
            </a:pPr>
            <a:r>
              <a:rPr lang="en-US" sz="950" dirty="0">
                <a:solidFill>
                  <a:srgbClr val="C8E6C9"/>
                </a:solidFill>
              </a:rPr>
              <a:t>Poor washroom hygiene poses direct health risks including exposure to mold and bacteria. It discourages proper sanitation practices and creates an uncomfortable learning environment. Persistent neglect signals institutional disregard for occupant well-being and can deter prospective students and visitors, with downstream reputational and economic consequences.</a:t>
            </a:r>
            <a:endParaRPr lang="en-US" sz="950" dirty="0"/>
          </a:p>
        </p:txBody>
      </p:sp>
      <p:sp>
        <p:nvSpPr>
          <p:cNvPr id="44" name="Shape 32"/>
          <p:cNvSpPr/>
          <p:nvPr/>
        </p:nvSpPr>
        <p:spPr>
          <a:xfrm>
            <a:off x="0" y="6675120"/>
            <a:ext cx="12161520" cy="182880"/>
          </a:xfrm>
          <a:prstGeom prst="rect">
            <a:avLst/>
          </a:prstGeom>
          <a:solidFill>
            <a:srgbClr val="050E06"/>
          </a:solidFill>
          <a:ln w="12700">
            <a:solidFill>
              <a:srgbClr val="050E06"/>
            </a:solidFill>
            <a:prstDash val="solid"/>
          </a:ln>
        </p:spPr>
      </p:sp>
      <p:sp>
        <p:nvSpPr>
          <p:cNvPr id="45" name="Text 33"/>
          <p:cNvSpPr/>
          <p:nvPr/>
        </p:nvSpPr>
        <p:spPr>
          <a:xfrm>
            <a:off x="0" y="6675120"/>
            <a:ext cx="12161520" cy="182880"/>
          </a:xfrm>
          <a:prstGeom prst="rect">
            <a:avLst/>
          </a:prstGeom>
          <a:noFill/>
          <a:ln/>
        </p:spPr>
        <p:txBody>
          <a:bodyPr wrap="square" lIns="0" tIns="0" rIns="0" bIns="0" rtlCol="0" anchor="ctr"/>
          <a:lstStyle/>
          <a:p>
            <a:pPr marL="0" indent="0" algn="ctr">
              <a:buNone/>
            </a:pPr>
            <a:r>
              <a:rPr lang="en-US" sz="650" dirty="0">
                <a:solidFill>
                  <a:srgbClr val="6BBFB5"/>
                </a:solidFill>
              </a:rPr>
              <a:t>AKI's Poona College  ·  Campus Sustainability Audit  ·  June 2025  ·  Intern: Zaid Khan</a:t>
            </a:r>
            <a:endParaRPr lang="en-US" sz="6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1E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566160" cy="6858000"/>
          </a:xfrm>
          <a:prstGeom prst="rect">
            <a:avLst/>
          </a:prstGeom>
        </p:spPr>
      </p:pic>
      <p:sp>
        <p:nvSpPr>
          <p:cNvPr id="3" name="Shape 0"/>
          <p:cNvSpPr/>
          <p:nvPr/>
        </p:nvSpPr>
        <p:spPr>
          <a:xfrm>
            <a:off x="0" y="0"/>
            <a:ext cx="3566160" cy="54864"/>
          </a:xfrm>
          <a:prstGeom prst="rect">
            <a:avLst/>
          </a:prstGeom>
          <a:solidFill>
            <a:srgbClr val="E67E22"/>
          </a:solidFill>
          <a:ln w="12700">
            <a:solidFill>
              <a:srgbClr val="E67E22"/>
            </a:solidFill>
            <a:prstDash val="solid"/>
          </a:ln>
        </p:spPr>
      </p:sp>
      <p:sp>
        <p:nvSpPr>
          <p:cNvPr id="4" name="Shape 1"/>
          <p:cNvSpPr/>
          <p:nvPr/>
        </p:nvSpPr>
        <p:spPr>
          <a:xfrm>
            <a:off x="347472" y="292608"/>
            <a:ext cx="1097280" cy="1097280"/>
          </a:xfrm>
          <a:prstGeom prst="ellipse">
            <a:avLst/>
          </a:prstGeom>
          <a:solidFill>
            <a:srgbClr val="E67E22">
              <a:alpha val="85000"/>
            </a:srgbClr>
          </a:solidFill>
          <a:ln w="25400">
            <a:solidFill>
              <a:srgbClr val="E67E22"/>
            </a:solidFill>
            <a:prstDash val="solid"/>
          </a:ln>
        </p:spPr>
      </p:sp>
      <p:pic>
        <p:nvPicPr>
          <p:cNvPr id="5" name="Image 1" descr="preencoded.png"/>
          <p:cNvPicPr>
            <a:picLocks noChangeAspect="1"/>
          </p:cNvPicPr>
          <p:nvPr/>
        </p:nvPicPr>
        <p:blipFill>
          <a:blip r:embed="rId4"/>
          <a:stretch>
            <a:fillRect/>
          </a:stretch>
        </p:blipFill>
        <p:spPr>
          <a:xfrm>
            <a:off x="512064" y="457200"/>
            <a:ext cx="768096" cy="768096"/>
          </a:xfrm>
          <a:prstGeom prst="rect">
            <a:avLst/>
          </a:prstGeom>
        </p:spPr>
      </p:pic>
      <p:sp>
        <p:nvSpPr>
          <p:cNvPr id="6" name="Shape 2"/>
          <p:cNvSpPr/>
          <p:nvPr/>
        </p:nvSpPr>
        <p:spPr>
          <a:xfrm>
            <a:off x="1234440" y="256032"/>
            <a:ext cx="402336" cy="402336"/>
          </a:xfrm>
          <a:prstGeom prst="ellipse">
            <a:avLst/>
          </a:prstGeom>
          <a:solidFill>
            <a:srgbClr val="E67E22"/>
          </a:solidFill>
          <a:ln w="15240">
            <a:solidFill>
              <a:srgbClr val="F4F1EB"/>
            </a:solidFill>
            <a:prstDash val="solid"/>
          </a:ln>
        </p:spPr>
      </p:sp>
      <p:sp>
        <p:nvSpPr>
          <p:cNvPr id="7" name="Text 3"/>
          <p:cNvSpPr/>
          <p:nvPr/>
        </p:nvSpPr>
        <p:spPr>
          <a:xfrm>
            <a:off x="1234440" y="256032"/>
            <a:ext cx="402336" cy="402336"/>
          </a:xfrm>
          <a:prstGeom prst="rect">
            <a:avLst/>
          </a:prstGeom>
          <a:noFill/>
          <a:ln/>
        </p:spPr>
        <p:txBody>
          <a:bodyPr wrap="square" lIns="0" tIns="0" rIns="0" bIns="0" rtlCol="0" anchor="ctr"/>
          <a:lstStyle/>
          <a:p>
            <a:pPr marL="0" indent="0" algn="ctr">
              <a:buNone/>
            </a:pPr>
            <a:r>
              <a:rPr lang="en-US" sz="800" b="1" dirty="0">
                <a:solidFill>
                  <a:srgbClr val="FFFFFF"/>
                </a:solidFill>
              </a:rPr>
              <a:t>02</a:t>
            </a:r>
            <a:endParaRPr lang="en-US" sz="800" dirty="0"/>
          </a:p>
        </p:txBody>
      </p:sp>
      <p:sp>
        <p:nvSpPr>
          <p:cNvPr id="8" name="Text 4"/>
          <p:cNvSpPr/>
          <p:nvPr/>
        </p:nvSpPr>
        <p:spPr>
          <a:xfrm>
            <a:off x="201168" y="1536192"/>
            <a:ext cx="3145536" cy="1481328"/>
          </a:xfrm>
          <a:prstGeom prst="rect">
            <a:avLst/>
          </a:prstGeom>
          <a:noFill/>
          <a:ln/>
        </p:spPr>
        <p:txBody>
          <a:bodyPr wrap="square" lIns="0" tIns="0" rIns="0" bIns="0"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Lack of Waste Segregation</a:t>
            </a:r>
            <a:endParaRPr lang="en-US" sz="1700" dirty="0"/>
          </a:p>
        </p:txBody>
      </p:sp>
      <p:sp>
        <p:nvSpPr>
          <p:cNvPr id="9" name="Shape 5"/>
          <p:cNvSpPr/>
          <p:nvPr/>
        </p:nvSpPr>
        <p:spPr>
          <a:xfrm>
            <a:off x="201168" y="3108960"/>
            <a:ext cx="2962656" cy="0"/>
          </a:xfrm>
          <a:prstGeom prst="line">
            <a:avLst/>
          </a:prstGeom>
          <a:noFill/>
          <a:ln w="8890">
            <a:solidFill>
              <a:srgbClr val="6BBFB5"/>
            </a:solidFill>
            <a:prstDash val="solid"/>
          </a:ln>
        </p:spPr>
      </p:sp>
      <p:sp>
        <p:nvSpPr>
          <p:cNvPr id="10" name="Text 6"/>
          <p:cNvSpPr/>
          <p:nvPr/>
        </p:nvSpPr>
        <p:spPr>
          <a:xfrm>
            <a:off x="201168" y="3218688"/>
            <a:ext cx="3017520" cy="182880"/>
          </a:xfrm>
          <a:prstGeom prst="rect">
            <a:avLst/>
          </a:prstGeom>
          <a:noFill/>
          <a:ln/>
        </p:spPr>
        <p:txBody>
          <a:bodyPr wrap="square" lIns="0" tIns="0" rIns="0" bIns="0" rtlCol="0" anchor="ctr"/>
          <a:lstStyle/>
          <a:p>
            <a:pPr marL="0" indent="0">
              <a:buNone/>
            </a:pPr>
            <a:r>
              <a:rPr lang="en-US" sz="650" b="1" kern="0" spc="150" dirty="0">
                <a:solidFill>
                  <a:srgbClr val="6BBFB5"/>
                </a:solidFill>
              </a:rPr>
              <a:t>SUSTAINABILITY PILLARS</a:t>
            </a:r>
            <a:endParaRPr lang="en-US" sz="650" dirty="0"/>
          </a:p>
        </p:txBody>
      </p:sp>
      <p:sp>
        <p:nvSpPr>
          <p:cNvPr id="11" name="Shape 7"/>
          <p:cNvSpPr/>
          <p:nvPr/>
        </p:nvSpPr>
        <p:spPr>
          <a:xfrm>
            <a:off x="201168" y="3474720"/>
            <a:ext cx="3035808" cy="365760"/>
          </a:xfrm>
          <a:prstGeom prst="roundRect">
            <a:avLst>
              <a:gd name="adj" fmla="val 15000"/>
            </a:avLst>
          </a:prstGeom>
          <a:solidFill>
            <a:srgbClr val="1B5E20">
              <a:alpha val="78000"/>
            </a:srgbClr>
          </a:solidFill>
          <a:ln w="6350">
            <a:solidFill>
              <a:srgbClr val="1B5E20"/>
            </a:solidFill>
            <a:prstDash val="solid"/>
          </a:ln>
        </p:spPr>
      </p:sp>
      <p:pic>
        <p:nvPicPr>
          <p:cNvPr id="12" name="Image 2" descr="preencoded.png"/>
          <p:cNvPicPr>
            <a:picLocks noChangeAspect="1"/>
          </p:cNvPicPr>
          <p:nvPr/>
        </p:nvPicPr>
        <p:blipFill>
          <a:blip r:embed="rId5"/>
          <a:stretch>
            <a:fillRect/>
          </a:stretch>
        </p:blipFill>
        <p:spPr>
          <a:xfrm>
            <a:off x="347472" y="3557016"/>
            <a:ext cx="201168" cy="201168"/>
          </a:xfrm>
          <a:prstGeom prst="rect">
            <a:avLst/>
          </a:prstGeom>
        </p:spPr>
      </p:pic>
      <p:sp>
        <p:nvSpPr>
          <p:cNvPr id="13" name="Text 8"/>
          <p:cNvSpPr/>
          <p:nvPr/>
        </p:nvSpPr>
        <p:spPr>
          <a:xfrm>
            <a:off x="640080" y="3529584"/>
            <a:ext cx="2468880" cy="256032"/>
          </a:xfrm>
          <a:prstGeom prst="rect">
            <a:avLst/>
          </a:prstGeom>
          <a:noFill/>
          <a:ln/>
        </p:spPr>
        <p:txBody>
          <a:bodyPr wrap="square" lIns="0" tIns="0" rIns="0" bIns="0" rtlCol="0" anchor="ctr"/>
          <a:lstStyle/>
          <a:p>
            <a:pPr marL="0" indent="0">
              <a:buNone/>
            </a:pPr>
            <a:r>
              <a:rPr lang="en-US" sz="900" b="1" dirty="0">
                <a:solidFill>
                  <a:srgbClr val="FFFFFF"/>
                </a:solidFill>
              </a:rPr>
              <a:t>Environmental</a:t>
            </a:r>
            <a:endParaRPr lang="en-US" sz="900" dirty="0"/>
          </a:p>
        </p:txBody>
      </p:sp>
      <p:sp>
        <p:nvSpPr>
          <p:cNvPr id="14" name="Shape 9"/>
          <p:cNvSpPr/>
          <p:nvPr/>
        </p:nvSpPr>
        <p:spPr>
          <a:xfrm>
            <a:off x="201168" y="3950208"/>
            <a:ext cx="3035808" cy="365760"/>
          </a:xfrm>
          <a:prstGeom prst="roundRect">
            <a:avLst>
              <a:gd name="adj" fmla="val 15000"/>
            </a:avLst>
          </a:prstGeom>
          <a:solidFill>
            <a:srgbClr val="1565C0">
              <a:alpha val="78000"/>
            </a:srgbClr>
          </a:solidFill>
          <a:ln w="6350">
            <a:solidFill>
              <a:srgbClr val="1565C0"/>
            </a:solidFill>
            <a:prstDash val="solid"/>
          </a:ln>
        </p:spPr>
      </p:sp>
      <p:pic>
        <p:nvPicPr>
          <p:cNvPr id="15" name="Image 3" descr="preencoded.png"/>
          <p:cNvPicPr>
            <a:picLocks noChangeAspect="1"/>
          </p:cNvPicPr>
          <p:nvPr/>
        </p:nvPicPr>
        <p:blipFill>
          <a:blip r:embed="rId6"/>
          <a:stretch>
            <a:fillRect/>
          </a:stretch>
        </p:blipFill>
        <p:spPr>
          <a:xfrm>
            <a:off x="347472" y="4032504"/>
            <a:ext cx="201168" cy="201168"/>
          </a:xfrm>
          <a:prstGeom prst="rect">
            <a:avLst/>
          </a:prstGeom>
        </p:spPr>
      </p:pic>
      <p:sp>
        <p:nvSpPr>
          <p:cNvPr id="16" name="Text 10"/>
          <p:cNvSpPr/>
          <p:nvPr/>
        </p:nvSpPr>
        <p:spPr>
          <a:xfrm>
            <a:off x="640080" y="4005072"/>
            <a:ext cx="2468880" cy="256032"/>
          </a:xfrm>
          <a:prstGeom prst="rect">
            <a:avLst/>
          </a:prstGeom>
          <a:noFill/>
          <a:ln/>
        </p:spPr>
        <p:txBody>
          <a:bodyPr wrap="square" lIns="0" tIns="0" rIns="0" bIns="0" rtlCol="0" anchor="ctr"/>
          <a:lstStyle/>
          <a:p>
            <a:pPr marL="0" indent="0">
              <a:buNone/>
            </a:pPr>
            <a:r>
              <a:rPr lang="en-US" sz="900" b="1" dirty="0">
                <a:solidFill>
                  <a:srgbClr val="FFFFFF"/>
                </a:solidFill>
              </a:rPr>
              <a:t>Social</a:t>
            </a:r>
            <a:endParaRPr lang="en-US" sz="900" dirty="0"/>
          </a:p>
        </p:txBody>
      </p:sp>
      <p:sp>
        <p:nvSpPr>
          <p:cNvPr id="17" name="Shape 11"/>
          <p:cNvSpPr/>
          <p:nvPr/>
        </p:nvSpPr>
        <p:spPr>
          <a:xfrm>
            <a:off x="201168" y="4425696"/>
            <a:ext cx="3035808" cy="365760"/>
          </a:xfrm>
          <a:prstGeom prst="roundRect">
            <a:avLst>
              <a:gd name="adj" fmla="val 15000"/>
            </a:avLst>
          </a:prstGeom>
          <a:solidFill>
            <a:srgbClr val="78350F">
              <a:alpha val="78000"/>
            </a:srgbClr>
          </a:solidFill>
          <a:ln w="6350">
            <a:solidFill>
              <a:srgbClr val="78350F"/>
            </a:solidFill>
            <a:prstDash val="solid"/>
          </a:ln>
        </p:spPr>
      </p:sp>
      <p:pic>
        <p:nvPicPr>
          <p:cNvPr id="18" name="Image 4" descr="preencoded.png"/>
          <p:cNvPicPr>
            <a:picLocks noChangeAspect="1"/>
          </p:cNvPicPr>
          <p:nvPr/>
        </p:nvPicPr>
        <p:blipFill>
          <a:blip r:embed="rId7"/>
          <a:stretch>
            <a:fillRect/>
          </a:stretch>
        </p:blipFill>
        <p:spPr>
          <a:xfrm>
            <a:off x="347472" y="4507992"/>
            <a:ext cx="201168" cy="201168"/>
          </a:xfrm>
          <a:prstGeom prst="rect">
            <a:avLst/>
          </a:prstGeom>
        </p:spPr>
      </p:pic>
      <p:sp>
        <p:nvSpPr>
          <p:cNvPr id="19" name="Text 12"/>
          <p:cNvSpPr/>
          <p:nvPr/>
        </p:nvSpPr>
        <p:spPr>
          <a:xfrm>
            <a:off x="640080" y="4480560"/>
            <a:ext cx="2468880" cy="256032"/>
          </a:xfrm>
          <a:prstGeom prst="rect">
            <a:avLst/>
          </a:prstGeom>
          <a:noFill/>
          <a:ln/>
        </p:spPr>
        <p:txBody>
          <a:bodyPr wrap="square" lIns="0" tIns="0" rIns="0" bIns="0" rtlCol="0" anchor="ctr"/>
          <a:lstStyle/>
          <a:p>
            <a:pPr marL="0" indent="0">
              <a:buNone/>
            </a:pPr>
            <a:r>
              <a:rPr lang="en-US" sz="900" b="1" dirty="0">
                <a:solidFill>
                  <a:srgbClr val="FFFFFF"/>
                </a:solidFill>
              </a:rPr>
              <a:t>Economic</a:t>
            </a:r>
            <a:endParaRPr lang="en-US" sz="900" dirty="0"/>
          </a:p>
        </p:txBody>
      </p:sp>
      <p:sp>
        <p:nvSpPr>
          <p:cNvPr id="20" name="Text 13"/>
          <p:cNvSpPr/>
          <p:nvPr/>
        </p:nvSpPr>
        <p:spPr>
          <a:xfrm>
            <a:off x="201168" y="6455664"/>
            <a:ext cx="3035808" cy="201168"/>
          </a:xfrm>
          <a:prstGeom prst="rect">
            <a:avLst/>
          </a:prstGeom>
          <a:noFill/>
          <a:ln/>
        </p:spPr>
        <p:txBody>
          <a:bodyPr wrap="square" lIns="0" tIns="0" rIns="0" bIns="0" rtlCol="0" anchor="ctr"/>
          <a:lstStyle/>
          <a:p>
            <a:pPr marL="0" indent="0" algn="ctr">
              <a:buNone/>
            </a:pPr>
            <a:r>
              <a:rPr lang="en-US" sz="800" dirty="0">
                <a:solidFill>
                  <a:srgbClr val="6BBFB5"/>
                </a:solidFill>
              </a:rPr>
              <a:t>2 of 5</a:t>
            </a:r>
            <a:endParaRPr lang="en-US" sz="800" dirty="0"/>
          </a:p>
        </p:txBody>
      </p:sp>
      <p:sp>
        <p:nvSpPr>
          <p:cNvPr id="21" name="Text 14"/>
          <p:cNvSpPr/>
          <p:nvPr/>
        </p:nvSpPr>
        <p:spPr>
          <a:xfrm>
            <a:off x="3840480" y="182880"/>
            <a:ext cx="8119872" cy="182880"/>
          </a:xfrm>
          <a:prstGeom prst="rect">
            <a:avLst/>
          </a:prstGeom>
          <a:noFill/>
          <a:ln/>
        </p:spPr>
        <p:txBody>
          <a:bodyPr wrap="square" lIns="0" tIns="0" rIns="0" bIns="0" rtlCol="0" anchor="ctr"/>
          <a:lstStyle/>
          <a:p>
            <a:pPr marL="0" indent="0">
              <a:buNone/>
            </a:pPr>
            <a:r>
              <a:rPr lang="en-US" sz="750" dirty="0">
                <a:solidFill>
                  <a:srgbClr val="5A6E5B"/>
                </a:solidFill>
              </a:rPr>
              <a:t>Campus Sustainability Audit  /  AKI's Poona College</a:t>
            </a:r>
            <a:endParaRPr lang="en-US" sz="750" dirty="0"/>
          </a:p>
        </p:txBody>
      </p:sp>
      <p:sp>
        <p:nvSpPr>
          <p:cNvPr id="22" name="Shape 15"/>
          <p:cNvSpPr/>
          <p:nvPr/>
        </p:nvSpPr>
        <p:spPr>
          <a:xfrm>
            <a:off x="3840480" y="402336"/>
            <a:ext cx="8119872" cy="0"/>
          </a:xfrm>
          <a:prstGeom prst="line">
            <a:avLst/>
          </a:prstGeom>
          <a:noFill/>
          <a:ln w="8890">
            <a:solidFill>
              <a:srgbClr val="D5CFC4"/>
            </a:solidFill>
            <a:prstDash val="solid"/>
          </a:ln>
        </p:spPr>
      </p:sp>
      <p:pic>
        <p:nvPicPr>
          <p:cNvPr id="23" name="Image 5" descr="preencoded.png"/>
          <p:cNvPicPr>
            <a:picLocks noChangeAspect="1"/>
          </p:cNvPicPr>
          <p:nvPr/>
        </p:nvPicPr>
        <p:blipFill>
          <a:blip r:embed="rId8"/>
          <a:stretch>
            <a:fillRect/>
          </a:stretch>
        </p:blipFill>
        <p:spPr>
          <a:xfrm>
            <a:off x="3840480" y="521208"/>
            <a:ext cx="201168" cy="201168"/>
          </a:xfrm>
          <a:prstGeom prst="rect">
            <a:avLst/>
          </a:prstGeom>
        </p:spPr>
      </p:pic>
      <p:sp>
        <p:nvSpPr>
          <p:cNvPr id="24" name="Text 16"/>
          <p:cNvSpPr/>
          <p:nvPr/>
        </p:nvSpPr>
        <p:spPr>
          <a:xfrm>
            <a:off x="4114800" y="521208"/>
            <a:ext cx="914400" cy="201168"/>
          </a:xfrm>
          <a:prstGeom prst="rect">
            <a:avLst/>
          </a:prstGeom>
          <a:noFill/>
          <a:ln/>
        </p:spPr>
        <p:txBody>
          <a:bodyPr wrap="square" lIns="0" tIns="0" rIns="0" bIns="0" rtlCol="0" anchor="ctr"/>
          <a:lstStyle/>
          <a:p>
            <a:pPr marL="0" indent="0">
              <a:buNone/>
            </a:pPr>
            <a:r>
              <a:rPr lang="en-US" sz="850" b="1" dirty="0">
                <a:solidFill>
                  <a:srgbClr val="2E3D2F"/>
                </a:solidFill>
              </a:rPr>
              <a:t>Location:</a:t>
            </a:r>
            <a:endParaRPr lang="en-US" sz="850" dirty="0"/>
          </a:p>
        </p:txBody>
      </p:sp>
      <p:sp>
        <p:nvSpPr>
          <p:cNvPr id="25" name="Text 17"/>
          <p:cNvSpPr/>
          <p:nvPr/>
        </p:nvSpPr>
        <p:spPr>
          <a:xfrm>
            <a:off x="5029200" y="521208"/>
            <a:ext cx="6912864" cy="201168"/>
          </a:xfrm>
          <a:prstGeom prst="rect">
            <a:avLst/>
          </a:prstGeom>
          <a:noFill/>
          <a:ln/>
        </p:spPr>
        <p:txBody>
          <a:bodyPr wrap="square" lIns="0" tIns="0" rIns="0" bIns="0" rtlCol="0" anchor="ctr"/>
          <a:lstStyle/>
          <a:p>
            <a:pPr marL="0" indent="0">
              <a:buNone/>
            </a:pPr>
            <a:r>
              <a:rPr lang="en-US" sz="850" dirty="0">
                <a:solidFill>
                  <a:srgbClr val="5A6E5B"/>
                </a:solidFill>
              </a:rPr>
              <a:t>Canteen, Corridors, and Common Areas</a:t>
            </a:r>
            <a:endParaRPr lang="en-US" sz="850" dirty="0"/>
          </a:p>
        </p:txBody>
      </p:sp>
      <p:pic>
        <p:nvPicPr>
          <p:cNvPr id="26" name="Image 6" descr="preencoded.png"/>
          <p:cNvPicPr>
            <a:picLocks noChangeAspect="1"/>
          </p:cNvPicPr>
          <p:nvPr/>
        </p:nvPicPr>
        <p:blipFill>
          <a:blip r:embed="rId9"/>
          <a:stretch>
            <a:fillRect/>
          </a:stretch>
        </p:blipFill>
        <p:spPr>
          <a:xfrm>
            <a:off x="3840480" y="777240"/>
            <a:ext cx="201168" cy="201168"/>
          </a:xfrm>
          <a:prstGeom prst="rect">
            <a:avLst/>
          </a:prstGeom>
        </p:spPr>
      </p:pic>
      <p:sp>
        <p:nvSpPr>
          <p:cNvPr id="27" name="Text 18"/>
          <p:cNvSpPr/>
          <p:nvPr/>
        </p:nvSpPr>
        <p:spPr>
          <a:xfrm>
            <a:off x="4114800" y="777240"/>
            <a:ext cx="914400" cy="201168"/>
          </a:xfrm>
          <a:prstGeom prst="rect">
            <a:avLst/>
          </a:prstGeom>
          <a:noFill/>
          <a:ln/>
        </p:spPr>
        <p:txBody>
          <a:bodyPr wrap="square" lIns="0" tIns="0" rIns="0" bIns="0" rtlCol="0" anchor="ctr"/>
          <a:lstStyle/>
          <a:p>
            <a:pPr marL="0" indent="0">
              <a:buNone/>
            </a:pPr>
            <a:r>
              <a:rPr lang="en-US" sz="850" b="1" dirty="0">
                <a:solidFill>
                  <a:srgbClr val="2E3D2F"/>
                </a:solidFill>
              </a:rPr>
              <a:t>Observed:</a:t>
            </a:r>
            <a:endParaRPr lang="en-US" sz="850" dirty="0"/>
          </a:p>
        </p:txBody>
      </p:sp>
      <p:sp>
        <p:nvSpPr>
          <p:cNvPr id="28" name="Text 19"/>
          <p:cNvSpPr/>
          <p:nvPr/>
        </p:nvSpPr>
        <p:spPr>
          <a:xfrm>
            <a:off x="5029200" y="777240"/>
            <a:ext cx="6912864" cy="201168"/>
          </a:xfrm>
          <a:prstGeom prst="rect">
            <a:avLst/>
          </a:prstGeom>
          <a:noFill/>
          <a:ln/>
        </p:spPr>
        <p:txBody>
          <a:bodyPr wrap="square" lIns="0" tIns="0" rIns="0" bIns="0" rtlCol="0" anchor="ctr"/>
          <a:lstStyle/>
          <a:p>
            <a:pPr marL="0" indent="0">
              <a:buNone/>
            </a:pPr>
            <a:r>
              <a:rPr lang="en-US" sz="850" i="1" dirty="0">
                <a:solidFill>
                  <a:srgbClr val="5A6E5B"/>
                </a:solidFill>
              </a:rPr>
              <a:t>June 5, 2025 — 10:00 AM</a:t>
            </a:r>
            <a:endParaRPr lang="en-US" sz="850" dirty="0"/>
          </a:p>
        </p:txBody>
      </p:sp>
      <p:sp>
        <p:nvSpPr>
          <p:cNvPr id="29" name="Shape 20"/>
          <p:cNvSpPr/>
          <p:nvPr/>
        </p:nvSpPr>
        <p:spPr>
          <a:xfrm>
            <a:off x="3840480" y="1078992"/>
            <a:ext cx="8119872" cy="2286000"/>
          </a:xfrm>
          <a:prstGeom prst="roundRect">
            <a:avLst>
              <a:gd name="adj" fmla="val 3200"/>
            </a:avLst>
          </a:prstGeom>
          <a:solidFill>
            <a:srgbClr val="FFFFFF"/>
          </a:solidFill>
          <a:ln w="7620">
            <a:solidFill>
              <a:srgbClr val="DDD8CE"/>
            </a:solidFill>
            <a:prstDash val="solid"/>
          </a:ln>
          <a:effectLst>
            <a:outerShdw blurRad="101600" dist="38100" dir="8100000" algn="bl" rotWithShape="0">
              <a:srgbClr val="000000">
                <a:alpha val="15000"/>
              </a:srgbClr>
            </a:outerShdw>
          </a:effectLst>
        </p:spPr>
      </p:sp>
      <p:sp>
        <p:nvSpPr>
          <p:cNvPr id="30" name="Shape 21"/>
          <p:cNvSpPr/>
          <p:nvPr/>
        </p:nvSpPr>
        <p:spPr>
          <a:xfrm>
            <a:off x="3840480" y="1078992"/>
            <a:ext cx="59436" cy="2286000"/>
          </a:xfrm>
          <a:prstGeom prst="rect">
            <a:avLst/>
          </a:prstGeom>
          <a:solidFill>
            <a:srgbClr val="E67E22"/>
          </a:solidFill>
          <a:ln w="12700">
            <a:solidFill>
              <a:srgbClr val="E67E22"/>
            </a:solidFill>
            <a:prstDash val="solid"/>
          </a:ln>
        </p:spPr>
      </p:sp>
      <p:pic>
        <p:nvPicPr>
          <p:cNvPr id="31" name="Image 7" descr="preencoded.png"/>
          <p:cNvPicPr>
            <a:picLocks noChangeAspect="1"/>
          </p:cNvPicPr>
          <p:nvPr/>
        </p:nvPicPr>
        <p:blipFill>
          <a:blip r:embed="rId10"/>
          <a:stretch>
            <a:fillRect/>
          </a:stretch>
        </p:blipFill>
        <p:spPr>
          <a:xfrm>
            <a:off x="4041648" y="1170432"/>
            <a:ext cx="201168" cy="201168"/>
          </a:xfrm>
          <a:prstGeom prst="rect">
            <a:avLst/>
          </a:prstGeom>
        </p:spPr>
      </p:pic>
      <p:sp>
        <p:nvSpPr>
          <p:cNvPr id="32" name="Text 22"/>
          <p:cNvSpPr/>
          <p:nvPr/>
        </p:nvSpPr>
        <p:spPr>
          <a:xfrm>
            <a:off x="4315968" y="1152144"/>
            <a:ext cx="7571232" cy="256032"/>
          </a:xfrm>
          <a:prstGeom prst="rect">
            <a:avLst/>
          </a:prstGeom>
          <a:noFill/>
          <a:ln/>
        </p:spPr>
        <p:txBody>
          <a:bodyPr wrap="square" lIns="0" tIns="0" rIns="0" bIns="0" rtlCol="0" anchor="ctr"/>
          <a:lstStyle/>
          <a:p>
            <a:pPr marL="0" indent="0">
              <a:buNone/>
            </a:pPr>
            <a:r>
              <a:rPr lang="en-US" sz="1100" b="1" dirty="0">
                <a:solidFill>
                  <a:srgbClr val="2E3D2F"/>
                </a:solidFill>
                <a:latin typeface="Georgia" pitchFamily="34" charset="0"/>
                <a:ea typeface="Georgia" pitchFamily="34" charset="-122"/>
                <a:cs typeface="Georgia" pitchFamily="34" charset="-120"/>
              </a:rPr>
              <a:t>Observation Note</a:t>
            </a:r>
            <a:endParaRPr lang="en-US" sz="1100" dirty="0"/>
          </a:p>
        </p:txBody>
      </p:sp>
      <p:sp>
        <p:nvSpPr>
          <p:cNvPr id="33" name="Text 23"/>
          <p:cNvSpPr/>
          <p:nvPr/>
        </p:nvSpPr>
        <p:spPr>
          <a:xfrm>
            <a:off x="4041648" y="1444752"/>
            <a:ext cx="7845552" cy="1847088"/>
          </a:xfrm>
          <a:prstGeom prst="rect">
            <a:avLst/>
          </a:prstGeom>
          <a:noFill/>
          <a:ln/>
        </p:spPr>
        <p:txBody>
          <a:bodyPr wrap="square" lIns="0" tIns="0" rIns="0" bIns="0" rtlCol="0" anchor="ctr"/>
          <a:lstStyle/>
          <a:p>
            <a:pPr marL="0" indent="0">
              <a:buNone/>
            </a:pPr>
            <a:r>
              <a:rPr lang="en-US" sz="950" dirty="0">
                <a:solidFill>
                  <a:srgbClr val="5A6E5B"/>
                </a:solidFill>
              </a:rPr>
              <a:t>A single-bin system was observed across the campus. Dry waste (paper, plastic, wrappers), wet waste (food scraps), and hazardous items were mixed together in most bins examined. No colour-coded bins were present anywhere on campus. No signage encouraging segregation was visible. Waste collection consolidated all material into one stream.</a:t>
            </a:r>
            <a:endParaRPr lang="en-US" sz="950" dirty="0"/>
          </a:p>
        </p:txBody>
      </p:sp>
      <p:sp>
        <p:nvSpPr>
          <p:cNvPr id="34" name="Shape 24"/>
          <p:cNvSpPr/>
          <p:nvPr/>
        </p:nvSpPr>
        <p:spPr>
          <a:xfrm>
            <a:off x="3840480" y="3474720"/>
            <a:ext cx="8119872" cy="0"/>
          </a:xfrm>
          <a:prstGeom prst="line">
            <a:avLst/>
          </a:prstGeom>
          <a:noFill/>
          <a:ln w="8890">
            <a:solidFill>
              <a:srgbClr val="DDD8CE"/>
            </a:solidFill>
            <a:prstDash val="solid"/>
          </a:ln>
        </p:spPr>
      </p:sp>
      <p:pic>
        <p:nvPicPr>
          <p:cNvPr id="35" name="Image 8" descr="preencoded.png"/>
          <p:cNvPicPr>
            <a:picLocks noChangeAspect="1"/>
          </p:cNvPicPr>
          <p:nvPr/>
        </p:nvPicPr>
        <p:blipFill>
          <a:blip r:embed="rId11"/>
          <a:stretch>
            <a:fillRect/>
          </a:stretch>
        </p:blipFill>
        <p:spPr>
          <a:xfrm>
            <a:off x="3840480" y="3584448"/>
            <a:ext cx="201168" cy="201168"/>
          </a:xfrm>
          <a:prstGeom prst="rect">
            <a:avLst/>
          </a:prstGeom>
        </p:spPr>
      </p:pic>
      <p:sp>
        <p:nvSpPr>
          <p:cNvPr id="36" name="Text 25"/>
          <p:cNvSpPr/>
          <p:nvPr/>
        </p:nvSpPr>
        <p:spPr>
          <a:xfrm>
            <a:off x="4114800" y="3584448"/>
            <a:ext cx="1508760" cy="201168"/>
          </a:xfrm>
          <a:prstGeom prst="rect">
            <a:avLst/>
          </a:prstGeom>
          <a:noFill/>
          <a:ln/>
        </p:spPr>
        <p:txBody>
          <a:bodyPr wrap="square" lIns="0" tIns="0" rIns="0" bIns="0" rtlCol="0" anchor="ctr"/>
          <a:lstStyle/>
          <a:p>
            <a:pPr marL="0" indent="0">
              <a:buNone/>
            </a:pPr>
            <a:r>
              <a:rPr lang="en-US" sz="850" b="1" dirty="0">
                <a:solidFill>
                  <a:srgbClr val="2E3D2F"/>
                </a:solidFill>
              </a:rPr>
              <a:t>Who is Affected:</a:t>
            </a:r>
            <a:endParaRPr lang="en-US" sz="850" dirty="0"/>
          </a:p>
        </p:txBody>
      </p:sp>
      <p:sp>
        <p:nvSpPr>
          <p:cNvPr id="37" name="Text 26"/>
          <p:cNvSpPr/>
          <p:nvPr/>
        </p:nvSpPr>
        <p:spPr>
          <a:xfrm>
            <a:off x="5623560" y="3584448"/>
            <a:ext cx="6318504" cy="201168"/>
          </a:xfrm>
          <a:prstGeom prst="rect">
            <a:avLst/>
          </a:prstGeom>
          <a:noFill/>
          <a:ln/>
        </p:spPr>
        <p:txBody>
          <a:bodyPr wrap="square" lIns="0" tIns="0" rIns="0" bIns="0" rtlCol="0" anchor="ctr"/>
          <a:lstStyle/>
          <a:p>
            <a:pPr marL="0" indent="0">
              <a:buNone/>
            </a:pPr>
            <a:r>
              <a:rPr lang="en-US" sz="850" dirty="0">
                <a:solidFill>
                  <a:srgbClr val="5A6E5B"/>
                </a:solidFill>
              </a:rPr>
              <a:t>Entire campus community; municipal waste workers; local environment.</a:t>
            </a:r>
            <a:endParaRPr lang="en-US" sz="850" dirty="0"/>
          </a:p>
        </p:txBody>
      </p:sp>
      <p:sp>
        <p:nvSpPr>
          <p:cNvPr id="38" name="Shape 27"/>
          <p:cNvSpPr/>
          <p:nvPr/>
        </p:nvSpPr>
        <p:spPr>
          <a:xfrm>
            <a:off x="3840480" y="3886200"/>
            <a:ext cx="8119872" cy="2651760"/>
          </a:xfrm>
          <a:prstGeom prst="roundRect">
            <a:avLst>
              <a:gd name="adj" fmla="val 3103"/>
            </a:avLst>
          </a:prstGeom>
          <a:solidFill>
            <a:srgbClr val="1A3A1F"/>
          </a:solidFill>
          <a:ln w="10160">
            <a:solidFill>
              <a:srgbClr val="E67E22"/>
            </a:solidFill>
            <a:prstDash val="solid"/>
          </a:ln>
          <a:effectLst>
            <a:outerShdw blurRad="101600" dist="38100" dir="8100000" algn="bl" rotWithShape="0">
              <a:srgbClr val="000000">
                <a:alpha val="15000"/>
              </a:srgbClr>
            </a:outerShdw>
          </a:effectLst>
        </p:spPr>
      </p:sp>
      <p:pic>
        <p:nvPicPr>
          <p:cNvPr id="39" name="Image 9" descr="preencoded.png"/>
          <p:cNvPicPr>
            <a:picLocks noChangeAspect="1"/>
          </p:cNvPicPr>
          <p:nvPr/>
        </p:nvPicPr>
        <p:blipFill>
          <a:blip r:embed="rId10">
            <a:alphaModFix amt="22000"/>
          </a:blip>
          <a:stretch>
            <a:fillRect/>
          </a:stretch>
        </p:blipFill>
        <p:spPr>
          <a:xfrm>
            <a:off x="10497312" y="4005072"/>
            <a:ext cx="1280160" cy="1280160"/>
          </a:xfrm>
          <a:prstGeom prst="rect">
            <a:avLst/>
          </a:prstGeom>
        </p:spPr>
      </p:pic>
      <p:sp>
        <p:nvSpPr>
          <p:cNvPr id="40" name="Shape 28"/>
          <p:cNvSpPr/>
          <p:nvPr/>
        </p:nvSpPr>
        <p:spPr>
          <a:xfrm>
            <a:off x="4041648" y="4078224"/>
            <a:ext cx="1755648" cy="329184"/>
          </a:xfrm>
          <a:prstGeom prst="roundRect">
            <a:avLst>
              <a:gd name="adj" fmla="val 16667"/>
            </a:avLst>
          </a:prstGeom>
          <a:solidFill>
            <a:srgbClr val="C0392B"/>
          </a:solidFill>
          <a:ln w="12700">
            <a:solidFill>
              <a:srgbClr val="C0392B"/>
            </a:solidFill>
            <a:prstDash val="solid"/>
          </a:ln>
        </p:spPr>
      </p:sp>
      <p:sp>
        <p:nvSpPr>
          <p:cNvPr id="41" name="Text 29"/>
          <p:cNvSpPr/>
          <p:nvPr/>
        </p:nvSpPr>
        <p:spPr>
          <a:xfrm>
            <a:off x="4041648" y="4078224"/>
            <a:ext cx="1755648" cy="329184"/>
          </a:xfrm>
          <a:prstGeom prst="rect">
            <a:avLst/>
          </a:prstGeom>
          <a:noFill/>
          <a:ln/>
        </p:spPr>
        <p:txBody>
          <a:bodyPr wrap="square" lIns="0" tIns="0" rIns="0" bIns="0" rtlCol="0" anchor="ctr"/>
          <a:lstStyle/>
          <a:p>
            <a:pPr marL="0" indent="0" algn="ctr">
              <a:buNone/>
            </a:pPr>
            <a:r>
              <a:rPr lang="en-US" sz="850" b="1" dirty="0">
                <a:solidFill>
                  <a:srgbClr val="FFFFFF"/>
                </a:solidFill>
              </a:rPr>
              <a:t>IMPACT: HIGH</a:t>
            </a:r>
            <a:endParaRPr lang="en-US" sz="850" dirty="0"/>
          </a:p>
        </p:txBody>
      </p:sp>
      <p:sp>
        <p:nvSpPr>
          <p:cNvPr id="42" name="Text 30"/>
          <p:cNvSpPr/>
          <p:nvPr/>
        </p:nvSpPr>
        <p:spPr>
          <a:xfrm>
            <a:off x="5943600" y="4096512"/>
            <a:ext cx="1463040" cy="274320"/>
          </a:xfrm>
          <a:prstGeom prst="rect">
            <a:avLst/>
          </a:prstGeom>
          <a:noFill/>
          <a:ln/>
        </p:spPr>
        <p:txBody>
          <a:bodyPr wrap="square" lIns="0" tIns="0" rIns="0" bIns="0" rtlCol="0" anchor="ctr"/>
          <a:lstStyle/>
          <a:p>
            <a:pPr marL="0" indent="0">
              <a:buNone/>
            </a:pPr>
            <a:r>
              <a:rPr lang="en-US" sz="950" b="1" dirty="0">
                <a:solidFill>
                  <a:srgbClr val="6BBFB5"/>
                </a:solidFill>
              </a:rPr>
              <a:t>Reasoning:</a:t>
            </a:r>
            <a:endParaRPr lang="en-US" sz="950" dirty="0"/>
          </a:p>
        </p:txBody>
      </p:sp>
      <p:sp>
        <p:nvSpPr>
          <p:cNvPr id="43" name="Text 31"/>
          <p:cNvSpPr/>
          <p:nvPr/>
        </p:nvSpPr>
        <p:spPr>
          <a:xfrm>
            <a:off x="4041648" y="4480560"/>
            <a:ext cx="7717536" cy="1920240"/>
          </a:xfrm>
          <a:prstGeom prst="rect">
            <a:avLst/>
          </a:prstGeom>
          <a:noFill/>
          <a:ln/>
        </p:spPr>
        <p:txBody>
          <a:bodyPr wrap="square" lIns="0" tIns="0" rIns="0" bIns="0" rtlCol="0" anchor="ctr"/>
          <a:lstStyle/>
          <a:p>
            <a:pPr marL="0" indent="0">
              <a:buNone/>
            </a:pPr>
            <a:r>
              <a:rPr lang="en-US" sz="950" dirty="0">
                <a:solidFill>
                  <a:srgbClr val="C8E6C9"/>
                </a:solidFill>
              </a:rPr>
              <a:t>Mixed waste disposal prevents effective recycling and dramatically increases material sent to landfill. Wet and dry waste combined produces greenhouse gases and leachate. The absence of segregation undermines sustainability education in classrooms. There is also a missed economic opportunity — segregated dry waste has significant resale value through scrap networks.</a:t>
            </a:r>
            <a:endParaRPr lang="en-US" sz="950" dirty="0"/>
          </a:p>
        </p:txBody>
      </p:sp>
      <p:sp>
        <p:nvSpPr>
          <p:cNvPr id="44" name="Shape 32"/>
          <p:cNvSpPr/>
          <p:nvPr/>
        </p:nvSpPr>
        <p:spPr>
          <a:xfrm>
            <a:off x="0" y="6675120"/>
            <a:ext cx="12161520" cy="182880"/>
          </a:xfrm>
          <a:prstGeom prst="rect">
            <a:avLst/>
          </a:prstGeom>
          <a:solidFill>
            <a:srgbClr val="050E06"/>
          </a:solidFill>
          <a:ln w="12700">
            <a:solidFill>
              <a:srgbClr val="050E06"/>
            </a:solidFill>
            <a:prstDash val="solid"/>
          </a:ln>
        </p:spPr>
      </p:sp>
      <p:sp>
        <p:nvSpPr>
          <p:cNvPr id="45" name="Text 33"/>
          <p:cNvSpPr/>
          <p:nvPr/>
        </p:nvSpPr>
        <p:spPr>
          <a:xfrm>
            <a:off x="0" y="6675120"/>
            <a:ext cx="12161520" cy="182880"/>
          </a:xfrm>
          <a:prstGeom prst="rect">
            <a:avLst/>
          </a:prstGeom>
          <a:noFill/>
          <a:ln/>
        </p:spPr>
        <p:txBody>
          <a:bodyPr wrap="square" lIns="0" tIns="0" rIns="0" bIns="0" rtlCol="0" anchor="ctr"/>
          <a:lstStyle/>
          <a:p>
            <a:pPr marL="0" indent="0" algn="ctr">
              <a:buNone/>
            </a:pPr>
            <a:r>
              <a:rPr lang="en-US" sz="650" dirty="0">
                <a:solidFill>
                  <a:srgbClr val="6BBFB5"/>
                </a:solidFill>
              </a:rPr>
              <a:t>AKI's Poona College  ·  Campus Sustainability Audit  ·  June 2025  ·  Intern: Zaid Khan</a:t>
            </a:r>
            <a:endParaRPr lang="en-US" sz="6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1E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566160" cy="6858000"/>
          </a:xfrm>
          <a:prstGeom prst="rect">
            <a:avLst/>
          </a:prstGeom>
        </p:spPr>
      </p:pic>
      <p:sp>
        <p:nvSpPr>
          <p:cNvPr id="3" name="Shape 0"/>
          <p:cNvSpPr/>
          <p:nvPr/>
        </p:nvSpPr>
        <p:spPr>
          <a:xfrm>
            <a:off x="0" y="0"/>
            <a:ext cx="3566160" cy="54864"/>
          </a:xfrm>
          <a:prstGeom prst="rect">
            <a:avLst/>
          </a:prstGeom>
          <a:solidFill>
            <a:srgbClr val="1565C0"/>
          </a:solidFill>
          <a:ln w="12700">
            <a:solidFill>
              <a:srgbClr val="1565C0"/>
            </a:solidFill>
            <a:prstDash val="solid"/>
          </a:ln>
        </p:spPr>
      </p:sp>
      <p:sp>
        <p:nvSpPr>
          <p:cNvPr id="4" name="Shape 1"/>
          <p:cNvSpPr/>
          <p:nvPr/>
        </p:nvSpPr>
        <p:spPr>
          <a:xfrm>
            <a:off x="347472" y="292608"/>
            <a:ext cx="1097280" cy="1097280"/>
          </a:xfrm>
          <a:prstGeom prst="ellipse">
            <a:avLst/>
          </a:prstGeom>
          <a:solidFill>
            <a:srgbClr val="1565C0">
              <a:alpha val="85000"/>
            </a:srgbClr>
          </a:solidFill>
          <a:ln w="25400">
            <a:solidFill>
              <a:srgbClr val="1565C0"/>
            </a:solidFill>
            <a:prstDash val="solid"/>
          </a:ln>
        </p:spPr>
      </p:sp>
      <p:pic>
        <p:nvPicPr>
          <p:cNvPr id="5" name="Image 1" descr="preencoded.png"/>
          <p:cNvPicPr>
            <a:picLocks noChangeAspect="1"/>
          </p:cNvPicPr>
          <p:nvPr/>
        </p:nvPicPr>
        <p:blipFill>
          <a:blip r:embed="rId4"/>
          <a:stretch>
            <a:fillRect/>
          </a:stretch>
        </p:blipFill>
        <p:spPr>
          <a:xfrm>
            <a:off x="512064" y="457200"/>
            <a:ext cx="768096" cy="768096"/>
          </a:xfrm>
          <a:prstGeom prst="rect">
            <a:avLst/>
          </a:prstGeom>
        </p:spPr>
      </p:pic>
      <p:sp>
        <p:nvSpPr>
          <p:cNvPr id="6" name="Shape 2"/>
          <p:cNvSpPr/>
          <p:nvPr/>
        </p:nvSpPr>
        <p:spPr>
          <a:xfrm>
            <a:off x="1234440" y="256032"/>
            <a:ext cx="402336" cy="402336"/>
          </a:xfrm>
          <a:prstGeom prst="ellipse">
            <a:avLst/>
          </a:prstGeom>
          <a:solidFill>
            <a:srgbClr val="1565C0"/>
          </a:solidFill>
          <a:ln w="15240">
            <a:solidFill>
              <a:srgbClr val="F4F1EB"/>
            </a:solidFill>
            <a:prstDash val="solid"/>
          </a:ln>
        </p:spPr>
      </p:sp>
      <p:sp>
        <p:nvSpPr>
          <p:cNvPr id="7" name="Text 3"/>
          <p:cNvSpPr/>
          <p:nvPr/>
        </p:nvSpPr>
        <p:spPr>
          <a:xfrm>
            <a:off x="1234440" y="256032"/>
            <a:ext cx="402336" cy="402336"/>
          </a:xfrm>
          <a:prstGeom prst="rect">
            <a:avLst/>
          </a:prstGeom>
          <a:noFill/>
          <a:ln/>
        </p:spPr>
        <p:txBody>
          <a:bodyPr wrap="square" lIns="0" tIns="0" rIns="0" bIns="0" rtlCol="0" anchor="ctr"/>
          <a:lstStyle/>
          <a:p>
            <a:pPr marL="0" indent="0" algn="ctr">
              <a:buNone/>
            </a:pPr>
            <a:r>
              <a:rPr lang="en-US" sz="800" b="1" dirty="0">
                <a:solidFill>
                  <a:srgbClr val="FFFFFF"/>
                </a:solidFill>
              </a:rPr>
              <a:t>03</a:t>
            </a:r>
            <a:endParaRPr lang="en-US" sz="800" dirty="0"/>
          </a:p>
        </p:txBody>
      </p:sp>
      <p:sp>
        <p:nvSpPr>
          <p:cNvPr id="8" name="Text 4"/>
          <p:cNvSpPr/>
          <p:nvPr/>
        </p:nvSpPr>
        <p:spPr>
          <a:xfrm>
            <a:off x="201168" y="1536192"/>
            <a:ext cx="3145536" cy="1481328"/>
          </a:xfrm>
          <a:prstGeom prst="rect">
            <a:avLst/>
          </a:prstGeom>
          <a:noFill/>
          <a:ln/>
        </p:spPr>
        <p:txBody>
          <a:bodyPr wrap="square" lIns="0" tIns="0" rIns="0" bIns="0"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Water Wastage from Leaking Taps</a:t>
            </a:r>
            <a:endParaRPr lang="en-US" sz="1700" dirty="0"/>
          </a:p>
        </p:txBody>
      </p:sp>
      <p:sp>
        <p:nvSpPr>
          <p:cNvPr id="9" name="Shape 5"/>
          <p:cNvSpPr/>
          <p:nvPr/>
        </p:nvSpPr>
        <p:spPr>
          <a:xfrm>
            <a:off x="201168" y="3108960"/>
            <a:ext cx="2962656" cy="0"/>
          </a:xfrm>
          <a:prstGeom prst="line">
            <a:avLst/>
          </a:prstGeom>
          <a:noFill/>
          <a:ln w="8890">
            <a:solidFill>
              <a:srgbClr val="6BBFB5"/>
            </a:solidFill>
            <a:prstDash val="solid"/>
          </a:ln>
        </p:spPr>
      </p:sp>
      <p:sp>
        <p:nvSpPr>
          <p:cNvPr id="10" name="Text 6"/>
          <p:cNvSpPr/>
          <p:nvPr/>
        </p:nvSpPr>
        <p:spPr>
          <a:xfrm>
            <a:off x="201168" y="3218688"/>
            <a:ext cx="3017520" cy="182880"/>
          </a:xfrm>
          <a:prstGeom prst="rect">
            <a:avLst/>
          </a:prstGeom>
          <a:noFill/>
          <a:ln/>
        </p:spPr>
        <p:txBody>
          <a:bodyPr wrap="square" lIns="0" tIns="0" rIns="0" bIns="0" rtlCol="0" anchor="ctr"/>
          <a:lstStyle/>
          <a:p>
            <a:pPr marL="0" indent="0">
              <a:buNone/>
            </a:pPr>
            <a:r>
              <a:rPr lang="en-US" sz="650" b="1" kern="0" spc="150" dirty="0">
                <a:solidFill>
                  <a:srgbClr val="6BBFB5"/>
                </a:solidFill>
              </a:rPr>
              <a:t>SUSTAINABILITY PILLARS</a:t>
            </a:r>
            <a:endParaRPr lang="en-US" sz="650" dirty="0"/>
          </a:p>
        </p:txBody>
      </p:sp>
      <p:sp>
        <p:nvSpPr>
          <p:cNvPr id="11" name="Shape 7"/>
          <p:cNvSpPr/>
          <p:nvPr/>
        </p:nvSpPr>
        <p:spPr>
          <a:xfrm>
            <a:off x="201168" y="3474720"/>
            <a:ext cx="3035808" cy="365760"/>
          </a:xfrm>
          <a:prstGeom prst="roundRect">
            <a:avLst>
              <a:gd name="adj" fmla="val 15000"/>
            </a:avLst>
          </a:prstGeom>
          <a:solidFill>
            <a:srgbClr val="1B5E20">
              <a:alpha val="78000"/>
            </a:srgbClr>
          </a:solidFill>
          <a:ln w="6350">
            <a:solidFill>
              <a:srgbClr val="1B5E20"/>
            </a:solidFill>
            <a:prstDash val="solid"/>
          </a:ln>
        </p:spPr>
      </p:sp>
      <p:pic>
        <p:nvPicPr>
          <p:cNvPr id="12" name="Image 2" descr="preencoded.png"/>
          <p:cNvPicPr>
            <a:picLocks noChangeAspect="1"/>
          </p:cNvPicPr>
          <p:nvPr/>
        </p:nvPicPr>
        <p:blipFill>
          <a:blip r:embed="rId5"/>
          <a:stretch>
            <a:fillRect/>
          </a:stretch>
        </p:blipFill>
        <p:spPr>
          <a:xfrm>
            <a:off x="347472" y="3557016"/>
            <a:ext cx="201168" cy="201168"/>
          </a:xfrm>
          <a:prstGeom prst="rect">
            <a:avLst/>
          </a:prstGeom>
        </p:spPr>
      </p:pic>
      <p:sp>
        <p:nvSpPr>
          <p:cNvPr id="13" name="Text 8"/>
          <p:cNvSpPr/>
          <p:nvPr/>
        </p:nvSpPr>
        <p:spPr>
          <a:xfrm>
            <a:off x="640080" y="3529584"/>
            <a:ext cx="2468880" cy="256032"/>
          </a:xfrm>
          <a:prstGeom prst="rect">
            <a:avLst/>
          </a:prstGeom>
          <a:noFill/>
          <a:ln/>
        </p:spPr>
        <p:txBody>
          <a:bodyPr wrap="square" lIns="0" tIns="0" rIns="0" bIns="0" rtlCol="0" anchor="ctr"/>
          <a:lstStyle/>
          <a:p>
            <a:pPr marL="0" indent="0">
              <a:buNone/>
            </a:pPr>
            <a:r>
              <a:rPr lang="en-US" sz="900" b="1" dirty="0">
                <a:solidFill>
                  <a:srgbClr val="FFFFFF"/>
                </a:solidFill>
              </a:rPr>
              <a:t>Environmental</a:t>
            </a:r>
            <a:endParaRPr lang="en-US" sz="900" dirty="0"/>
          </a:p>
        </p:txBody>
      </p:sp>
      <p:sp>
        <p:nvSpPr>
          <p:cNvPr id="14" name="Shape 9"/>
          <p:cNvSpPr/>
          <p:nvPr/>
        </p:nvSpPr>
        <p:spPr>
          <a:xfrm>
            <a:off x="201168" y="3950208"/>
            <a:ext cx="3035808" cy="365760"/>
          </a:xfrm>
          <a:prstGeom prst="roundRect">
            <a:avLst>
              <a:gd name="adj" fmla="val 15000"/>
            </a:avLst>
          </a:prstGeom>
          <a:solidFill>
            <a:srgbClr val="78350F">
              <a:alpha val="78000"/>
            </a:srgbClr>
          </a:solidFill>
          <a:ln w="6350">
            <a:solidFill>
              <a:srgbClr val="78350F"/>
            </a:solidFill>
            <a:prstDash val="solid"/>
          </a:ln>
        </p:spPr>
      </p:sp>
      <p:pic>
        <p:nvPicPr>
          <p:cNvPr id="15" name="Image 3" descr="preencoded.png"/>
          <p:cNvPicPr>
            <a:picLocks noChangeAspect="1"/>
          </p:cNvPicPr>
          <p:nvPr/>
        </p:nvPicPr>
        <p:blipFill>
          <a:blip r:embed="rId6"/>
          <a:stretch>
            <a:fillRect/>
          </a:stretch>
        </p:blipFill>
        <p:spPr>
          <a:xfrm>
            <a:off x="347472" y="4032504"/>
            <a:ext cx="201168" cy="201168"/>
          </a:xfrm>
          <a:prstGeom prst="rect">
            <a:avLst/>
          </a:prstGeom>
        </p:spPr>
      </p:pic>
      <p:sp>
        <p:nvSpPr>
          <p:cNvPr id="16" name="Text 10"/>
          <p:cNvSpPr/>
          <p:nvPr/>
        </p:nvSpPr>
        <p:spPr>
          <a:xfrm>
            <a:off x="640080" y="4005072"/>
            <a:ext cx="2468880" cy="256032"/>
          </a:xfrm>
          <a:prstGeom prst="rect">
            <a:avLst/>
          </a:prstGeom>
          <a:noFill/>
          <a:ln/>
        </p:spPr>
        <p:txBody>
          <a:bodyPr wrap="square" lIns="0" tIns="0" rIns="0" bIns="0" rtlCol="0" anchor="ctr"/>
          <a:lstStyle/>
          <a:p>
            <a:pPr marL="0" indent="0">
              <a:buNone/>
            </a:pPr>
            <a:r>
              <a:rPr lang="en-US" sz="900" b="1" dirty="0">
                <a:solidFill>
                  <a:srgbClr val="FFFFFF"/>
                </a:solidFill>
              </a:rPr>
              <a:t>Economic</a:t>
            </a:r>
            <a:endParaRPr lang="en-US" sz="900" dirty="0"/>
          </a:p>
        </p:txBody>
      </p:sp>
      <p:sp>
        <p:nvSpPr>
          <p:cNvPr id="17" name="Text 11"/>
          <p:cNvSpPr/>
          <p:nvPr/>
        </p:nvSpPr>
        <p:spPr>
          <a:xfrm>
            <a:off x="201168" y="6455664"/>
            <a:ext cx="3035808" cy="201168"/>
          </a:xfrm>
          <a:prstGeom prst="rect">
            <a:avLst/>
          </a:prstGeom>
          <a:noFill/>
          <a:ln/>
        </p:spPr>
        <p:txBody>
          <a:bodyPr wrap="square" lIns="0" tIns="0" rIns="0" bIns="0" rtlCol="0" anchor="ctr"/>
          <a:lstStyle/>
          <a:p>
            <a:pPr marL="0" indent="0" algn="ctr">
              <a:buNone/>
            </a:pPr>
            <a:r>
              <a:rPr lang="en-US" sz="800" dirty="0">
                <a:solidFill>
                  <a:srgbClr val="6BBFB5"/>
                </a:solidFill>
              </a:rPr>
              <a:t>3 of 5</a:t>
            </a:r>
            <a:endParaRPr lang="en-US" sz="800" dirty="0"/>
          </a:p>
        </p:txBody>
      </p:sp>
      <p:sp>
        <p:nvSpPr>
          <p:cNvPr id="18" name="Text 12"/>
          <p:cNvSpPr/>
          <p:nvPr/>
        </p:nvSpPr>
        <p:spPr>
          <a:xfrm>
            <a:off x="3840480" y="182880"/>
            <a:ext cx="8119872" cy="182880"/>
          </a:xfrm>
          <a:prstGeom prst="rect">
            <a:avLst/>
          </a:prstGeom>
          <a:noFill/>
          <a:ln/>
        </p:spPr>
        <p:txBody>
          <a:bodyPr wrap="square" lIns="0" tIns="0" rIns="0" bIns="0" rtlCol="0" anchor="ctr"/>
          <a:lstStyle/>
          <a:p>
            <a:pPr marL="0" indent="0">
              <a:buNone/>
            </a:pPr>
            <a:r>
              <a:rPr lang="en-US" sz="750" dirty="0">
                <a:solidFill>
                  <a:srgbClr val="5A6E5B"/>
                </a:solidFill>
              </a:rPr>
              <a:t>Campus Sustainability Audit  /  AKI's Poona College</a:t>
            </a:r>
            <a:endParaRPr lang="en-US" sz="750" dirty="0"/>
          </a:p>
        </p:txBody>
      </p:sp>
      <p:sp>
        <p:nvSpPr>
          <p:cNvPr id="19" name="Shape 13"/>
          <p:cNvSpPr/>
          <p:nvPr/>
        </p:nvSpPr>
        <p:spPr>
          <a:xfrm>
            <a:off x="3840480" y="402336"/>
            <a:ext cx="8119872" cy="0"/>
          </a:xfrm>
          <a:prstGeom prst="line">
            <a:avLst/>
          </a:prstGeom>
          <a:noFill/>
          <a:ln w="8890">
            <a:solidFill>
              <a:srgbClr val="D5CFC4"/>
            </a:solidFill>
            <a:prstDash val="solid"/>
          </a:ln>
        </p:spPr>
      </p:sp>
      <p:pic>
        <p:nvPicPr>
          <p:cNvPr id="20" name="Image 4" descr="preencoded.png"/>
          <p:cNvPicPr>
            <a:picLocks noChangeAspect="1"/>
          </p:cNvPicPr>
          <p:nvPr/>
        </p:nvPicPr>
        <p:blipFill>
          <a:blip r:embed="rId7"/>
          <a:stretch>
            <a:fillRect/>
          </a:stretch>
        </p:blipFill>
        <p:spPr>
          <a:xfrm>
            <a:off x="3840480" y="521208"/>
            <a:ext cx="201168" cy="201168"/>
          </a:xfrm>
          <a:prstGeom prst="rect">
            <a:avLst/>
          </a:prstGeom>
        </p:spPr>
      </p:pic>
      <p:sp>
        <p:nvSpPr>
          <p:cNvPr id="21" name="Text 14"/>
          <p:cNvSpPr/>
          <p:nvPr/>
        </p:nvSpPr>
        <p:spPr>
          <a:xfrm>
            <a:off x="4114800" y="521208"/>
            <a:ext cx="914400" cy="201168"/>
          </a:xfrm>
          <a:prstGeom prst="rect">
            <a:avLst/>
          </a:prstGeom>
          <a:noFill/>
          <a:ln/>
        </p:spPr>
        <p:txBody>
          <a:bodyPr wrap="square" lIns="0" tIns="0" rIns="0" bIns="0" rtlCol="0" anchor="ctr"/>
          <a:lstStyle/>
          <a:p>
            <a:pPr marL="0" indent="0">
              <a:buNone/>
            </a:pPr>
            <a:r>
              <a:rPr lang="en-US" sz="850" b="1" dirty="0">
                <a:solidFill>
                  <a:srgbClr val="2E3D2F"/>
                </a:solidFill>
              </a:rPr>
              <a:t>Location:</a:t>
            </a:r>
            <a:endParaRPr lang="en-US" sz="850" dirty="0"/>
          </a:p>
        </p:txBody>
      </p:sp>
      <p:sp>
        <p:nvSpPr>
          <p:cNvPr id="22" name="Text 15"/>
          <p:cNvSpPr/>
          <p:nvPr/>
        </p:nvSpPr>
        <p:spPr>
          <a:xfrm>
            <a:off x="5029200" y="521208"/>
            <a:ext cx="6912864" cy="201168"/>
          </a:xfrm>
          <a:prstGeom prst="rect">
            <a:avLst/>
          </a:prstGeom>
          <a:noFill/>
          <a:ln/>
        </p:spPr>
        <p:txBody>
          <a:bodyPr wrap="square" lIns="0" tIns="0" rIns="0" bIns="0" rtlCol="0" anchor="ctr"/>
          <a:lstStyle/>
          <a:p>
            <a:pPr marL="0" indent="0">
              <a:buNone/>
            </a:pPr>
            <a:r>
              <a:rPr lang="en-US" sz="850" dirty="0">
                <a:solidFill>
                  <a:srgbClr val="5A6E5B"/>
                </a:solidFill>
              </a:rPr>
              <a:t>Washrooms — 1st and 2nd Floor, Science Wing</a:t>
            </a:r>
            <a:endParaRPr lang="en-US" sz="850" dirty="0"/>
          </a:p>
        </p:txBody>
      </p:sp>
      <p:pic>
        <p:nvPicPr>
          <p:cNvPr id="23" name="Image 5" descr="preencoded.png"/>
          <p:cNvPicPr>
            <a:picLocks noChangeAspect="1"/>
          </p:cNvPicPr>
          <p:nvPr/>
        </p:nvPicPr>
        <p:blipFill>
          <a:blip r:embed="rId8"/>
          <a:stretch>
            <a:fillRect/>
          </a:stretch>
        </p:blipFill>
        <p:spPr>
          <a:xfrm>
            <a:off x="3840480" y="777240"/>
            <a:ext cx="201168" cy="201168"/>
          </a:xfrm>
          <a:prstGeom prst="rect">
            <a:avLst/>
          </a:prstGeom>
        </p:spPr>
      </p:pic>
      <p:sp>
        <p:nvSpPr>
          <p:cNvPr id="24" name="Text 16"/>
          <p:cNvSpPr/>
          <p:nvPr/>
        </p:nvSpPr>
        <p:spPr>
          <a:xfrm>
            <a:off x="4114800" y="777240"/>
            <a:ext cx="914400" cy="201168"/>
          </a:xfrm>
          <a:prstGeom prst="rect">
            <a:avLst/>
          </a:prstGeom>
          <a:noFill/>
          <a:ln/>
        </p:spPr>
        <p:txBody>
          <a:bodyPr wrap="square" lIns="0" tIns="0" rIns="0" bIns="0" rtlCol="0" anchor="ctr"/>
          <a:lstStyle/>
          <a:p>
            <a:pPr marL="0" indent="0">
              <a:buNone/>
            </a:pPr>
            <a:r>
              <a:rPr lang="en-US" sz="850" b="1" dirty="0">
                <a:solidFill>
                  <a:srgbClr val="2E3D2F"/>
                </a:solidFill>
              </a:rPr>
              <a:t>Observed:</a:t>
            </a:r>
            <a:endParaRPr lang="en-US" sz="850" dirty="0"/>
          </a:p>
        </p:txBody>
      </p:sp>
      <p:sp>
        <p:nvSpPr>
          <p:cNvPr id="25" name="Text 17"/>
          <p:cNvSpPr/>
          <p:nvPr/>
        </p:nvSpPr>
        <p:spPr>
          <a:xfrm>
            <a:off x="5029200" y="777240"/>
            <a:ext cx="6912864" cy="201168"/>
          </a:xfrm>
          <a:prstGeom prst="rect">
            <a:avLst/>
          </a:prstGeom>
          <a:noFill/>
          <a:ln/>
        </p:spPr>
        <p:txBody>
          <a:bodyPr wrap="square" lIns="0" tIns="0" rIns="0" bIns="0" rtlCol="0" anchor="ctr"/>
          <a:lstStyle/>
          <a:p>
            <a:pPr marL="0" indent="0">
              <a:buNone/>
            </a:pPr>
            <a:r>
              <a:rPr lang="en-US" sz="850" i="1" dirty="0">
                <a:solidFill>
                  <a:srgbClr val="5A6E5B"/>
                </a:solidFill>
              </a:rPr>
              <a:t>June 5, 2025 — 10:45 AM</a:t>
            </a:r>
            <a:endParaRPr lang="en-US" sz="850" dirty="0"/>
          </a:p>
        </p:txBody>
      </p:sp>
      <p:sp>
        <p:nvSpPr>
          <p:cNvPr id="26" name="Shape 18"/>
          <p:cNvSpPr/>
          <p:nvPr/>
        </p:nvSpPr>
        <p:spPr>
          <a:xfrm>
            <a:off x="3840480" y="1078992"/>
            <a:ext cx="8119872" cy="2286000"/>
          </a:xfrm>
          <a:prstGeom prst="roundRect">
            <a:avLst>
              <a:gd name="adj" fmla="val 3200"/>
            </a:avLst>
          </a:prstGeom>
          <a:solidFill>
            <a:srgbClr val="FFFFFF"/>
          </a:solidFill>
          <a:ln w="7620">
            <a:solidFill>
              <a:srgbClr val="DDD8CE"/>
            </a:solidFill>
            <a:prstDash val="solid"/>
          </a:ln>
          <a:effectLst>
            <a:outerShdw blurRad="101600" dist="38100" dir="8100000" algn="bl" rotWithShape="0">
              <a:srgbClr val="000000">
                <a:alpha val="15000"/>
              </a:srgbClr>
            </a:outerShdw>
          </a:effectLst>
        </p:spPr>
      </p:sp>
      <p:sp>
        <p:nvSpPr>
          <p:cNvPr id="27" name="Shape 19"/>
          <p:cNvSpPr/>
          <p:nvPr/>
        </p:nvSpPr>
        <p:spPr>
          <a:xfrm>
            <a:off x="3840480" y="1078992"/>
            <a:ext cx="59436" cy="2286000"/>
          </a:xfrm>
          <a:prstGeom prst="rect">
            <a:avLst/>
          </a:prstGeom>
          <a:solidFill>
            <a:srgbClr val="1565C0"/>
          </a:solidFill>
          <a:ln w="12700">
            <a:solidFill>
              <a:srgbClr val="1565C0"/>
            </a:solidFill>
            <a:prstDash val="solid"/>
          </a:ln>
        </p:spPr>
      </p:sp>
      <p:pic>
        <p:nvPicPr>
          <p:cNvPr id="28" name="Image 6" descr="preencoded.png"/>
          <p:cNvPicPr>
            <a:picLocks noChangeAspect="1"/>
          </p:cNvPicPr>
          <p:nvPr/>
        </p:nvPicPr>
        <p:blipFill>
          <a:blip r:embed="rId9"/>
          <a:stretch>
            <a:fillRect/>
          </a:stretch>
        </p:blipFill>
        <p:spPr>
          <a:xfrm>
            <a:off x="4041648" y="1170432"/>
            <a:ext cx="201168" cy="201168"/>
          </a:xfrm>
          <a:prstGeom prst="rect">
            <a:avLst/>
          </a:prstGeom>
        </p:spPr>
      </p:pic>
      <p:sp>
        <p:nvSpPr>
          <p:cNvPr id="29" name="Text 20"/>
          <p:cNvSpPr/>
          <p:nvPr/>
        </p:nvSpPr>
        <p:spPr>
          <a:xfrm>
            <a:off x="4315968" y="1152144"/>
            <a:ext cx="7571232" cy="256032"/>
          </a:xfrm>
          <a:prstGeom prst="rect">
            <a:avLst/>
          </a:prstGeom>
          <a:noFill/>
          <a:ln/>
        </p:spPr>
        <p:txBody>
          <a:bodyPr wrap="square" lIns="0" tIns="0" rIns="0" bIns="0" rtlCol="0" anchor="ctr"/>
          <a:lstStyle/>
          <a:p>
            <a:pPr marL="0" indent="0">
              <a:buNone/>
            </a:pPr>
            <a:r>
              <a:rPr lang="en-US" sz="1100" b="1" dirty="0">
                <a:solidFill>
                  <a:srgbClr val="2E3D2F"/>
                </a:solidFill>
                <a:latin typeface="Georgia" pitchFamily="34" charset="0"/>
                <a:ea typeface="Georgia" pitchFamily="34" charset="-122"/>
                <a:cs typeface="Georgia" pitchFamily="34" charset="-120"/>
              </a:rPr>
              <a:t>Observation Note</a:t>
            </a:r>
            <a:endParaRPr lang="en-US" sz="1100" dirty="0"/>
          </a:p>
        </p:txBody>
      </p:sp>
      <p:sp>
        <p:nvSpPr>
          <p:cNvPr id="30" name="Text 21"/>
          <p:cNvSpPr/>
          <p:nvPr/>
        </p:nvSpPr>
        <p:spPr>
          <a:xfrm>
            <a:off x="4041648" y="1444752"/>
            <a:ext cx="7845552" cy="1847088"/>
          </a:xfrm>
          <a:prstGeom prst="rect">
            <a:avLst/>
          </a:prstGeom>
          <a:noFill/>
          <a:ln/>
        </p:spPr>
        <p:txBody>
          <a:bodyPr wrap="square" lIns="0" tIns="0" rIns="0" bIns="0" rtlCol="0" anchor="ctr"/>
          <a:lstStyle/>
          <a:p>
            <a:pPr marL="0" indent="0">
              <a:buNone/>
            </a:pPr>
            <a:r>
              <a:rPr lang="en-US" sz="950" dirty="0">
                <a:solidFill>
                  <a:srgbClr val="5A6E5B"/>
                </a:solidFill>
              </a:rPr>
              <a:t>During a walkthrough, 5 out of 8 taps across the 1st and 3nd floors of the Main Wing were dripping continuously. Two taps had no washers and produced a steady stream. At 30–45 litres per hour per tap, combined daily water loss could exceed 3,000 litres. No maintenance requisition was posted at any location. Mineral staining and watermarks on basins indicate months of unaddressed leakage.</a:t>
            </a:r>
            <a:endParaRPr lang="en-US" sz="950" dirty="0"/>
          </a:p>
        </p:txBody>
      </p:sp>
      <p:sp>
        <p:nvSpPr>
          <p:cNvPr id="31" name="Shape 22"/>
          <p:cNvSpPr/>
          <p:nvPr/>
        </p:nvSpPr>
        <p:spPr>
          <a:xfrm>
            <a:off x="3840480" y="3474720"/>
            <a:ext cx="8119872" cy="0"/>
          </a:xfrm>
          <a:prstGeom prst="line">
            <a:avLst/>
          </a:prstGeom>
          <a:noFill/>
          <a:ln w="8890">
            <a:solidFill>
              <a:srgbClr val="DDD8CE"/>
            </a:solidFill>
            <a:prstDash val="solid"/>
          </a:ln>
        </p:spPr>
      </p:sp>
      <p:pic>
        <p:nvPicPr>
          <p:cNvPr id="32" name="Image 7" descr="preencoded.png"/>
          <p:cNvPicPr>
            <a:picLocks noChangeAspect="1"/>
          </p:cNvPicPr>
          <p:nvPr/>
        </p:nvPicPr>
        <p:blipFill>
          <a:blip r:embed="rId10"/>
          <a:stretch>
            <a:fillRect/>
          </a:stretch>
        </p:blipFill>
        <p:spPr>
          <a:xfrm>
            <a:off x="3840480" y="3584448"/>
            <a:ext cx="201168" cy="201168"/>
          </a:xfrm>
          <a:prstGeom prst="rect">
            <a:avLst/>
          </a:prstGeom>
        </p:spPr>
      </p:pic>
      <p:sp>
        <p:nvSpPr>
          <p:cNvPr id="33" name="Text 23"/>
          <p:cNvSpPr/>
          <p:nvPr/>
        </p:nvSpPr>
        <p:spPr>
          <a:xfrm>
            <a:off x="4114800" y="3584448"/>
            <a:ext cx="1508760" cy="201168"/>
          </a:xfrm>
          <a:prstGeom prst="rect">
            <a:avLst/>
          </a:prstGeom>
          <a:noFill/>
          <a:ln/>
        </p:spPr>
        <p:txBody>
          <a:bodyPr wrap="square" lIns="0" tIns="0" rIns="0" bIns="0" rtlCol="0" anchor="ctr"/>
          <a:lstStyle/>
          <a:p>
            <a:pPr marL="0" indent="0">
              <a:buNone/>
            </a:pPr>
            <a:r>
              <a:rPr lang="en-US" sz="850" b="1" dirty="0">
                <a:solidFill>
                  <a:srgbClr val="2E3D2F"/>
                </a:solidFill>
              </a:rPr>
              <a:t>Who is Affected:</a:t>
            </a:r>
            <a:endParaRPr lang="en-US" sz="850" dirty="0"/>
          </a:p>
        </p:txBody>
      </p:sp>
      <p:sp>
        <p:nvSpPr>
          <p:cNvPr id="34" name="Text 24"/>
          <p:cNvSpPr/>
          <p:nvPr/>
        </p:nvSpPr>
        <p:spPr>
          <a:xfrm>
            <a:off x="5623560" y="3584448"/>
            <a:ext cx="6318504" cy="201168"/>
          </a:xfrm>
          <a:prstGeom prst="rect">
            <a:avLst/>
          </a:prstGeom>
          <a:noFill/>
          <a:ln/>
        </p:spPr>
        <p:txBody>
          <a:bodyPr wrap="square" lIns="0" tIns="0" rIns="0" bIns="0" rtlCol="0" anchor="ctr"/>
          <a:lstStyle/>
          <a:p>
            <a:pPr marL="0" indent="0">
              <a:buNone/>
            </a:pPr>
            <a:r>
              <a:rPr lang="en-US" sz="850" dirty="0">
                <a:solidFill>
                  <a:srgbClr val="5A6E5B"/>
                </a:solidFill>
              </a:rPr>
              <a:t>Campus water management, utility budget, and the local water supply system.</a:t>
            </a:r>
            <a:endParaRPr lang="en-US" sz="850" dirty="0"/>
          </a:p>
        </p:txBody>
      </p:sp>
      <p:sp>
        <p:nvSpPr>
          <p:cNvPr id="35" name="Shape 25"/>
          <p:cNvSpPr/>
          <p:nvPr/>
        </p:nvSpPr>
        <p:spPr>
          <a:xfrm>
            <a:off x="3840480" y="3886200"/>
            <a:ext cx="8119872" cy="2651760"/>
          </a:xfrm>
          <a:prstGeom prst="roundRect">
            <a:avLst>
              <a:gd name="adj" fmla="val 3103"/>
            </a:avLst>
          </a:prstGeom>
          <a:solidFill>
            <a:srgbClr val="1A3A1F"/>
          </a:solidFill>
          <a:ln w="10160">
            <a:solidFill>
              <a:srgbClr val="1565C0"/>
            </a:solidFill>
            <a:prstDash val="solid"/>
          </a:ln>
          <a:effectLst>
            <a:outerShdw blurRad="101600" dist="38100" dir="8100000" algn="bl" rotWithShape="0">
              <a:srgbClr val="000000">
                <a:alpha val="15000"/>
              </a:srgbClr>
            </a:outerShdw>
          </a:effectLst>
        </p:spPr>
      </p:sp>
      <p:pic>
        <p:nvPicPr>
          <p:cNvPr id="36" name="Image 8" descr="preencoded.png"/>
          <p:cNvPicPr>
            <a:picLocks noChangeAspect="1"/>
          </p:cNvPicPr>
          <p:nvPr/>
        </p:nvPicPr>
        <p:blipFill>
          <a:blip r:embed="rId9">
            <a:alphaModFix amt="22000"/>
          </a:blip>
          <a:stretch>
            <a:fillRect/>
          </a:stretch>
        </p:blipFill>
        <p:spPr>
          <a:xfrm>
            <a:off x="10497312" y="4005072"/>
            <a:ext cx="1280160" cy="1280160"/>
          </a:xfrm>
          <a:prstGeom prst="rect">
            <a:avLst/>
          </a:prstGeom>
        </p:spPr>
      </p:pic>
      <p:sp>
        <p:nvSpPr>
          <p:cNvPr id="37" name="Shape 26"/>
          <p:cNvSpPr/>
          <p:nvPr/>
        </p:nvSpPr>
        <p:spPr>
          <a:xfrm>
            <a:off x="4041648" y="4078224"/>
            <a:ext cx="1755648" cy="329184"/>
          </a:xfrm>
          <a:prstGeom prst="roundRect">
            <a:avLst>
              <a:gd name="adj" fmla="val 16667"/>
            </a:avLst>
          </a:prstGeom>
          <a:solidFill>
            <a:srgbClr val="D97706"/>
          </a:solidFill>
          <a:ln w="12700">
            <a:solidFill>
              <a:srgbClr val="D97706"/>
            </a:solidFill>
            <a:prstDash val="solid"/>
          </a:ln>
        </p:spPr>
      </p:sp>
      <p:sp>
        <p:nvSpPr>
          <p:cNvPr id="38" name="Text 27"/>
          <p:cNvSpPr/>
          <p:nvPr/>
        </p:nvSpPr>
        <p:spPr>
          <a:xfrm>
            <a:off x="4041648" y="4078224"/>
            <a:ext cx="1755648" cy="329184"/>
          </a:xfrm>
          <a:prstGeom prst="rect">
            <a:avLst/>
          </a:prstGeom>
          <a:noFill/>
          <a:ln/>
        </p:spPr>
        <p:txBody>
          <a:bodyPr wrap="square" lIns="0" tIns="0" rIns="0" bIns="0" rtlCol="0" anchor="ctr"/>
          <a:lstStyle/>
          <a:p>
            <a:pPr marL="0" indent="0" algn="ctr">
              <a:buNone/>
            </a:pPr>
            <a:r>
              <a:rPr lang="en-US" sz="850" b="1" dirty="0">
                <a:solidFill>
                  <a:srgbClr val="FFFFFF"/>
                </a:solidFill>
              </a:rPr>
              <a:t>IMPACT: MEDIUM</a:t>
            </a:r>
            <a:endParaRPr lang="en-US" sz="850" dirty="0"/>
          </a:p>
        </p:txBody>
      </p:sp>
      <p:sp>
        <p:nvSpPr>
          <p:cNvPr id="39" name="Text 28"/>
          <p:cNvSpPr/>
          <p:nvPr/>
        </p:nvSpPr>
        <p:spPr>
          <a:xfrm>
            <a:off x="5943600" y="4096512"/>
            <a:ext cx="1463040" cy="274320"/>
          </a:xfrm>
          <a:prstGeom prst="rect">
            <a:avLst/>
          </a:prstGeom>
          <a:noFill/>
          <a:ln/>
        </p:spPr>
        <p:txBody>
          <a:bodyPr wrap="square" lIns="0" tIns="0" rIns="0" bIns="0" rtlCol="0" anchor="ctr"/>
          <a:lstStyle/>
          <a:p>
            <a:pPr marL="0" indent="0">
              <a:buNone/>
            </a:pPr>
            <a:r>
              <a:rPr lang="en-US" sz="950" b="1" dirty="0">
                <a:solidFill>
                  <a:srgbClr val="6BBFB5"/>
                </a:solidFill>
              </a:rPr>
              <a:t>Reasoning:</a:t>
            </a:r>
            <a:endParaRPr lang="en-US" sz="950" dirty="0"/>
          </a:p>
        </p:txBody>
      </p:sp>
      <p:sp>
        <p:nvSpPr>
          <p:cNvPr id="40" name="Text 29"/>
          <p:cNvSpPr/>
          <p:nvPr/>
        </p:nvSpPr>
        <p:spPr>
          <a:xfrm>
            <a:off x="4041648" y="4480560"/>
            <a:ext cx="7717536" cy="1920240"/>
          </a:xfrm>
          <a:prstGeom prst="rect">
            <a:avLst/>
          </a:prstGeom>
          <a:noFill/>
          <a:ln/>
        </p:spPr>
        <p:txBody>
          <a:bodyPr wrap="square" lIns="0" tIns="0" rIns="0" bIns="0" rtlCol="0" anchor="ctr"/>
          <a:lstStyle/>
          <a:p>
            <a:pPr marL="0" indent="0">
              <a:buNone/>
            </a:pPr>
            <a:r>
              <a:rPr lang="en-US" sz="950" dirty="0">
                <a:solidFill>
                  <a:srgbClr val="C8E6C9"/>
                </a:solidFill>
              </a:rPr>
              <a:t>Continuous leakage causes measurable, preventable water loss critical in water-stressed Pune. Inflated utility bills represent avoidable expenditure that compounds over time. The absence of a maintenance-response system signals a systemic gap in facilities management that, if left unaddressed, will escalate costs and infrastructure deterioration.</a:t>
            </a:r>
            <a:endParaRPr lang="en-US" sz="950" dirty="0"/>
          </a:p>
        </p:txBody>
      </p:sp>
      <p:sp>
        <p:nvSpPr>
          <p:cNvPr id="41" name="Shape 30"/>
          <p:cNvSpPr/>
          <p:nvPr/>
        </p:nvSpPr>
        <p:spPr>
          <a:xfrm>
            <a:off x="0" y="6675120"/>
            <a:ext cx="12161520" cy="182880"/>
          </a:xfrm>
          <a:prstGeom prst="rect">
            <a:avLst/>
          </a:prstGeom>
          <a:solidFill>
            <a:srgbClr val="050E06"/>
          </a:solidFill>
          <a:ln w="12700">
            <a:solidFill>
              <a:srgbClr val="050E06"/>
            </a:solidFill>
            <a:prstDash val="solid"/>
          </a:ln>
        </p:spPr>
      </p:sp>
      <p:sp>
        <p:nvSpPr>
          <p:cNvPr id="42" name="Text 31"/>
          <p:cNvSpPr/>
          <p:nvPr/>
        </p:nvSpPr>
        <p:spPr>
          <a:xfrm>
            <a:off x="0" y="6675120"/>
            <a:ext cx="12161520" cy="182880"/>
          </a:xfrm>
          <a:prstGeom prst="rect">
            <a:avLst/>
          </a:prstGeom>
          <a:noFill/>
          <a:ln/>
        </p:spPr>
        <p:txBody>
          <a:bodyPr wrap="square" lIns="0" tIns="0" rIns="0" bIns="0" rtlCol="0" anchor="ctr"/>
          <a:lstStyle/>
          <a:p>
            <a:pPr marL="0" indent="0" algn="ctr">
              <a:buNone/>
            </a:pPr>
            <a:r>
              <a:rPr lang="en-US" sz="650" dirty="0">
                <a:solidFill>
                  <a:srgbClr val="6BBFB5"/>
                </a:solidFill>
              </a:rPr>
              <a:t>AKI's Poona College  ·  Campus Sustainability Audit  ·  June 2025  ·  Intern: Zaid Khan</a:t>
            </a:r>
            <a:endParaRPr lang="en-US" sz="6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1E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566160" cy="6858000"/>
          </a:xfrm>
          <a:prstGeom prst="rect">
            <a:avLst/>
          </a:prstGeom>
        </p:spPr>
      </p:pic>
      <p:sp>
        <p:nvSpPr>
          <p:cNvPr id="3" name="Shape 0"/>
          <p:cNvSpPr/>
          <p:nvPr/>
        </p:nvSpPr>
        <p:spPr>
          <a:xfrm>
            <a:off x="0" y="0"/>
            <a:ext cx="3566160" cy="54864"/>
          </a:xfrm>
          <a:prstGeom prst="rect">
            <a:avLst/>
          </a:prstGeom>
          <a:solidFill>
            <a:srgbClr val="D97706"/>
          </a:solidFill>
          <a:ln w="12700">
            <a:solidFill>
              <a:srgbClr val="D97706"/>
            </a:solidFill>
            <a:prstDash val="solid"/>
          </a:ln>
        </p:spPr>
      </p:sp>
      <p:sp>
        <p:nvSpPr>
          <p:cNvPr id="4" name="Shape 1"/>
          <p:cNvSpPr/>
          <p:nvPr/>
        </p:nvSpPr>
        <p:spPr>
          <a:xfrm>
            <a:off x="347472" y="292608"/>
            <a:ext cx="1097280" cy="1097280"/>
          </a:xfrm>
          <a:prstGeom prst="ellipse">
            <a:avLst/>
          </a:prstGeom>
          <a:solidFill>
            <a:srgbClr val="D97706">
              <a:alpha val="85000"/>
            </a:srgbClr>
          </a:solidFill>
          <a:ln w="25400">
            <a:solidFill>
              <a:srgbClr val="D97706"/>
            </a:solidFill>
            <a:prstDash val="solid"/>
          </a:ln>
        </p:spPr>
      </p:sp>
      <p:pic>
        <p:nvPicPr>
          <p:cNvPr id="5" name="Image 1" descr="preencoded.png"/>
          <p:cNvPicPr>
            <a:picLocks noChangeAspect="1"/>
          </p:cNvPicPr>
          <p:nvPr/>
        </p:nvPicPr>
        <p:blipFill>
          <a:blip r:embed="rId4"/>
          <a:stretch>
            <a:fillRect/>
          </a:stretch>
        </p:blipFill>
        <p:spPr>
          <a:xfrm>
            <a:off x="512064" y="457200"/>
            <a:ext cx="768096" cy="768096"/>
          </a:xfrm>
          <a:prstGeom prst="rect">
            <a:avLst/>
          </a:prstGeom>
        </p:spPr>
      </p:pic>
      <p:sp>
        <p:nvSpPr>
          <p:cNvPr id="6" name="Shape 2"/>
          <p:cNvSpPr/>
          <p:nvPr/>
        </p:nvSpPr>
        <p:spPr>
          <a:xfrm>
            <a:off x="1234440" y="256032"/>
            <a:ext cx="402336" cy="402336"/>
          </a:xfrm>
          <a:prstGeom prst="ellipse">
            <a:avLst/>
          </a:prstGeom>
          <a:solidFill>
            <a:srgbClr val="D97706"/>
          </a:solidFill>
          <a:ln w="15240">
            <a:solidFill>
              <a:srgbClr val="F4F1EB"/>
            </a:solidFill>
            <a:prstDash val="solid"/>
          </a:ln>
        </p:spPr>
      </p:sp>
      <p:sp>
        <p:nvSpPr>
          <p:cNvPr id="7" name="Text 3"/>
          <p:cNvSpPr/>
          <p:nvPr/>
        </p:nvSpPr>
        <p:spPr>
          <a:xfrm>
            <a:off x="1234440" y="256032"/>
            <a:ext cx="402336" cy="402336"/>
          </a:xfrm>
          <a:prstGeom prst="rect">
            <a:avLst/>
          </a:prstGeom>
          <a:noFill/>
          <a:ln/>
        </p:spPr>
        <p:txBody>
          <a:bodyPr wrap="square" lIns="0" tIns="0" rIns="0" bIns="0" rtlCol="0" anchor="ctr"/>
          <a:lstStyle/>
          <a:p>
            <a:pPr marL="0" indent="0" algn="ctr">
              <a:buNone/>
            </a:pPr>
            <a:r>
              <a:rPr lang="en-US" sz="800" b="1" dirty="0">
                <a:solidFill>
                  <a:srgbClr val="FFFFFF"/>
                </a:solidFill>
              </a:rPr>
              <a:t>04</a:t>
            </a:r>
            <a:endParaRPr lang="en-US" sz="800" dirty="0"/>
          </a:p>
        </p:txBody>
      </p:sp>
      <p:sp>
        <p:nvSpPr>
          <p:cNvPr id="8" name="Text 4"/>
          <p:cNvSpPr/>
          <p:nvPr/>
        </p:nvSpPr>
        <p:spPr>
          <a:xfrm>
            <a:off x="201168" y="1536192"/>
            <a:ext cx="3145536" cy="1481328"/>
          </a:xfrm>
          <a:prstGeom prst="rect">
            <a:avLst/>
          </a:prstGeom>
          <a:noFill/>
          <a:ln/>
        </p:spPr>
        <p:txBody>
          <a:bodyPr wrap="square" lIns="0" tIns="0" rIns="0" bIns="0"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Vehicle Congestion &amp; Emissions Near Main Gate</a:t>
            </a:r>
            <a:endParaRPr lang="en-US" sz="1700" dirty="0"/>
          </a:p>
        </p:txBody>
      </p:sp>
      <p:sp>
        <p:nvSpPr>
          <p:cNvPr id="9" name="Shape 5"/>
          <p:cNvSpPr/>
          <p:nvPr/>
        </p:nvSpPr>
        <p:spPr>
          <a:xfrm>
            <a:off x="201168" y="3108960"/>
            <a:ext cx="2962656" cy="0"/>
          </a:xfrm>
          <a:prstGeom prst="line">
            <a:avLst/>
          </a:prstGeom>
          <a:noFill/>
          <a:ln w="8890">
            <a:solidFill>
              <a:srgbClr val="6BBFB5"/>
            </a:solidFill>
            <a:prstDash val="solid"/>
          </a:ln>
        </p:spPr>
      </p:sp>
      <p:sp>
        <p:nvSpPr>
          <p:cNvPr id="10" name="Text 6"/>
          <p:cNvSpPr/>
          <p:nvPr/>
        </p:nvSpPr>
        <p:spPr>
          <a:xfrm>
            <a:off x="201168" y="3218688"/>
            <a:ext cx="3017520" cy="182880"/>
          </a:xfrm>
          <a:prstGeom prst="rect">
            <a:avLst/>
          </a:prstGeom>
          <a:noFill/>
          <a:ln/>
        </p:spPr>
        <p:txBody>
          <a:bodyPr wrap="square" lIns="0" tIns="0" rIns="0" bIns="0" rtlCol="0" anchor="ctr"/>
          <a:lstStyle/>
          <a:p>
            <a:pPr marL="0" indent="0">
              <a:buNone/>
            </a:pPr>
            <a:r>
              <a:rPr lang="en-US" sz="650" b="1" kern="0" spc="150" dirty="0">
                <a:solidFill>
                  <a:srgbClr val="6BBFB5"/>
                </a:solidFill>
              </a:rPr>
              <a:t>SUSTAINABILITY PILLARS</a:t>
            </a:r>
            <a:endParaRPr lang="en-US" sz="650" dirty="0"/>
          </a:p>
        </p:txBody>
      </p:sp>
      <p:sp>
        <p:nvSpPr>
          <p:cNvPr id="11" name="Shape 7"/>
          <p:cNvSpPr/>
          <p:nvPr/>
        </p:nvSpPr>
        <p:spPr>
          <a:xfrm>
            <a:off x="201168" y="3474720"/>
            <a:ext cx="3035808" cy="365760"/>
          </a:xfrm>
          <a:prstGeom prst="roundRect">
            <a:avLst>
              <a:gd name="adj" fmla="val 15000"/>
            </a:avLst>
          </a:prstGeom>
          <a:solidFill>
            <a:srgbClr val="1B5E20">
              <a:alpha val="78000"/>
            </a:srgbClr>
          </a:solidFill>
          <a:ln w="6350">
            <a:solidFill>
              <a:srgbClr val="1B5E20"/>
            </a:solidFill>
            <a:prstDash val="solid"/>
          </a:ln>
        </p:spPr>
      </p:sp>
      <p:pic>
        <p:nvPicPr>
          <p:cNvPr id="12" name="Image 2" descr="preencoded.png"/>
          <p:cNvPicPr>
            <a:picLocks noChangeAspect="1"/>
          </p:cNvPicPr>
          <p:nvPr/>
        </p:nvPicPr>
        <p:blipFill>
          <a:blip r:embed="rId5"/>
          <a:stretch>
            <a:fillRect/>
          </a:stretch>
        </p:blipFill>
        <p:spPr>
          <a:xfrm>
            <a:off x="347472" y="3557016"/>
            <a:ext cx="201168" cy="201168"/>
          </a:xfrm>
          <a:prstGeom prst="rect">
            <a:avLst/>
          </a:prstGeom>
        </p:spPr>
      </p:pic>
      <p:sp>
        <p:nvSpPr>
          <p:cNvPr id="13" name="Text 8"/>
          <p:cNvSpPr/>
          <p:nvPr/>
        </p:nvSpPr>
        <p:spPr>
          <a:xfrm>
            <a:off x="640080" y="3529584"/>
            <a:ext cx="2468880" cy="256032"/>
          </a:xfrm>
          <a:prstGeom prst="rect">
            <a:avLst/>
          </a:prstGeom>
          <a:noFill/>
          <a:ln/>
        </p:spPr>
        <p:txBody>
          <a:bodyPr wrap="square" lIns="0" tIns="0" rIns="0" bIns="0" rtlCol="0" anchor="ctr"/>
          <a:lstStyle/>
          <a:p>
            <a:pPr marL="0" indent="0">
              <a:buNone/>
            </a:pPr>
            <a:r>
              <a:rPr lang="en-US" sz="900" b="1" dirty="0">
                <a:solidFill>
                  <a:srgbClr val="FFFFFF"/>
                </a:solidFill>
              </a:rPr>
              <a:t>Environmental</a:t>
            </a:r>
            <a:endParaRPr lang="en-US" sz="900" dirty="0"/>
          </a:p>
        </p:txBody>
      </p:sp>
      <p:sp>
        <p:nvSpPr>
          <p:cNvPr id="14" name="Shape 9"/>
          <p:cNvSpPr/>
          <p:nvPr/>
        </p:nvSpPr>
        <p:spPr>
          <a:xfrm>
            <a:off x="201168" y="3950208"/>
            <a:ext cx="3035808" cy="365760"/>
          </a:xfrm>
          <a:prstGeom prst="roundRect">
            <a:avLst>
              <a:gd name="adj" fmla="val 15000"/>
            </a:avLst>
          </a:prstGeom>
          <a:solidFill>
            <a:srgbClr val="1565C0">
              <a:alpha val="78000"/>
            </a:srgbClr>
          </a:solidFill>
          <a:ln w="6350">
            <a:solidFill>
              <a:srgbClr val="1565C0"/>
            </a:solidFill>
            <a:prstDash val="solid"/>
          </a:ln>
        </p:spPr>
      </p:sp>
      <p:pic>
        <p:nvPicPr>
          <p:cNvPr id="15" name="Image 3" descr="preencoded.png"/>
          <p:cNvPicPr>
            <a:picLocks noChangeAspect="1"/>
          </p:cNvPicPr>
          <p:nvPr/>
        </p:nvPicPr>
        <p:blipFill>
          <a:blip r:embed="rId6"/>
          <a:stretch>
            <a:fillRect/>
          </a:stretch>
        </p:blipFill>
        <p:spPr>
          <a:xfrm>
            <a:off x="347472" y="4032504"/>
            <a:ext cx="201168" cy="201168"/>
          </a:xfrm>
          <a:prstGeom prst="rect">
            <a:avLst/>
          </a:prstGeom>
        </p:spPr>
      </p:pic>
      <p:sp>
        <p:nvSpPr>
          <p:cNvPr id="16" name="Text 10"/>
          <p:cNvSpPr/>
          <p:nvPr/>
        </p:nvSpPr>
        <p:spPr>
          <a:xfrm>
            <a:off x="640080" y="4005072"/>
            <a:ext cx="2468880" cy="256032"/>
          </a:xfrm>
          <a:prstGeom prst="rect">
            <a:avLst/>
          </a:prstGeom>
          <a:noFill/>
          <a:ln/>
        </p:spPr>
        <p:txBody>
          <a:bodyPr wrap="square" lIns="0" tIns="0" rIns="0" bIns="0" rtlCol="0" anchor="ctr"/>
          <a:lstStyle/>
          <a:p>
            <a:pPr marL="0" indent="0">
              <a:buNone/>
            </a:pPr>
            <a:r>
              <a:rPr lang="en-US" sz="900" b="1" dirty="0">
                <a:solidFill>
                  <a:srgbClr val="FFFFFF"/>
                </a:solidFill>
              </a:rPr>
              <a:t>Social</a:t>
            </a:r>
            <a:endParaRPr lang="en-US" sz="900" dirty="0"/>
          </a:p>
        </p:txBody>
      </p:sp>
      <p:sp>
        <p:nvSpPr>
          <p:cNvPr id="17" name="Text 11"/>
          <p:cNvSpPr/>
          <p:nvPr/>
        </p:nvSpPr>
        <p:spPr>
          <a:xfrm>
            <a:off x="201168" y="6455664"/>
            <a:ext cx="3035808" cy="201168"/>
          </a:xfrm>
          <a:prstGeom prst="rect">
            <a:avLst/>
          </a:prstGeom>
          <a:noFill/>
          <a:ln/>
        </p:spPr>
        <p:txBody>
          <a:bodyPr wrap="square" lIns="0" tIns="0" rIns="0" bIns="0" rtlCol="0" anchor="ctr"/>
          <a:lstStyle/>
          <a:p>
            <a:pPr marL="0" indent="0" algn="ctr">
              <a:buNone/>
            </a:pPr>
            <a:r>
              <a:rPr lang="en-US" sz="800" dirty="0">
                <a:solidFill>
                  <a:srgbClr val="6BBFB5"/>
                </a:solidFill>
              </a:rPr>
              <a:t>4 of 5</a:t>
            </a:r>
            <a:endParaRPr lang="en-US" sz="800" dirty="0"/>
          </a:p>
        </p:txBody>
      </p:sp>
      <p:sp>
        <p:nvSpPr>
          <p:cNvPr id="18" name="Text 12"/>
          <p:cNvSpPr/>
          <p:nvPr/>
        </p:nvSpPr>
        <p:spPr>
          <a:xfrm>
            <a:off x="3840480" y="182880"/>
            <a:ext cx="8119872" cy="182880"/>
          </a:xfrm>
          <a:prstGeom prst="rect">
            <a:avLst/>
          </a:prstGeom>
          <a:noFill/>
          <a:ln/>
        </p:spPr>
        <p:txBody>
          <a:bodyPr wrap="square" lIns="0" tIns="0" rIns="0" bIns="0" rtlCol="0" anchor="ctr"/>
          <a:lstStyle/>
          <a:p>
            <a:pPr marL="0" indent="0">
              <a:buNone/>
            </a:pPr>
            <a:r>
              <a:rPr lang="en-US" sz="750" dirty="0">
                <a:solidFill>
                  <a:srgbClr val="5A6E5B"/>
                </a:solidFill>
              </a:rPr>
              <a:t>Campus Sustainability Audit  /  AKI's Poona College</a:t>
            </a:r>
            <a:endParaRPr lang="en-US" sz="750" dirty="0"/>
          </a:p>
        </p:txBody>
      </p:sp>
      <p:sp>
        <p:nvSpPr>
          <p:cNvPr id="19" name="Shape 13"/>
          <p:cNvSpPr/>
          <p:nvPr/>
        </p:nvSpPr>
        <p:spPr>
          <a:xfrm>
            <a:off x="3840480" y="402336"/>
            <a:ext cx="8119872" cy="0"/>
          </a:xfrm>
          <a:prstGeom prst="line">
            <a:avLst/>
          </a:prstGeom>
          <a:noFill/>
          <a:ln w="8890">
            <a:solidFill>
              <a:srgbClr val="D5CFC4"/>
            </a:solidFill>
            <a:prstDash val="solid"/>
          </a:ln>
        </p:spPr>
      </p:sp>
      <p:pic>
        <p:nvPicPr>
          <p:cNvPr id="20" name="Image 4" descr="preencoded.png"/>
          <p:cNvPicPr>
            <a:picLocks noChangeAspect="1"/>
          </p:cNvPicPr>
          <p:nvPr/>
        </p:nvPicPr>
        <p:blipFill>
          <a:blip r:embed="rId7"/>
          <a:stretch>
            <a:fillRect/>
          </a:stretch>
        </p:blipFill>
        <p:spPr>
          <a:xfrm>
            <a:off x="3840480" y="521208"/>
            <a:ext cx="201168" cy="201168"/>
          </a:xfrm>
          <a:prstGeom prst="rect">
            <a:avLst/>
          </a:prstGeom>
        </p:spPr>
      </p:pic>
      <p:sp>
        <p:nvSpPr>
          <p:cNvPr id="21" name="Text 14"/>
          <p:cNvSpPr/>
          <p:nvPr/>
        </p:nvSpPr>
        <p:spPr>
          <a:xfrm>
            <a:off x="4114800" y="521208"/>
            <a:ext cx="914400" cy="201168"/>
          </a:xfrm>
          <a:prstGeom prst="rect">
            <a:avLst/>
          </a:prstGeom>
          <a:noFill/>
          <a:ln/>
        </p:spPr>
        <p:txBody>
          <a:bodyPr wrap="square" lIns="0" tIns="0" rIns="0" bIns="0" rtlCol="0" anchor="ctr"/>
          <a:lstStyle/>
          <a:p>
            <a:pPr marL="0" indent="0">
              <a:buNone/>
            </a:pPr>
            <a:r>
              <a:rPr lang="en-US" sz="850" b="1" dirty="0">
                <a:solidFill>
                  <a:srgbClr val="2E3D2F"/>
                </a:solidFill>
              </a:rPr>
              <a:t>Location:</a:t>
            </a:r>
            <a:endParaRPr lang="en-US" sz="850" dirty="0"/>
          </a:p>
        </p:txBody>
      </p:sp>
      <p:sp>
        <p:nvSpPr>
          <p:cNvPr id="22" name="Text 15"/>
          <p:cNvSpPr/>
          <p:nvPr/>
        </p:nvSpPr>
        <p:spPr>
          <a:xfrm>
            <a:off x="5029200" y="521208"/>
            <a:ext cx="6912864" cy="201168"/>
          </a:xfrm>
          <a:prstGeom prst="rect">
            <a:avLst/>
          </a:prstGeom>
          <a:noFill/>
          <a:ln/>
        </p:spPr>
        <p:txBody>
          <a:bodyPr wrap="square" lIns="0" tIns="0" rIns="0" bIns="0" rtlCol="0" anchor="ctr"/>
          <a:lstStyle/>
          <a:p>
            <a:pPr marL="0" indent="0">
              <a:buNone/>
            </a:pPr>
            <a:r>
              <a:rPr lang="en-US" sz="850" dirty="0">
                <a:solidFill>
                  <a:srgbClr val="5A6E5B"/>
                </a:solidFill>
              </a:rPr>
              <a:t>Main Gate Entry &amp; Surrounding Road</a:t>
            </a:r>
            <a:endParaRPr lang="en-US" sz="850" dirty="0"/>
          </a:p>
        </p:txBody>
      </p:sp>
      <p:pic>
        <p:nvPicPr>
          <p:cNvPr id="23" name="Image 5" descr="preencoded.png"/>
          <p:cNvPicPr>
            <a:picLocks noChangeAspect="1"/>
          </p:cNvPicPr>
          <p:nvPr/>
        </p:nvPicPr>
        <p:blipFill>
          <a:blip r:embed="rId8"/>
          <a:stretch>
            <a:fillRect/>
          </a:stretch>
        </p:blipFill>
        <p:spPr>
          <a:xfrm>
            <a:off x="3840480" y="777240"/>
            <a:ext cx="201168" cy="201168"/>
          </a:xfrm>
          <a:prstGeom prst="rect">
            <a:avLst/>
          </a:prstGeom>
        </p:spPr>
      </p:pic>
      <p:sp>
        <p:nvSpPr>
          <p:cNvPr id="24" name="Text 16"/>
          <p:cNvSpPr/>
          <p:nvPr/>
        </p:nvSpPr>
        <p:spPr>
          <a:xfrm>
            <a:off x="4114800" y="777240"/>
            <a:ext cx="914400" cy="201168"/>
          </a:xfrm>
          <a:prstGeom prst="rect">
            <a:avLst/>
          </a:prstGeom>
          <a:noFill/>
          <a:ln/>
        </p:spPr>
        <p:txBody>
          <a:bodyPr wrap="square" lIns="0" tIns="0" rIns="0" bIns="0" rtlCol="0" anchor="ctr"/>
          <a:lstStyle/>
          <a:p>
            <a:pPr marL="0" indent="0">
              <a:buNone/>
            </a:pPr>
            <a:r>
              <a:rPr lang="en-US" sz="850" b="1" dirty="0">
                <a:solidFill>
                  <a:srgbClr val="2E3D2F"/>
                </a:solidFill>
              </a:rPr>
              <a:t>Observed:</a:t>
            </a:r>
            <a:endParaRPr lang="en-US" sz="850" dirty="0"/>
          </a:p>
        </p:txBody>
      </p:sp>
      <p:sp>
        <p:nvSpPr>
          <p:cNvPr id="25" name="Text 17"/>
          <p:cNvSpPr/>
          <p:nvPr/>
        </p:nvSpPr>
        <p:spPr>
          <a:xfrm>
            <a:off x="5029200" y="777240"/>
            <a:ext cx="6912864" cy="201168"/>
          </a:xfrm>
          <a:prstGeom prst="rect">
            <a:avLst/>
          </a:prstGeom>
          <a:noFill/>
          <a:ln/>
        </p:spPr>
        <p:txBody>
          <a:bodyPr wrap="square" lIns="0" tIns="0" rIns="0" bIns="0" rtlCol="0" anchor="ctr"/>
          <a:lstStyle/>
          <a:p>
            <a:pPr marL="0" indent="0">
              <a:buNone/>
            </a:pPr>
            <a:r>
              <a:rPr lang="en-US" sz="850" i="1" dirty="0">
                <a:solidFill>
                  <a:srgbClr val="5A6E5B"/>
                </a:solidFill>
              </a:rPr>
              <a:t>June 5, 2025 — 8:50 – 9:20 AM</a:t>
            </a:r>
            <a:endParaRPr lang="en-US" sz="850" dirty="0"/>
          </a:p>
        </p:txBody>
      </p:sp>
      <p:sp>
        <p:nvSpPr>
          <p:cNvPr id="26" name="Shape 18"/>
          <p:cNvSpPr/>
          <p:nvPr/>
        </p:nvSpPr>
        <p:spPr>
          <a:xfrm>
            <a:off x="3840480" y="1078992"/>
            <a:ext cx="8119872" cy="2286000"/>
          </a:xfrm>
          <a:prstGeom prst="roundRect">
            <a:avLst>
              <a:gd name="adj" fmla="val 3200"/>
            </a:avLst>
          </a:prstGeom>
          <a:solidFill>
            <a:srgbClr val="FFFFFF"/>
          </a:solidFill>
          <a:ln w="7620">
            <a:solidFill>
              <a:srgbClr val="DDD8CE"/>
            </a:solidFill>
            <a:prstDash val="solid"/>
          </a:ln>
          <a:effectLst>
            <a:outerShdw blurRad="101600" dist="38100" dir="8100000" algn="bl" rotWithShape="0">
              <a:srgbClr val="000000">
                <a:alpha val="15000"/>
              </a:srgbClr>
            </a:outerShdw>
          </a:effectLst>
        </p:spPr>
      </p:sp>
      <p:sp>
        <p:nvSpPr>
          <p:cNvPr id="27" name="Shape 19"/>
          <p:cNvSpPr/>
          <p:nvPr/>
        </p:nvSpPr>
        <p:spPr>
          <a:xfrm>
            <a:off x="3840480" y="1078992"/>
            <a:ext cx="59436" cy="2286000"/>
          </a:xfrm>
          <a:prstGeom prst="rect">
            <a:avLst/>
          </a:prstGeom>
          <a:solidFill>
            <a:srgbClr val="D97706"/>
          </a:solidFill>
          <a:ln w="12700">
            <a:solidFill>
              <a:srgbClr val="D97706"/>
            </a:solidFill>
            <a:prstDash val="solid"/>
          </a:ln>
        </p:spPr>
      </p:sp>
      <p:pic>
        <p:nvPicPr>
          <p:cNvPr id="28" name="Image 6" descr="preencoded.png"/>
          <p:cNvPicPr>
            <a:picLocks noChangeAspect="1"/>
          </p:cNvPicPr>
          <p:nvPr/>
        </p:nvPicPr>
        <p:blipFill>
          <a:blip r:embed="rId9"/>
          <a:stretch>
            <a:fillRect/>
          </a:stretch>
        </p:blipFill>
        <p:spPr>
          <a:xfrm>
            <a:off x="4041648" y="1170432"/>
            <a:ext cx="201168" cy="201168"/>
          </a:xfrm>
          <a:prstGeom prst="rect">
            <a:avLst/>
          </a:prstGeom>
        </p:spPr>
      </p:pic>
      <p:sp>
        <p:nvSpPr>
          <p:cNvPr id="29" name="Text 20"/>
          <p:cNvSpPr/>
          <p:nvPr/>
        </p:nvSpPr>
        <p:spPr>
          <a:xfrm>
            <a:off x="4315968" y="1152144"/>
            <a:ext cx="7571232" cy="256032"/>
          </a:xfrm>
          <a:prstGeom prst="rect">
            <a:avLst/>
          </a:prstGeom>
          <a:noFill/>
          <a:ln/>
        </p:spPr>
        <p:txBody>
          <a:bodyPr wrap="square" lIns="0" tIns="0" rIns="0" bIns="0" rtlCol="0" anchor="ctr"/>
          <a:lstStyle/>
          <a:p>
            <a:pPr marL="0" indent="0">
              <a:buNone/>
            </a:pPr>
            <a:r>
              <a:rPr lang="en-US" sz="1100" b="1" dirty="0">
                <a:solidFill>
                  <a:srgbClr val="2E3D2F"/>
                </a:solidFill>
                <a:latin typeface="Georgia" pitchFamily="34" charset="0"/>
                <a:ea typeface="Georgia" pitchFamily="34" charset="-122"/>
                <a:cs typeface="Georgia" pitchFamily="34" charset="-120"/>
              </a:rPr>
              <a:t>Observation Note</a:t>
            </a:r>
            <a:endParaRPr lang="en-US" sz="1100" dirty="0"/>
          </a:p>
        </p:txBody>
      </p:sp>
      <p:sp>
        <p:nvSpPr>
          <p:cNvPr id="30" name="Text 21"/>
          <p:cNvSpPr/>
          <p:nvPr/>
        </p:nvSpPr>
        <p:spPr>
          <a:xfrm>
            <a:off x="4041648" y="1444752"/>
            <a:ext cx="7845552" cy="1847088"/>
          </a:xfrm>
          <a:prstGeom prst="rect">
            <a:avLst/>
          </a:prstGeom>
          <a:noFill/>
          <a:ln/>
        </p:spPr>
        <p:txBody>
          <a:bodyPr wrap="square" lIns="0" tIns="0" rIns="0" bIns="0" rtlCol="0" anchor="ctr"/>
          <a:lstStyle/>
          <a:p>
            <a:pPr marL="0" indent="0">
              <a:buNone/>
            </a:pPr>
            <a:r>
              <a:rPr lang="en-US" sz="950" dirty="0">
                <a:solidFill>
                  <a:srgbClr val="5A6E5B"/>
                </a:solidFill>
              </a:rPr>
              <a:t>A significant congregation of two-wheelers was observed at and around the main gate during morning peak hours. Vehicles were double-parked along the entry lane and spilling onto the adjacent road, causing a bottleneck lasting approximately 15 minutes. Many engines were left idling. No designated parking bays were marked near the gate and no traffic management signage was present. Exhaust fumes were visibly dense at ground level.</a:t>
            </a:r>
            <a:endParaRPr lang="en-US" sz="950" dirty="0"/>
          </a:p>
        </p:txBody>
      </p:sp>
      <p:sp>
        <p:nvSpPr>
          <p:cNvPr id="31" name="Shape 22"/>
          <p:cNvSpPr/>
          <p:nvPr/>
        </p:nvSpPr>
        <p:spPr>
          <a:xfrm>
            <a:off x="3840480" y="3474720"/>
            <a:ext cx="8119872" cy="0"/>
          </a:xfrm>
          <a:prstGeom prst="line">
            <a:avLst/>
          </a:prstGeom>
          <a:noFill/>
          <a:ln w="8890">
            <a:solidFill>
              <a:srgbClr val="DDD8CE"/>
            </a:solidFill>
            <a:prstDash val="solid"/>
          </a:ln>
        </p:spPr>
      </p:sp>
      <p:pic>
        <p:nvPicPr>
          <p:cNvPr id="32" name="Image 7" descr="preencoded.png"/>
          <p:cNvPicPr>
            <a:picLocks noChangeAspect="1"/>
          </p:cNvPicPr>
          <p:nvPr/>
        </p:nvPicPr>
        <p:blipFill>
          <a:blip r:embed="rId10"/>
          <a:stretch>
            <a:fillRect/>
          </a:stretch>
        </p:blipFill>
        <p:spPr>
          <a:xfrm>
            <a:off x="3840480" y="3584448"/>
            <a:ext cx="201168" cy="201168"/>
          </a:xfrm>
          <a:prstGeom prst="rect">
            <a:avLst/>
          </a:prstGeom>
        </p:spPr>
      </p:pic>
      <p:sp>
        <p:nvSpPr>
          <p:cNvPr id="33" name="Text 23"/>
          <p:cNvSpPr/>
          <p:nvPr/>
        </p:nvSpPr>
        <p:spPr>
          <a:xfrm>
            <a:off x="4114800" y="3584448"/>
            <a:ext cx="1508760" cy="201168"/>
          </a:xfrm>
          <a:prstGeom prst="rect">
            <a:avLst/>
          </a:prstGeom>
          <a:noFill/>
          <a:ln/>
        </p:spPr>
        <p:txBody>
          <a:bodyPr wrap="square" lIns="0" tIns="0" rIns="0" bIns="0" rtlCol="0" anchor="ctr"/>
          <a:lstStyle/>
          <a:p>
            <a:pPr marL="0" indent="0">
              <a:buNone/>
            </a:pPr>
            <a:r>
              <a:rPr lang="en-US" sz="850" b="1" dirty="0">
                <a:solidFill>
                  <a:srgbClr val="2E3D2F"/>
                </a:solidFill>
              </a:rPr>
              <a:t>Who is Affected:</a:t>
            </a:r>
            <a:endParaRPr lang="en-US" sz="850" dirty="0"/>
          </a:p>
        </p:txBody>
      </p:sp>
      <p:sp>
        <p:nvSpPr>
          <p:cNvPr id="34" name="Text 24"/>
          <p:cNvSpPr/>
          <p:nvPr/>
        </p:nvSpPr>
        <p:spPr>
          <a:xfrm>
            <a:off x="5623560" y="3584448"/>
            <a:ext cx="6318504" cy="201168"/>
          </a:xfrm>
          <a:prstGeom prst="rect">
            <a:avLst/>
          </a:prstGeom>
          <a:noFill/>
          <a:ln/>
        </p:spPr>
        <p:txBody>
          <a:bodyPr wrap="square" lIns="0" tIns="0" rIns="0" bIns="0" rtlCol="0" anchor="ctr"/>
          <a:lstStyle/>
          <a:p>
            <a:pPr marL="0" indent="0">
              <a:buNone/>
            </a:pPr>
            <a:r>
              <a:rPr lang="en-US" sz="850" dirty="0">
                <a:solidFill>
                  <a:srgbClr val="5A6E5B"/>
                </a:solidFill>
              </a:rPr>
              <a:t>Students, staff, pedestrians, nearby residents, and road users on the adjoining street.</a:t>
            </a:r>
            <a:endParaRPr lang="en-US" sz="850" dirty="0"/>
          </a:p>
        </p:txBody>
      </p:sp>
      <p:sp>
        <p:nvSpPr>
          <p:cNvPr id="35" name="Shape 25"/>
          <p:cNvSpPr/>
          <p:nvPr/>
        </p:nvSpPr>
        <p:spPr>
          <a:xfrm>
            <a:off x="3840480" y="3886200"/>
            <a:ext cx="8119872" cy="2651760"/>
          </a:xfrm>
          <a:prstGeom prst="roundRect">
            <a:avLst>
              <a:gd name="adj" fmla="val 3103"/>
            </a:avLst>
          </a:prstGeom>
          <a:solidFill>
            <a:srgbClr val="1A3A1F"/>
          </a:solidFill>
          <a:ln w="10160">
            <a:solidFill>
              <a:srgbClr val="D97706"/>
            </a:solidFill>
            <a:prstDash val="solid"/>
          </a:ln>
          <a:effectLst>
            <a:outerShdw blurRad="101600" dist="38100" dir="8100000" algn="bl" rotWithShape="0">
              <a:srgbClr val="000000">
                <a:alpha val="15000"/>
              </a:srgbClr>
            </a:outerShdw>
          </a:effectLst>
        </p:spPr>
      </p:sp>
      <p:pic>
        <p:nvPicPr>
          <p:cNvPr id="36" name="Image 8" descr="preencoded.png"/>
          <p:cNvPicPr>
            <a:picLocks noChangeAspect="1"/>
          </p:cNvPicPr>
          <p:nvPr/>
        </p:nvPicPr>
        <p:blipFill>
          <a:blip r:embed="rId9">
            <a:alphaModFix amt="22000"/>
          </a:blip>
          <a:stretch>
            <a:fillRect/>
          </a:stretch>
        </p:blipFill>
        <p:spPr>
          <a:xfrm>
            <a:off x="10497312" y="4005072"/>
            <a:ext cx="1280160" cy="1280160"/>
          </a:xfrm>
          <a:prstGeom prst="rect">
            <a:avLst/>
          </a:prstGeom>
        </p:spPr>
      </p:pic>
      <p:sp>
        <p:nvSpPr>
          <p:cNvPr id="37" name="Shape 26"/>
          <p:cNvSpPr/>
          <p:nvPr/>
        </p:nvSpPr>
        <p:spPr>
          <a:xfrm>
            <a:off x="4041648" y="4078224"/>
            <a:ext cx="1755648" cy="329184"/>
          </a:xfrm>
          <a:prstGeom prst="roundRect">
            <a:avLst>
              <a:gd name="adj" fmla="val 16667"/>
            </a:avLst>
          </a:prstGeom>
          <a:solidFill>
            <a:srgbClr val="D97706"/>
          </a:solidFill>
          <a:ln w="12700">
            <a:solidFill>
              <a:srgbClr val="D97706"/>
            </a:solidFill>
            <a:prstDash val="solid"/>
          </a:ln>
        </p:spPr>
      </p:sp>
      <p:sp>
        <p:nvSpPr>
          <p:cNvPr id="38" name="Text 27"/>
          <p:cNvSpPr/>
          <p:nvPr/>
        </p:nvSpPr>
        <p:spPr>
          <a:xfrm>
            <a:off x="4041648" y="4078224"/>
            <a:ext cx="1755648" cy="329184"/>
          </a:xfrm>
          <a:prstGeom prst="rect">
            <a:avLst/>
          </a:prstGeom>
          <a:noFill/>
          <a:ln/>
        </p:spPr>
        <p:txBody>
          <a:bodyPr wrap="square" lIns="0" tIns="0" rIns="0" bIns="0" rtlCol="0" anchor="ctr"/>
          <a:lstStyle/>
          <a:p>
            <a:pPr marL="0" indent="0" algn="ctr">
              <a:buNone/>
            </a:pPr>
            <a:r>
              <a:rPr lang="en-US" sz="850" b="1" dirty="0">
                <a:solidFill>
                  <a:srgbClr val="FFFFFF"/>
                </a:solidFill>
              </a:rPr>
              <a:t>IMPACT: MEDIUM</a:t>
            </a:r>
            <a:endParaRPr lang="en-US" sz="850" dirty="0"/>
          </a:p>
        </p:txBody>
      </p:sp>
      <p:sp>
        <p:nvSpPr>
          <p:cNvPr id="39" name="Text 28"/>
          <p:cNvSpPr/>
          <p:nvPr/>
        </p:nvSpPr>
        <p:spPr>
          <a:xfrm>
            <a:off x="5943600" y="4096512"/>
            <a:ext cx="1463040" cy="274320"/>
          </a:xfrm>
          <a:prstGeom prst="rect">
            <a:avLst/>
          </a:prstGeom>
          <a:noFill/>
          <a:ln/>
        </p:spPr>
        <p:txBody>
          <a:bodyPr wrap="square" lIns="0" tIns="0" rIns="0" bIns="0" rtlCol="0" anchor="ctr"/>
          <a:lstStyle/>
          <a:p>
            <a:pPr marL="0" indent="0">
              <a:buNone/>
            </a:pPr>
            <a:r>
              <a:rPr lang="en-US" sz="950" b="1" dirty="0">
                <a:solidFill>
                  <a:srgbClr val="6BBFB5"/>
                </a:solidFill>
              </a:rPr>
              <a:t>Reasoning:</a:t>
            </a:r>
            <a:endParaRPr lang="en-US" sz="950" dirty="0"/>
          </a:p>
        </p:txBody>
      </p:sp>
      <p:sp>
        <p:nvSpPr>
          <p:cNvPr id="40" name="Text 29"/>
          <p:cNvSpPr/>
          <p:nvPr/>
        </p:nvSpPr>
        <p:spPr>
          <a:xfrm>
            <a:off x="4041648" y="4480560"/>
            <a:ext cx="7717536" cy="1920240"/>
          </a:xfrm>
          <a:prstGeom prst="rect">
            <a:avLst/>
          </a:prstGeom>
          <a:noFill/>
          <a:ln/>
        </p:spPr>
        <p:txBody>
          <a:bodyPr wrap="square" lIns="0" tIns="0" rIns="0" bIns="0" rtlCol="0" anchor="ctr"/>
          <a:lstStyle/>
          <a:p>
            <a:pPr marL="0" indent="0">
              <a:buNone/>
            </a:pPr>
            <a:r>
              <a:rPr lang="en-US" sz="950" dirty="0">
                <a:solidFill>
                  <a:srgbClr val="C8E6C9"/>
                </a:solidFill>
              </a:rPr>
              <a:t>Prolonged idling contributes to localised air pollution and carbon output, with direct health implications from particulate matter exposure. The absence of parking infrastructure raises pedestrian safety concerns. Marked parking zones, staggered entry guidance, or cycle-friendly infrastructure could meaningfully reduce both emissions and social friction.</a:t>
            </a:r>
            <a:endParaRPr lang="en-US" sz="950" dirty="0"/>
          </a:p>
        </p:txBody>
      </p:sp>
      <p:sp>
        <p:nvSpPr>
          <p:cNvPr id="41" name="Shape 30"/>
          <p:cNvSpPr/>
          <p:nvPr/>
        </p:nvSpPr>
        <p:spPr>
          <a:xfrm>
            <a:off x="0" y="6675120"/>
            <a:ext cx="12161520" cy="182880"/>
          </a:xfrm>
          <a:prstGeom prst="rect">
            <a:avLst/>
          </a:prstGeom>
          <a:solidFill>
            <a:srgbClr val="050E06"/>
          </a:solidFill>
          <a:ln w="12700">
            <a:solidFill>
              <a:srgbClr val="050E06"/>
            </a:solidFill>
            <a:prstDash val="solid"/>
          </a:ln>
        </p:spPr>
      </p:sp>
      <p:sp>
        <p:nvSpPr>
          <p:cNvPr id="42" name="Text 31"/>
          <p:cNvSpPr/>
          <p:nvPr/>
        </p:nvSpPr>
        <p:spPr>
          <a:xfrm>
            <a:off x="0" y="6675120"/>
            <a:ext cx="12161520" cy="182880"/>
          </a:xfrm>
          <a:prstGeom prst="rect">
            <a:avLst/>
          </a:prstGeom>
          <a:noFill/>
          <a:ln/>
        </p:spPr>
        <p:txBody>
          <a:bodyPr wrap="square" lIns="0" tIns="0" rIns="0" bIns="0" rtlCol="0" anchor="ctr"/>
          <a:lstStyle/>
          <a:p>
            <a:pPr marL="0" indent="0" algn="ctr">
              <a:buNone/>
            </a:pPr>
            <a:r>
              <a:rPr lang="en-US" sz="650" dirty="0">
                <a:solidFill>
                  <a:srgbClr val="6BBFB5"/>
                </a:solidFill>
              </a:rPr>
              <a:t>AKI's Poona College  ·  Campus Sustainability Audit  ·  June 2025  ·  Intern: Zaid Khan</a:t>
            </a:r>
            <a:endParaRPr lang="en-US" sz="6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1EB"/>
        </a:solidFill>
        <a:effectLst/>
      </p:bgPr>
    </p:bg>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3566160" cy="6858000"/>
          </a:xfrm>
          <a:prstGeom prst="rect">
            <a:avLst/>
          </a:prstGeom>
        </p:spPr>
      </p:pic>
      <p:sp>
        <p:nvSpPr>
          <p:cNvPr id="3" name="Shape 0"/>
          <p:cNvSpPr/>
          <p:nvPr/>
        </p:nvSpPr>
        <p:spPr>
          <a:xfrm>
            <a:off x="0" y="0"/>
            <a:ext cx="3566160" cy="54864"/>
          </a:xfrm>
          <a:prstGeom prst="rect">
            <a:avLst/>
          </a:prstGeom>
          <a:solidFill>
            <a:srgbClr val="0D9488"/>
          </a:solidFill>
          <a:ln w="12700">
            <a:solidFill>
              <a:srgbClr val="0D9488"/>
            </a:solidFill>
            <a:prstDash val="solid"/>
          </a:ln>
        </p:spPr>
      </p:sp>
      <p:sp>
        <p:nvSpPr>
          <p:cNvPr id="4" name="Shape 1"/>
          <p:cNvSpPr/>
          <p:nvPr/>
        </p:nvSpPr>
        <p:spPr>
          <a:xfrm>
            <a:off x="347472" y="292608"/>
            <a:ext cx="1097280" cy="1097280"/>
          </a:xfrm>
          <a:prstGeom prst="ellipse">
            <a:avLst/>
          </a:prstGeom>
          <a:solidFill>
            <a:srgbClr val="0D9488">
              <a:alpha val="85000"/>
            </a:srgbClr>
          </a:solidFill>
          <a:ln w="25400">
            <a:solidFill>
              <a:srgbClr val="0D9488"/>
            </a:solidFill>
            <a:prstDash val="solid"/>
          </a:ln>
        </p:spPr>
      </p:sp>
      <p:pic>
        <p:nvPicPr>
          <p:cNvPr id="5" name="Image 1" descr="preencoded.png"/>
          <p:cNvPicPr>
            <a:picLocks noChangeAspect="1"/>
          </p:cNvPicPr>
          <p:nvPr/>
        </p:nvPicPr>
        <p:blipFill>
          <a:blip r:embed="rId4"/>
          <a:stretch>
            <a:fillRect/>
          </a:stretch>
        </p:blipFill>
        <p:spPr>
          <a:xfrm>
            <a:off x="512064" y="457200"/>
            <a:ext cx="768096" cy="768096"/>
          </a:xfrm>
          <a:prstGeom prst="rect">
            <a:avLst/>
          </a:prstGeom>
        </p:spPr>
      </p:pic>
      <p:sp>
        <p:nvSpPr>
          <p:cNvPr id="6" name="Shape 2"/>
          <p:cNvSpPr/>
          <p:nvPr/>
        </p:nvSpPr>
        <p:spPr>
          <a:xfrm>
            <a:off x="1234440" y="256032"/>
            <a:ext cx="402336" cy="402336"/>
          </a:xfrm>
          <a:prstGeom prst="ellipse">
            <a:avLst/>
          </a:prstGeom>
          <a:solidFill>
            <a:srgbClr val="0D9488"/>
          </a:solidFill>
          <a:ln w="15240">
            <a:solidFill>
              <a:srgbClr val="F4F1EB"/>
            </a:solidFill>
            <a:prstDash val="solid"/>
          </a:ln>
        </p:spPr>
      </p:sp>
      <p:sp>
        <p:nvSpPr>
          <p:cNvPr id="7" name="Text 3"/>
          <p:cNvSpPr/>
          <p:nvPr/>
        </p:nvSpPr>
        <p:spPr>
          <a:xfrm>
            <a:off x="1234440" y="256032"/>
            <a:ext cx="402336" cy="402336"/>
          </a:xfrm>
          <a:prstGeom prst="rect">
            <a:avLst/>
          </a:prstGeom>
          <a:noFill/>
          <a:ln/>
        </p:spPr>
        <p:txBody>
          <a:bodyPr wrap="square" lIns="0" tIns="0" rIns="0" bIns="0" rtlCol="0" anchor="ctr"/>
          <a:lstStyle/>
          <a:p>
            <a:pPr marL="0" indent="0" algn="ctr">
              <a:buNone/>
            </a:pPr>
            <a:r>
              <a:rPr lang="en-US" sz="800" b="1" dirty="0">
                <a:solidFill>
                  <a:srgbClr val="FFFFFF"/>
                </a:solidFill>
              </a:rPr>
              <a:t>05</a:t>
            </a:r>
            <a:endParaRPr lang="en-US" sz="800" dirty="0"/>
          </a:p>
        </p:txBody>
      </p:sp>
      <p:sp>
        <p:nvSpPr>
          <p:cNvPr id="8" name="Text 4"/>
          <p:cNvSpPr/>
          <p:nvPr/>
        </p:nvSpPr>
        <p:spPr>
          <a:xfrm>
            <a:off x="201168" y="1536192"/>
            <a:ext cx="3145536" cy="1481328"/>
          </a:xfrm>
          <a:prstGeom prst="rect">
            <a:avLst/>
          </a:prstGeom>
          <a:noFill/>
          <a:ln/>
        </p:spPr>
        <p:txBody>
          <a:bodyPr wrap="square" lIns="0" tIns="0" rIns="0" bIns="0" rtlCol="0" anchor="ctr"/>
          <a:lstStyle/>
          <a:p>
            <a:pPr marL="0" indent="0">
              <a:buNone/>
            </a:pPr>
            <a:r>
              <a:rPr lang="en-US" sz="1700" b="1" dirty="0">
                <a:solidFill>
                  <a:srgbClr val="FFFFFF"/>
                </a:solidFill>
                <a:latin typeface="Georgia" pitchFamily="34" charset="0"/>
                <a:ea typeface="Georgia" pitchFamily="34" charset="-122"/>
                <a:cs typeface="Georgia" pitchFamily="34" charset="-120"/>
              </a:rPr>
              <a:t>Untapped Solar Energy Potential</a:t>
            </a:r>
            <a:endParaRPr lang="en-US" sz="1700" dirty="0"/>
          </a:p>
        </p:txBody>
      </p:sp>
      <p:sp>
        <p:nvSpPr>
          <p:cNvPr id="9" name="Shape 5"/>
          <p:cNvSpPr/>
          <p:nvPr/>
        </p:nvSpPr>
        <p:spPr>
          <a:xfrm>
            <a:off x="201168" y="3108960"/>
            <a:ext cx="2962656" cy="0"/>
          </a:xfrm>
          <a:prstGeom prst="line">
            <a:avLst/>
          </a:prstGeom>
          <a:noFill/>
          <a:ln w="8890">
            <a:solidFill>
              <a:srgbClr val="6BBFB5"/>
            </a:solidFill>
            <a:prstDash val="solid"/>
          </a:ln>
        </p:spPr>
      </p:sp>
      <p:sp>
        <p:nvSpPr>
          <p:cNvPr id="10" name="Text 6"/>
          <p:cNvSpPr/>
          <p:nvPr/>
        </p:nvSpPr>
        <p:spPr>
          <a:xfrm>
            <a:off x="201168" y="3218688"/>
            <a:ext cx="3017520" cy="182880"/>
          </a:xfrm>
          <a:prstGeom prst="rect">
            <a:avLst/>
          </a:prstGeom>
          <a:noFill/>
          <a:ln/>
        </p:spPr>
        <p:txBody>
          <a:bodyPr wrap="square" lIns="0" tIns="0" rIns="0" bIns="0" rtlCol="0" anchor="ctr"/>
          <a:lstStyle/>
          <a:p>
            <a:pPr marL="0" indent="0">
              <a:buNone/>
            </a:pPr>
            <a:r>
              <a:rPr lang="en-US" sz="650" b="1" kern="0" spc="150" dirty="0">
                <a:solidFill>
                  <a:srgbClr val="6BBFB5"/>
                </a:solidFill>
              </a:rPr>
              <a:t>SUSTAINABILITY PILLARS</a:t>
            </a:r>
            <a:endParaRPr lang="en-US" sz="650" dirty="0"/>
          </a:p>
        </p:txBody>
      </p:sp>
      <p:sp>
        <p:nvSpPr>
          <p:cNvPr id="11" name="Shape 7"/>
          <p:cNvSpPr/>
          <p:nvPr/>
        </p:nvSpPr>
        <p:spPr>
          <a:xfrm>
            <a:off x="201168" y="3474720"/>
            <a:ext cx="3035808" cy="365760"/>
          </a:xfrm>
          <a:prstGeom prst="roundRect">
            <a:avLst>
              <a:gd name="adj" fmla="val 15000"/>
            </a:avLst>
          </a:prstGeom>
          <a:solidFill>
            <a:srgbClr val="1B5E20">
              <a:alpha val="78000"/>
            </a:srgbClr>
          </a:solidFill>
          <a:ln w="6350">
            <a:solidFill>
              <a:srgbClr val="1B5E20"/>
            </a:solidFill>
            <a:prstDash val="solid"/>
          </a:ln>
        </p:spPr>
      </p:sp>
      <p:pic>
        <p:nvPicPr>
          <p:cNvPr id="12" name="Image 2" descr="preencoded.png"/>
          <p:cNvPicPr>
            <a:picLocks noChangeAspect="1"/>
          </p:cNvPicPr>
          <p:nvPr/>
        </p:nvPicPr>
        <p:blipFill>
          <a:blip r:embed="rId5"/>
          <a:stretch>
            <a:fillRect/>
          </a:stretch>
        </p:blipFill>
        <p:spPr>
          <a:xfrm>
            <a:off x="347472" y="3557016"/>
            <a:ext cx="201168" cy="201168"/>
          </a:xfrm>
          <a:prstGeom prst="rect">
            <a:avLst/>
          </a:prstGeom>
        </p:spPr>
      </p:pic>
      <p:sp>
        <p:nvSpPr>
          <p:cNvPr id="13" name="Text 8"/>
          <p:cNvSpPr/>
          <p:nvPr/>
        </p:nvSpPr>
        <p:spPr>
          <a:xfrm>
            <a:off x="640080" y="3529584"/>
            <a:ext cx="2468880" cy="256032"/>
          </a:xfrm>
          <a:prstGeom prst="rect">
            <a:avLst/>
          </a:prstGeom>
          <a:noFill/>
          <a:ln/>
        </p:spPr>
        <p:txBody>
          <a:bodyPr wrap="square" lIns="0" tIns="0" rIns="0" bIns="0" rtlCol="0" anchor="ctr"/>
          <a:lstStyle/>
          <a:p>
            <a:pPr marL="0" indent="0">
              <a:buNone/>
            </a:pPr>
            <a:r>
              <a:rPr lang="en-US" sz="900" b="1" dirty="0">
                <a:solidFill>
                  <a:srgbClr val="FFFFFF"/>
                </a:solidFill>
              </a:rPr>
              <a:t>Environmental</a:t>
            </a:r>
            <a:endParaRPr lang="en-US" sz="900" dirty="0"/>
          </a:p>
        </p:txBody>
      </p:sp>
      <p:sp>
        <p:nvSpPr>
          <p:cNvPr id="14" name="Shape 9"/>
          <p:cNvSpPr/>
          <p:nvPr/>
        </p:nvSpPr>
        <p:spPr>
          <a:xfrm>
            <a:off x="201168" y="3950208"/>
            <a:ext cx="3035808" cy="365760"/>
          </a:xfrm>
          <a:prstGeom prst="roundRect">
            <a:avLst>
              <a:gd name="adj" fmla="val 15000"/>
            </a:avLst>
          </a:prstGeom>
          <a:solidFill>
            <a:srgbClr val="78350F">
              <a:alpha val="78000"/>
            </a:srgbClr>
          </a:solidFill>
          <a:ln w="6350">
            <a:solidFill>
              <a:srgbClr val="78350F"/>
            </a:solidFill>
            <a:prstDash val="solid"/>
          </a:ln>
        </p:spPr>
      </p:sp>
      <p:pic>
        <p:nvPicPr>
          <p:cNvPr id="15" name="Image 3" descr="preencoded.png"/>
          <p:cNvPicPr>
            <a:picLocks noChangeAspect="1"/>
          </p:cNvPicPr>
          <p:nvPr/>
        </p:nvPicPr>
        <p:blipFill>
          <a:blip r:embed="rId6"/>
          <a:stretch>
            <a:fillRect/>
          </a:stretch>
        </p:blipFill>
        <p:spPr>
          <a:xfrm>
            <a:off x="347472" y="4032504"/>
            <a:ext cx="201168" cy="201168"/>
          </a:xfrm>
          <a:prstGeom prst="rect">
            <a:avLst/>
          </a:prstGeom>
        </p:spPr>
      </p:pic>
      <p:sp>
        <p:nvSpPr>
          <p:cNvPr id="16" name="Text 10"/>
          <p:cNvSpPr/>
          <p:nvPr/>
        </p:nvSpPr>
        <p:spPr>
          <a:xfrm>
            <a:off x="640080" y="4005072"/>
            <a:ext cx="2468880" cy="256032"/>
          </a:xfrm>
          <a:prstGeom prst="rect">
            <a:avLst/>
          </a:prstGeom>
          <a:noFill/>
          <a:ln/>
        </p:spPr>
        <p:txBody>
          <a:bodyPr wrap="square" lIns="0" tIns="0" rIns="0" bIns="0" rtlCol="0" anchor="ctr"/>
          <a:lstStyle/>
          <a:p>
            <a:pPr marL="0" indent="0">
              <a:buNone/>
            </a:pPr>
            <a:r>
              <a:rPr lang="en-US" sz="900" b="1" dirty="0">
                <a:solidFill>
                  <a:srgbClr val="FFFFFF"/>
                </a:solidFill>
              </a:rPr>
              <a:t>Economic</a:t>
            </a:r>
            <a:endParaRPr lang="en-US" sz="900" dirty="0"/>
          </a:p>
        </p:txBody>
      </p:sp>
      <p:sp>
        <p:nvSpPr>
          <p:cNvPr id="17" name="Text 11"/>
          <p:cNvSpPr/>
          <p:nvPr/>
        </p:nvSpPr>
        <p:spPr>
          <a:xfrm>
            <a:off x="201168" y="6455664"/>
            <a:ext cx="3035808" cy="201168"/>
          </a:xfrm>
          <a:prstGeom prst="rect">
            <a:avLst/>
          </a:prstGeom>
          <a:noFill/>
          <a:ln/>
        </p:spPr>
        <p:txBody>
          <a:bodyPr wrap="square" lIns="0" tIns="0" rIns="0" bIns="0" rtlCol="0" anchor="ctr"/>
          <a:lstStyle/>
          <a:p>
            <a:pPr marL="0" indent="0" algn="ctr">
              <a:buNone/>
            </a:pPr>
            <a:r>
              <a:rPr lang="en-US" sz="800" dirty="0">
                <a:solidFill>
                  <a:srgbClr val="6BBFB5"/>
                </a:solidFill>
              </a:rPr>
              <a:t>5 of 5</a:t>
            </a:r>
            <a:endParaRPr lang="en-US" sz="800" dirty="0"/>
          </a:p>
        </p:txBody>
      </p:sp>
      <p:sp>
        <p:nvSpPr>
          <p:cNvPr id="18" name="Text 12"/>
          <p:cNvSpPr/>
          <p:nvPr/>
        </p:nvSpPr>
        <p:spPr>
          <a:xfrm>
            <a:off x="3840480" y="182880"/>
            <a:ext cx="8119872" cy="182880"/>
          </a:xfrm>
          <a:prstGeom prst="rect">
            <a:avLst/>
          </a:prstGeom>
          <a:noFill/>
          <a:ln/>
        </p:spPr>
        <p:txBody>
          <a:bodyPr wrap="square" lIns="0" tIns="0" rIns="0" bIns="0" rtlCol="0" anchor="ctr"/>
          <a:lstStyle/>
          <a:p>
            <a:pPr marL="0" indent="0">
              <a:buNone/>
            </a:pPr>
            <a:r>
              <a:rPr lang="en-US" sz="750" dirty="0">
                <a:solidFill>
                  <a:srgbClr val="5A6E5B"/>
                </a:solidFill>
              </a:rPr>
              <a:t>Campus Sustainability Audit  /  AKI's Poona College</a:t>
            </a:r>
            <a:endParaRPr lang="en-US" sz="750" dirty="0"/>
          </a:p>
        </p:txBody>
      </p:sp>
      <p:sp>
        <p:nvSpPr>
          <p:cNvPr id="19" name="Shape 13"/>
          <p:cNvSpPr/>
          <p:nvPr/>
        </p:nvSpPr>
        <p:spPr>
          <a:xfrm>
            <a:off x="3840480" y="402336"/>
            <a:ext cx="8119872" cy="0"/>
          </a:xfrm>
          <a:prstGeom prst="line">
            <a:avLst/>
          </a:prstGeom>
          <a:noFill/>
          <a:ln w="8890">
            <a:solidFill>
              <a:srgbClr val="D5CFC4"/>
            </a:solidFill>
            <a:prstDash val="solid"/>
          </a:ln>
        </p:spPr>
      </p:sp>
      <p:pic>
        <p:nvPicPr>
          <p:cNvPr id="20" name="Image 4" descr="preencoded.png"/>
          <p:cNvPicPr>
            <a:picLocks noChangeAspect="1"/>
          </p:cNvPicPr>
          <p:nvPr/>
        </p:nvPicPr>
        <p:blipFill>
          <a:blip r:embed="rId7"/>
          <a:stretch>
            <a:fillRect/>
          </a:stretch>
        </p:blipFill>
        <p:spPr>
          <a:xfrm>
            <a:off x="3840480" y="521208"/>
            <a:ext cx="201168" cy="201168"/>
          </a:xfrm>
          <a:prstGeom prst="rect">
            <a:avLst/>
          </a:prstGeom>
        </p:spPr>
      </p:pic>
      <p:sp>
        <p:nvSpPr>
          <p:cNvPr id="21" name="Text 14"/>
          <p:cNvSpPr/>
          <p:nvPr/>
        </p:nvSpPr>
        <p:spPr>
          <a:xfrm>
            <a:off x="4114800" y="521208"/>
            <a:ext cx="914400" cy="201168"/>
          </a:xfrm>
          <a:prstGeom prst="rect">
            <a:avLst/>
          </a:prstGeom>
          <a:noFill/>
          <a:ln/>
        </p:spPr>
        <p:txBody>
          <a:bodyPr wrap="square" lIns="0" tIns="0" rIns="0" bIns="0" rtlCol="0" anchor="ctr"/>
          <a:lstStyle/>
          <a:p>
            <a:pPr marL="0" indent="0">
              <a:buNone/>
            </a:pPr>
            <a:r>
              <a:rPr lang="en-US" sz="850" b="1" dirty="0">
                <a:solidFill>
                  <a:srgbClr val="2E3D2F"/>
                </a:solidFill>
              </a:rPr>
              <a:t>Location:</a:t>
            </a:r>
            <a:endParaRPr lang="en-US" sz="850" dirty="0"/>
          </a:p>
        </p:txBody>
      </p:sp>
      <p:sp>
        <p:nvSpPr>
          <p:cNvPr id="22" name="Text 15"/>
          <p:cNvSpPr/>
          <p:nvPr/>
        </p:nvSpPr>
        <p:spPr>
          <a:xfrm>
            <a:off x="5029200" y="521208"/>
            <a:ext cx="6912864" cy="201168"/>
          </a:xfrm>
          <a:prstGeom prst="rect">
            <a:avLst/>
          </a:prstGeom>
          <a:noFill/>
          <a:ln/>
        </p:spPr>
        <p:txBody>
          <a:bodyPr wrap="square" lIns="0" tIns="0" rIns="0" bIns="0" rtlCol="0" anchor="ctr"/>
          <a:lstStyle/>
          <a:p>
            <a:pPr marL="0" indent="0">
              <a:buNone/>
            </a:pPr>
            <a:r>
              <a:rPr lang="en-US" sz="850" dirty="0">
                <a:solidFill>
                  <a:srgbClr val="5A6E5B"/>
                </a:solidFill>
              </a:rPr>
              <a:t>Rooftops — Main Building, Science Wing, Gymnasium</a:t>
            </a:r>
            <a:endParaRPr lang="en-US" sz="850" dirty="0"/>
          </a:p>
        </p:txBody>
      </p:sp>
      <p:pic>
        <p:nvPicPr>
          <p:cNvPr id="23" name="Image 5" descr="preencoded.png"/>
          <p:cNvPicPr>
            <a:picLocks noChangeAspect="1"/>
          </p:cNvPicPr>
          <p:nvPr/>
        </p:nvPicPr>
        <p:blipFill>
          <a:blip r:embed="rId8"/>
          <a:stretch>
            <a:fillRect/>
          </a:stretch>
        </p:blipFill>
        <p:spPr>
          <a:xfrm>
            <a:off x="3840480" y="777240"/>
            <a:ext cx="201168" cy="201168"/>
          </a:xfrm>
          <a:prstGeom prst="rect">
            <a:avLst/>
          </a:prstGeom>
        </p:spPr>
      </p:pic>
      <p:sp>
        <p:nvSpPr>
          <p:cNvPr id="24" name="Text 16"/>
          <p:cNvSpPr/>
          <p:nvPr/>
        </p:nvSpPr>
        <p:spPr>
          <a:xfrm>
            <a:off x="4114800" y="777240"/>
            <a:ext cx="914400" cy="201168"/>
          </a:xfrm>
          <a:prstGeom prst="rect">
            <a:avLst/>
          </a:prstGeom>
          <a:noFill/>
          <a:ln/>
        </p:spPr>
        <p:txBody>
          <a:bodyPr wrap="square" lIns="0" tIns="0" rIns="0" bIns="0" rtlCol="0" anchor="ctr"/>
          <a:lstStyle/>
          <a:p>
            <a:pPr marL="0" indent="0">
              <a:buNone/>
            </a:pPr>
            <a:r>
              <a:rPr lang="en-US" sz="850" b="1" dirty="0">
                <a:solidFill>
                  <a:srgbClr val="2E3D2F"/>
                </a:solidFill>
              </a:rPr>
              <a:t>Observed:</a:t>
            </a:r>
            <a:endParaRPr lang="en-US" sz="850" dirty="0"/>
          </a:p>
        </p:txBody>
      </p:sp>
      <p:sp>
        <p:nvSpPr>
          <p:cNvPr id="25" name="Text 17"/>
          <p:cNvSpPr/>
          <p:nvPr/>
        </p:nvSpPr>
        <p:spPr>
          <a:xfrm>
            <a:off x="5029200" y="777240"/>
            <a:ext cx="6912864" cy="201168"/>
          </a:xfrm>
          <a:prstGeom prst="rect">
            <a:avLst/>
          </a:prstGeom>
          <a:noFill/>
          <a:ln/>
        </p:spPr>
        <p:txBody>
          <a:bodyPr wrap="square" lIns="0" tIns="0" rIns="0" bIns="0" rtlCol="0" anchor="ctr"/>
          <a:lstStyle/>
          <a:p>
            <a:pPr marL="0" indent="0">
              <a:buNone/>
            </a:pPr>
            <a:r>
              <a:rPr lang="en-US" sz="850" i="1" dirty="0">
                <a:solidFill>
                  <a:srgbClr val="5A6E5B"/>
                </a:solidFill>
              </a:rPr>
              <a:t>June 5, 2025 — 11:00 AM</a:t>
            </a:r>
            <a:endParaRPr lang="en-US" sz="850" dirty="0"/>
          </a:p>
        </p:txBody>
      </p:sp>
      <p:sp>
        <p:nvSpPr>
          <p:cNvPr id="26" name="Shape 18"/>
          <p:cNvSpPr/>
          <p:nvPr/>
        </p:nvSpPr>
        <p:spPr>
          <a:xfrm>
            <a:off x="3840480" y="1078992"/>
            <a:ext cx="8119872" cy="2286000"/>
          </a:xfrm>
          <a:prstGeom prst="roundRect">
            <a:avLst>
              <a:gd name="adj" fmla="val 3200"/>
            </a:avLst>
          </a:prstGeom>
          <a:solidFill>
            <a:srgbClr val="FFFFFF"/>
          </a:solidFill>
          <a:ln w="7620">
            <a:solidFill>
              <a:srgbClr val="DDD8CE"/>
            </a:solidFill>
            <a:prstDash val="solid"/>
          </a:ln>
          <a:effectLst>
            <a:outerShdw blurRad="101600" dist="38100" dir="8100000" algn="bl" rotWithShape="0">
              <a:srgbClr val="000000">
                <a:alpha val="15000"/>
              </a:srgbClr>
            </a:outerShdw>
          </a:effectLst>
        </p:spPr>
      </p:sp>
      <p:sp>
        <p:nvSpPr>
          <p:cNvPr id="27" name="Shape 19"/>
          <p:cNvSpPr/>
          <p:nvPr/>
        </p:nvSpPr>
        <p:spPr>
          <a:xfrm>
            <a:off x="3840480" y="1078992"/>
            <a:ext cx="59436" cy="2286000"/>
          </a:xfrm>
          <a:prstGeom prst="rect">
            <a:avLst/>
          </a:prstGeom>
          <a:solidFill>
            <a:srgbClr val="0D9488"/>
          </a:solidFill>
          <a:ln w="12700">
            <a:solidFill>
              <a:srgbClr val="0D9488"/>
            </a:solidFill>
            <a:prstDash val="solid"/>
          </a:ln>
        </p:spPr>
      </p:sp>
      <p:pic>
        <p:nvPicPr>
          <p:cNvPr id="28" name="Image 6" descr="preencoded.png"/>
          <p:cNvPicPr>
            <a:picLocks noChangeAspect="1"/>
          </p:cNvPicPr>
          <p:nvPr/>
        </p:nvPicPr>
        <p:blipFill>
          <a:blip r:embed="rId9"/>
          <a:stretch>
            <a:fillRect/>
          </a:stretch>
        </p:blipFill>
        <p:spPr>
          <a:xfrm>
            <a:off x="4041648" y="1170432"/>
            <a:ext cx="201168" cy="201168"/>
          </a:xfrm>
          <a:prstGeom prst="rect">
            <a:avLst/>
          </a:prstGeom>
        </p:spPr>
      </p:pic>
      <p:sp>
        <p:nvSpPr>
          <p:cNvPr id="29" name="Text 20"/>
          <p:cNvSpPr/>
          <p:nvPr/>
        </p:nvSpPr>
        <p:spPr>
          <a:xfrm>
            <a:off x="4315968" y="1152144"/>
            <a:ext cx="7571232" cy="256032"/>
          </a:xfrm>
          <a:prstGeom prst="rect">
            <a:avLst/>
          </a:prstGeom>
          <a:noFill/>
          <a:ln/>
        </p:spPr>
        <p:txBody>
          <a:bodyPr wrap="square" lIns="0" tIns="0" rIns="0" bIns="0" rtlCol="0" anchor="ctr"/>
          <a:lstStyle/>
          <a:p>
            <a:pPr marL="0" indent="0">
              <a:buNone/>
            </a:pPr>
            <a:r>
              <a:rPr lang="en-US" sz="1100" b="1" dirty="0">
                <a:solidFill>
                  <a:srgbClr val="2E3D2F"/>
                </a:solidFill>
                <a:latin typeface="Georgia" pitchFamily="34" charset="0"/>
                <a:ea typeface="Georgia" pitchFamily="34" charset="-122"/>
                <a:cs typeface="Georgia" pitchFamily="34" charset="-120"/>
              </a:rPr>
              <a:t>Observation Note</a:t>
            </a:r>
            <a:endParaRPr lang="en-US" sz="1100" dirty="0"/>
          </a:p>
        </p:txBody>
      </p:sp>
      <p:sp>
        <p:nvSpPr>
          <p:cNvPr id="30" name="Text 21"/>
          <p:cNvSpPr/>
          <p:nvPr/>
        </p:nvSpPr>
        <p:spPr>
          <a:xfrm>
            <a:off x="4041648" y="1444752"/>
            <a:ext cx="7845552" cy="1847088"/>
          </a:xfrm>
          <a:prstGeom prst="rect">
            <a:avLst/>
          </a:prstGeom>
          <a:noFill/>
          <a:ln/>
        </p:spPr>
        <p:txBody>
          <a:bodyPr wrap="square" lIns="0" tIns="0" rIns="0" bIns="0" rtlCol="0" anchor="ctr"/>
          <a:lstStyle/>
          <a:p>
            <a:pPr marL="0" indent="0">
              <a:buNone/>
            </a:pPr>
            <a:r>
              <a:rPr lang="en-US" sz="950" dirty="0">
                <a:solidFill>
                  <a:srgbClr val="5A6E5B"/>
                </a:solidFill>
              </a:rPr>
              <a:t>Multiple campus buildings were assessed for rooftop usability. The main building, science wing, Administration all possess large, flat, unobstructed rooftop surfaces currently unused. No solar photovoltaic panels, solar water heaters, or any renewable energy infrastructure was observed. Pune receives approximately 5–6 peak sun hours per day — well within the threshold for cost-effective solar generation.</a:t>
            </a:r>
            <a:endParaRPr lang="en-US" sz="950" dirty="0"/>
          </a:p>
        </p:txBody>
      </p:sp>
      <p:sp>
        <p:nvSpPr>
          <p:cNvPr id="31" name="Shape 22"/>
          <p:cNvSpPr/>
          <p:nvPr/>
        </p:nvSpPr>
        <p:spPr>
          <a:xfrm>
            <a:off x="3840480" y="3474720"/>
            <a:ext cx="8119872" cy="0"/>
          </a:xfrm>
          <a:prstGeom prst="line">
            <a:avLst/>
          </a:prstGeom>
          <a:noFill/>
          <a:ln w="8890">
            <a:solidFill>
              <a:srgbClr val="DDD8CE"/>
            </a:solidFill>
            <a:prstDash val="solid"/>
          </a:ln>
        </p:spPr>
      </p:sp>
      <p:pic>
        <p:nvPicPr>
          <p:cNvPr id="32" name="Image 7" descr="preencoded.png"/>
          <p:cNvPicPr>
            <a:picLocks noChangeAspect="1"/>
          </p:cNvPicPr>
          <p:nvPr/>
        </p:nvPicPr>
        <p:blipFill>
          <a:blip r:embed="rId10"/>
          <a:stretch>
            <a:fillRect/>
          </a:stretch>
        </p:blipFill>
        <p:spPr>
          <a:xfrm>
            <a:off x="3840480" y="3584448"/>
            <a:ext cx="201168" cy="201168"/>
          </a:xfrm>
          <a:prstGeom prst="rect">
            <a:avLst/>
          </a:prstGeom>
        </p:spPr>
      </p:pic>
      <p:sp>
        <p:nvSpPr>
          <p:cNvPr id="33" name="Text 23"/>
          <p:cNvSpPr/>
          <p:nvPr/>
        </p:nvSpPr>
        <p:spPr>
          <a:xfrm>
            <a:off x="4114800" y="3584448"/>
            <a:ext cx="1508760" cy="201168"/>
          </a:xfrm>
          <a:prstGeom prst="rect">
            <a:avLst/>
          </a:prstGeom>
          <a:noFill/>
          <a:ln/>
        </p:spPr>
        <p:txBody>
          <a:bodyPr wrap="square" lIns="0" tIns="0" rIns="0" bIns="0" rtlCol="0" anchor="ctr"/>
          <a:lstStyle/>
          <a:p>
            <a:pPr marL="0" indent="0">
              <a:buNone/>
            </a:pPr>
            <a:r>
              <a:rPr lang="en-US" sz="850" b="1" dirty="0">
                <a:solidFill>
                  <a:srgbClr val="2E3D2F"/>
                </a:solidFill>
              </a:rPr>
              <a:t>Who is Affected:</a:t>
            </a:r>
            <a:endParaRPr lang="en-US" sz="850" dirty="0"/>
          </a:p>
        </p:txBody>
      </p:sp>
      <p:sp>
        <p:nvSpPr>
          <p:cNvPr id="34" name="Text 24"/>
          <p:cNvSpPr/>
          <p:nvPr/>
        </p:nvSpPr>
        <p:spPr>
          <a:xfrm>
            <a:off x="5623560" y="3584448"/>
            <a:ext cx="6318504" cy="201168"/>
          </a:xfrm>
          <a:prstGeom prst="rect">
            <a:avLst/>
          </a:prstGeom>
          <a:noFill/>
          <a:ln/>
        </p:spPr>
        <p:txBody>
          <a:bodyPr wrap="square" lIns="0" tIns="0" rIns="0" bIns="0" rtlCol="0" anchor="ctr"/>
          <a:lstStyle/>
          <a:p>
            <a:pPr marL="0" indent="0">
              <a:buNone/>
            </a:pPr>
            <a:r>
              <a:rPr lang="en-US" sz="850" dirty="0">
                <a:solidFill>
                  <a:srgbClr val="5A6E5B"/>
                </a:solidFill>
              </a:rPr>
              <a:t>Entire campus community; grid infrastructure; regional environment.</a:t>
            </a:r>
            <a:endParaRPr lang="en-US" sz="850" dirty="0"/>
          </a:p>
        </p:txBody>
      </p:sp>
      <p:sp>
        <p:nvSpPr>
          <p:cNvPr id="35" name="Shape 25"/>
          <p:cNvSpPr/>
          <p:nvPr/>
        </p:nvSpPr>
        <p:spPr>
          <a:xfrm>
            <a:off x="3840480" y="3886200"/>
            <a:ext cx="8119872" cy="2651760"/>
          </a:xfrm>
          <a:prstGeom prst="roundRect">
            <a:avLst>
              <a:gd name="adj" fmla="val 3103"/>
            </a:avLst>
          </a:prstGeom>
          <a:solidFill>
            <a:srgbClr val="1A3A1F"/>
          </a:solidFill>
          <a:ln w="10160">
            <a:solidFill>
              <a:srgbClr val="0D9488"/>
            </a:solidFill>
            <a:prstDash val="solid"/>
          </a:ln>
          <a:effectLst>
            <a:outerShdw blurRad="101600" dist="38100" dir="8100000" algn="bl" rotWithShape="0">
              <a:srgbClr val="000000">
                <a:alpha val="15000"/>
              </a:srgbClr>
            </a:outerShdw>
          </a:effectLst>
        </p:spPr>
      </p:sp>
      <p:pic>
        <p:nvPicPr>
          <p:cNvPr id="36" name="Image 8" descr="preencoded.png"/>
          <p:cNvPicPr>
            <a:picLocks noChangeAspect="1"/>
          </p:cNvPicPr>
          <p:nvPr/>
        </p:nvPicPr>
        <p:blipFill>
          <a:blip r:embed="rId9">
            <a:alphaModFix amt="22000"/>
          </a:blip>
          <a:stretch>
            <a:fillRect/>
          </a:stretch>
        </p:blipFill>
        <p:spPr>
          <a:xfrm>
            <a:off x="10497312" y="4005072"/>
            <a:ext cx="1280160" cy="1280160"/>
          </a:xfrm>
          <a:prstGeom prst="rect">
            <a:avLst/>
          </a:prstGeom>
        </p:spPr>
      </p:pic>
      <p:sp>
        <p:nvSpPr>
          <p:cNvPr id="37" name="Shape 26"/>
          <p:cNvSpPr/>
          <p:nvPr/>
        </p:nvSpPr>
        <p:spPr>
          <a:xfrm>
            <a:off x="4041648" y="4078224"/>
            <a:ext cx="1755648" cy="329184"/>
          </a:xfrm>
          <a:prstGeom prst="roundRect">
            <a:avLst>
              <a:gd name="adj" fmla="val 16667"/>
            </a:avLst>
          </a:prstGeom>
          <a:solidFill>
            <a:srgbClr val="0D9488"/>
          </a:solidFill>
          <a:ln w="12700">
            <a:solidFill>
              <a:srgbClr val="0D9488"/>
            </a:solidFill>
            <a:prstDash val="solid"/>
          </a:ln>
        </p:spPr>
      </p:sp>
      <p:sp>
        <p:nvSpPr>
          <p:cNvPr id="38" name="Text 27"/>
          <p:cNvSpPr/>
          <p:nvPr/>
        </p:nvSpPr>
        <p:spPr>
          <a:xfrm>
            <a:off x="4041648" y="4078224"/>
            <a:ext cx="1755648" cy="329184"/>
          </a:xfrm>
          <a:prstGeom prst="rect">
            <a:avLst/>
          </a:prstGeom>
          <a:noFill/>
          <a:ln/>
        </p:spPr>
        <p:txBody>
          <a:bodyPr wrap="square" lIns="0" tIns="0" rIns="0" bIns="0" rtlCol="0" anchor="ctr"/>
          <a:lstStyle/>
          <a:p>
            <a:pPr marL="0" indent="0" algn="ctr">
              <a:buNone/>
            </a:pPr>
            <a:r>
              <a:rPr lang="en-US" sz="850" b="1" dirty="0">
                <a:solidFill>
                  <a:srgbClr val="FFFFFF"/>
                </a:solidFill>
              </a:rPr>
              <a:t>IMPACT: HIGH OPPORTUNITY</a:t>
            </a:r>
            <a:endParaRPr lang="en-US" sz="850" dirty="0"/>
          </a:p>
        </p:txBody>
      </p:sp>
      <p:sp>
        <p:nvSpPr>
          <p:cNvPr id="39" name="Text 28"/>
          <p:cNvSpPr/>
          <p:nvPr/>
        </p:nvSpPr>
        <p:spPr>
          <a:xfrm>
            <a:off x="5943600" y="4096512"/>
            <a:ext cx="1463040" cy="274320"/>
          </a:xfrm>
          <a:prstGeom prst="rect">
            <a:avLst/>
          </a:prstGeom>
          <a:noFill/>
          <a:ln/>
        </p:spPr>
        <p:txBody>
          <a:bodyPr wrap="square" lIns="0" tIns="0" rIns="0" bIns="0" rtlCol="0" anchor="ctr"/>
          <a:lstStyle/>
          <a:p>
            <a:pPr marL="0" indent="0">
              <a:buNone/>
            </a:pPr>
            <a:r>
              <a:rPr lang="en-US" sz="950" b="1" dirty="0">
                <a:solidFill>
                  <a:srgbClr val="6BBFB5"/>
                </a:solidFill>
              </a:rPr>
              <a:t>Reasoning:</a:t>
            </a:r>
            <a:endParaRPr lang="en-US" sz="950" dirty="0"/>
          </a:p>
        </p:txBody>
      </p:sp>
      <p:sp>
        <p:nvSpPr>
          <p:cNvPr id="40" name="Text 29"/>
          <p:cNvSpPr/>
          <p:nvPr/>
        </p:nvSpPr>
        <p:spPr>
          <a:xfrm>
            <a:off x="4041648" y="4480560"/>
            <a:ext cx="7717536" cy="1920240"/>
          </a:xfrm>
          <a:prstGeom prst="rect">
            <a:avLst/>
          </a:prstGeom>
          <a:noFill/>
          <a:ln/>
        </p:spPr>
        <p:txBody>
          <a:bodyPr wrap="square" lIns="0" tIns="0" rIns="0" bIns="0" rtlCol="0" anchor="ctr"/>
          <a:lstStyle/>
          <a:p>
            <a:pPr marL="0" indent="0">
              <a:buNone/>
            </a:pPr>
            <a:r>
              <a:rPr lang="en-US" sz="950" dirty="0">
                <a:solidFill>
                  <a:srgbClr val="C8E6C9"/>
                </a:solidFill>
              </a:rPr>
              <a:t>Installing rooftop solar PV could substantially reduce campus electricity bills, decrease grid dependency, and lower the institution's carbon footprint — all while demonstrating environmental leadership to students. Given government subsidies and net-metering policies in Maharashtra, ROI is achievable within 5–7 years, representing the single highest-leverage sustainability intervention available to the college.</a:t>
            </a:r>
            <a:endParaRPr lang="en-US" sz="950" dirty="0"/>
          </a:p>
        </p:txBody>
      </p:sp>
      <p:sp>
        <p:nvSpPr>
          <p:cNvPr id="41" name="Shape 30"/>
          <p:cNvSpPr/>
          <p:nvPr/>
        </p:nvSpPr>
        <p:spPr>
          <a:xfrm>
            <a:off x="0" y="6675120"/>
            <a:ext cx="12161520" cy="182880"/>
          </a:xfrm>
          <a:prstGeom prst="rect">
            <a:avLst/>
          </a:prstGeom>
          <a:solidFill>
            <a:srgbClr val="050E06"/>
          </a:solidFill>
          <a:ln w="12700">
            <a:solidFill>
              <a:srgbClr val="050E06"/>
            </a:solidFill>
            <a:prstDash val="solid"/>
          </a:ln>
        </p:spPr>
      </p:sp>
      <p:sp>
        <p:nvSpPr>
          <p:cNvPr id="42" name="Text 31"/>
          <p:cNvSpPr/>
          <p:nvPr/>
        </p:nvSpPr>
        <p:spPr>
          <a:xfrm>
            <a:off x="0" y="6675120"/>
            <a:ext cx="12161520" cy="182880"/>
          </a:xfrm>
          <a:prstGeom prst="rect">
            <a:avLst/>
          </a:prstGeom>
          <a:noFill/>
          <a:ln/>
        </p:spPr>
        <p:txBody>
          <a:bodyPr wrap="square" lIns="0" tIns="0" rIns="0" bIns="0" rtlCol="0" anchor="ctr"/>
          <a:lstStyle/>
          <a:p>
            <a:pPr marL="0" indent="0" algn="ctr">
              <a:buNone/>
            </a:pPr>
            <a:r>
              <a:rPr lang="en-US" sz="650" dirty="0">
                <a:solidFill>
                  <a:srgbClr val="6BBFB5"/>
                </a:solidFill>
              </a:rPr>
              <a:t>AKI's Poona College  ·  Campus Sustainability Audit  ·  June 2025  ·  Intern: Zaid Khan</a:t>
            </a:r>
            <a:endParaRPr lang="en-US" sz="65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C6C6C6"/>
      </a:dk1>
      <a:lt1>
        <a:sysClr val="window" lastClr="000000"/>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C6C6C6"/>
      </a:dk1>
      <a:lt1>
        <a:sysClr val="window" lastClr="000000"/>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TotalTime>
  <Words>1050</Words>
  <Application>Microsoft Office PowerPoint</Application>
  <PresentationFormat>Widescreen</PresentationFormat>
  <Paragraphs>117</Paragraphs>
  <Slides>6</Slides>
  <Notes>6</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6</vt:i4>
      </vt:variant>
    </vt:vector>
  </HeadingPairs>
  <TitlesOfParts>
    <vt:vector size="10" baseType="lpstr">
      <vt:lpstr>Arial</vt:lpstr>
      <vt:lpstr>Calibri</vt:lpstr>
      <vt:lpstr>Georgia</vt:lpstr>
      <vt:lpstr>Office Theme</vt:lpstr>
      <vt:lpstr>PowerPoint Presentation</vt:lpstr>
      <vt:lpstr>PowerPoint Presentation</vt:lpstr>
      <vt:lpstr>PowerPoint Presentation</vt:lpstr>
      <vt:lpstr>PowerPoint Presentation</vt:lpstr>
      <vt:lpstr>PowerPoint Presentation</vt:lpstr>
      <vt:lpstr>PowerPoint Presentation</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Zaid Khan</cp:lastModifiedBy>
  <cp:revision>3</cp:revision>
  <dcterms:created xsi:type="dcterms:W3CDTF">2026-06-08T00:44:39Z</dcterms:created>
  <dcterms:modified xsi:type="dcterms:W3CDTF">2026-06-08T06:18:49Z</dcterms:modified>
</cp:coreProperties>
</file>