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1" autoAdjust="0"/>
    <p:restoredTop sz="94610"/>
  </p:normalViewPr>
  <p:slideViewPr>
    <p:cSldViewPr snapToGrid="0" snapToObjects="1">
      <p:cViewPr varScale="1">
        <p:scale>
          <a:sx n="94" d="100"/>
          <a:sy n="94" d="100"/>
        </p:scale>
        <p:origin x="69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26476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">
            <a:off x="7863840" y="-1280160"/>
            <a:ext cx="5943600" cy="5943600"/>
          </a:xfrm>
          <a:prstGeom prst="roundRect">
            <a:avLst>
              <a:gd name="adj" fmla="val 18462"/>
            </a:avLst>
          </a:prstGeom>
          <a:solidFill>
            <a:srgbClr val="2A3D5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720000">
            <a:off x="8778240" y="1463040"/>
            <a:ext cx="4206240" cy="4206240"/>
          </a:xfrm>
          <a:prstGeom prst="roundRect">
            <a:avLst>
              <a:gd name="adj" fmla="val 21739"/>
            </a:avLst>
          </a:prstGeom>
          <a:solidFill>
            <a:srgbClr val="243447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601200" y="4206240"/>
            <a:ext cx="2286000" cy="2286000"/>
          </a:xfrm>
          <a:prstGeom prst="ellipse">
            <a:avLst/>
          </a:prstGeom>
          <a:solidFill>
            <a:srgbClr val="1E2D3D">
              <a:alpha val="85000"/>
            </a:srgbClr>
          </a:solidFill>
          <a:ln w="12700">
            <a:solidFill>
              <a:srgbClr val="00D4AA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223760" y="457200"/>
            <a:ext cx="1554480" cy="1554480"/>
          </a:xfrm>
          <a:prstGeom prst="ellipse">
            <a:avLst/>
          </a:prstGeom>
          <a:ln w="15875">
            <a:solidFill>
              <a:srgbClr val="00D4AA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55280" y="1188720"/>
            <a:ext cx="82296" cy="82296"/>
          </a:xfrm>
          <a:prstGeom prst="ellipse">
            <a:avLst/>
          </a:prstGeom>
          <a:solidFill>
            <a:srgbClr val="00D4AA">
              <a:alpha val="8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052560" y="868680"/>
            <a:ext cx="54864" cy="54864"/>
          </a:xfrm>
          <a:prstGeom prst="ellipse">
            <a:avLst/>
          </a:prstGeom>
          <a:solidFill>
            <a:srgbClr val="00D4AA">
              <a:alpha val="8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332720" y="1554480"/>
            <a:ext cx="64008" cy="64008"/>
          </a:xfrm>
          <a:prstGeom prst="ellipse">
            <a:avLst/>
          </a:prstGeom>
          <a:solidFill>
            <a:srgbClr val="00D4AA">
              <a:alpha val="8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338560" y="822960"/>
            <a:ext cx="45720" cy="45720"/>
          </a:xfrm>
          <a:prstGeom prst="ellipse">
            <a:avLst/>
          </a:prstGeom>
          <a:solidFill>
            <a:srgbClr val="00D4AA">
              <a:alpha val="8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8321040" y="2834640"/>
            <a:ext cx="50292" cy="50292"/>
          </a:xfrm>
          <a:prstGeom prst="ellipse">
            <a:avLst/>
          </a:prstGeom>
          <a:solidFill>
            <a:srgbClr val="00D4AA">
              <a:alpha val="8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9692640" y="3291840"/>
            <a:ext cx="73152" cy="73152"/>
          </a:xfrm>
          <a:prstGeom prst="ellipse">
            <a:avLst/>
          </a:prstGeom>
          <a:solidFill>
            <a:srgbClr val="00D4AA">
              <a:alpha val="8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1064240" y="2743200"/>
            <a:ext cx="54864" cy="54864"/>
          </a:xfrm>
          <a:prstGeom prst="ellipse">
            <a:avLst/>
          </a:prstGeom>
          <a:solidFill>
            <a:srgbClr val="00D4AA">
              <a:alpha val="8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0607040" y="5212080"/>
            <a:ext cx="64008" cy="64008"/>
          </a:xfrm>
          <a:prstGeom prst="ellipse">
            <a:avLst/>
          </a:prstGeom>
          <a:solidFill>
            <a:srgbClr val="00D4AA">
              <a:alpha val="8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8869680" y="5394960"/>
            <a:ext cx="45720" cy="45720"/>
          </a:xfrm>
          <a:prstGeom prst="ellipse">
            <a:avLst/>
          </a:prstGeom>
          <a:solidFill>
            <a:srgbClr val="00D4AA">
              <a:alpha val="8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612880" y="4663440"/>
            <a:ext cx="54864" cy="54864"/>
          </a:xfrm>
          <a:prstGeom prst="ellipse">
            <a:avLst/>
          </a:prstGeom>
          <a:solidFill>
            <a:srgbClr val="00D4AA">
              <a:alpha val="8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7863840" y="4206240"/>
            <a:ext cx="41148" cy="41148"/>
          </a:xfrm>
          <a:prstGeom prst="ellipse">
            <a:avLst/>
          </a:prstGeom>
          <a:solidFill>
            <a:srgbClr val="00D4AA">
              <a:alpha val="8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8001000" y="1234440"/>
            <a:ext cx="1051560" cy="0"/>
          </a:xfrm>
          <a:prstGeom prst="line">
            <a:avLst/>
          </a:prstGeom>
          <a:noFill/>
          <a:ln w="9525">
            <a:solidFill>
              <a:srgbClr val="00D4AA">
                <a:alpha val="3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738360" y="3337560"/>
            <a:ext cx="1325880" cy="0"/>
          </a:xfrm>
          <a:prstGeom prst="line">
            <a:avLst/>
          </a:prstGeom>
          <a:noFill/>
          <a:ln w="9525">
            <a:solidFill>
              <a:srgbClr val="00D4AA">
                <a:alpha val="3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652760" y="5257800"/>
            <a:ext cx="960120" cy="0"/>
          </a:xfrm>
          <a:prstGeom prst="line">
            <a:avLst/>
          </a:prstGeom>
          <a:noFill/>
          <a:ln w="9525">
            <a:solidFill>
              <a:srgbClr val="00D4AA">
                <a:alpha val="3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" y="731520"/>
            <a:ext cx="381305" cy="381305"/>
          </a:xfrm>
          <a:prstGeom prst="roundRect">
            <a:avLst>
              <a:gd name="adj" fmla="val 19904"/>
            </a:avLst>
          </a:prstGeom>
          <a:solidFill>
            <a:srgbClr val="1E2D3D"/>
          </a:solidFill>
          <a:ln w="12700">
            <a:solidFill>
              <a:srgbClr val="00D4AA"/>
            </a:solidFill>
            <a:prstDash val="solid"/>
          </a:ln>
        </p:spPr>
      </p:sp>
      <p:pic>
        <p:nvPicPr>
          <p:cNvPr id="21" name="Image 0" descr="/home/claude/portfolio-assets/icons/LuWind-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28" y="818388"/>
            <a:ext cx="200254" cy="200254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298448" y="7086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AeroBin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1298448" y="10012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Justice For Clean Air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22960" y="2514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AEROBIN · PUNE PILOT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777240" y="278892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AeroBin</a:t>
            </a:r>
            <a:endParaRPr lang="en-US" sz="6000" dirty="0"/>
          </a:p>
        </p:txBody>
      </p:sp>
      <p:sp>
        <p:nvSpPr>
          <p:cNvPr id="26" name="Text 23"/>
          <p:cNvSpPr/>
          <p:nvPr/>
        </p:nvSpPr>
        <p:spPr>
          <a:xfrm>
            <a:off x="822960" y="388620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early-warning and dispatch system for open waste burning in Pune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822960" y="4572000"/>
            <a:ext cx="6583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tools, one dataset: a resident-facing alert map, a PMC officer dispatch console, and a funder-facing impact scorecard — built and tested on a real 12-week, 5-ward pilot.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822960" y="5532120"/>
            <a:ext cx="2011680" cy="0"/>
          </a:xfrm>
          <a:prstGeom prst="line">
            <a:avLst/>
          </a:prstGeom>
          <a:noFill/>
          <a:ln w="15875">
            <a:solidFill>
              <a:srgbClr val="2A3D52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22960" y="565099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Zaid Khan</a:t>
            </a:r>
            <a:endParaRPr lang="en-US" sz="1700" dirty="0"/>
          </a:p>
        </p:txBody>
      </p:sp>
      <p:sp>
        <p:nvSpPr>
          <p:cNvPr id="30" name="Text 27"/>
          <p:cNvSpPr/>
          <p:nvPr/>
        </p:nvSpPr>
        <p:spPr>
          <a:xfrm>
            <a:off x="822960" y="60350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1M1B Internship  ·  Green Skills and Applied AI for Climate Action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40080"/>
            <a:ext cx="566928" cy="566928"/>
          </a:xfrm>
          <a:prstGeom prst="ellipse">
            <a:avLst/>
          </a:prstGeom>
          <a:solidFill>
            <a:srgbClr val="F0435A">
              <a:alpha val="15000"/>
            </a:srgbClr>
          </a:solidFill>
          <a:ln/>
        </p:spPr>
      </p:sp>
      <p:pic>
        <p:nvPicPr>
          <p:cNvPr id="3" name="Image 0" descr="/home/claude/portfolio-assets/icons/LuFlame-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361" y="78748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54480" y="71323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42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822960" y="1051560"/>
            <a:ext cx="7498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waste burning is a health risk PMC can’t see coming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822960" y="214884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22960" y="2441448"/>
            <a:ext cx="7589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65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Residents burn garbage in the open — especially in low-income wards with sparse municipal collection — sending PM2.5 spikes through nearby neighborhoods with no warning and no record of what happened.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22960" y="3447288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Who’s affected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22960" y="3739896"/>
            <a:ext cx="7589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65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Residents breathing the smoke, PMC ward officers who only hear about it after the fact, and the city’s broader air-quality targets under the National Clean Air Programme.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22960" y="4745736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example from the pilot data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22960" y="5038344"/>
            <a:ext cx="7589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65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Burn-risk scores spiked into the High band across multiple wards in the weeks right after Diwali — the data’s own “post-festival week” flag — exactly when informal waste and firecracker-debris burning surges and existing systems had no way to flag it in advance.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732520" y="1051560"/>
            <a:ext cx="2743200" cy="5074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363646">
                <a:alpha val="1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9006840" y="13258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B42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9006840" y="178308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400" dirty="0"/>
          </a:p>
        </p:txBody>
      </p:sp>
      <p:sp>
        <p:nvSpPr>
          <p:cNvPr id="15" name="Text 12"/>
          <p:cNvSpPr/>
          <p:nvPr/>
        </p:nvSpPr>
        <p:spPr>
          <a:xfrm>
            <a:off x="9006840" y="2313432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65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Pune wards in the pilot, chosen to include low-income, sparse-sensor areas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9006840" y="3264408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400" dirty="0"/>
          </a:p>
        </p:txBody>
      </p:sp>
      <p:sp>
        <p:nvSpPr>
          <p:cNvPr id="17" name="Text 14"/>
          <p:cNvSpPr/>
          <p:nvPr/>
        </p:nvSpPr>
        <p:spPr>
          <a:xfrm>
            <a:off x="9006840" y="379476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65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wards had any early-warning system before this pilot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9006840" y="4745736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400" dirty="0"/>
          </a:p>
        </p:txBody>
      </p:sp>
      <p:sp>
        <p:nvSpPr>
          <p:cNvPr id="19" name="Text 16"/>
          <p:cNvSpPr/>
          <p:nvPr/>
        </p:nvSpPr>
        <p:spPr>
          <a:xfrm>
            <a:off x="9006840" y="5276088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65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dispatch decisions are now logged and auditable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11274552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40080"/>
            <a:ext cx="566928" cy="566928"/>
          </a:xfrm>
          <a:prstGeom prst="ellipse">
            <a:avLst/>
          </a:prstGeom>
          <a:solidFill>
            <a:srgbClr val="00D4AA">
              <a:alpha val="15000"/>
            </a:srgbClr>
          </a:solidFill>
          <a:ln/>
        </p:spPr>
      </p:sp>
      <p:pic>
        <p:nvPicPr>
          <p:cNvPr id="3" name="Image 0" descr="/home/claude/portfolio-assets/icons/LuSearch-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361" y="78748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54480" y="71323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65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&amp; RESEARCH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822960" y="105156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 weeks, 5 wards, real pilot numbers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822960" y="178308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65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behind AeroBin isn’t hypothetical — it’s a simulated 12-week pilot (Oct–Dec) across Hadapsar, Kharadi, Wagholi, Bhosari, and Mundhwa, built on CPCB 2022–24 baselines and real ESG report targets, with 9 tracked metrics across Environmental, Social, and Governance categories.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22960" y="2880360"/>
            <a:ext cx="35661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363646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1051560" y="299008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 → 71.2</a:t>
            </a:r>
            <a:r>
              <a:rPr lang="en-US" sz="1100" dirty="0">
                <a:solidFill>
                  <a:srgbClr val="8494A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µg/m³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51560" y="3355848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65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PM2.5 fell over the pilot — short of the 68 target, but a real, measured improvement, not a projection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709160" y="2880360"/>
            <a:ext cx="35661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363646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937760" y="299008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28.8%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4937760" y="3355848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65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alert adoption — below the 50% target, and the single clearest constraint the pilot surfaced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822960" y="4160520"/>
            <a:ext cx="35661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363646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1051560" y="427024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87.1%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051560" y="4636008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65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high-risk alerts were actioned by PMC within 24 hours, above the 80% target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709160" y="4160520"/>
            <a:ext cx="35661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363646">
                <a:alpha val="12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4937760" y="427024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of 3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4937760" y="4636008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65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replication conditions met — the pilot is honest about not being fully ready to scale yet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8732520" y="1051560"/>
            <a:ext cx="2743200" cy="4251960"/>
          </a:xfrm>
          <a:prstGeom prst="roundRect">
            <a:avLst>
              <a:gd name="adj" fmla="val 4000"/>
            </a:avLst>
          </a:prstGeom>
          <a:solidFill>
            <a:srgbClr val="1A1A2E"/>
          </a:solidFill>
          <a:ln/>
        </p:spPr>
      </p:sp>
      <p:sp>
        <p:nvSpPr>
          <p:cNvPr id="20" name="Text 17"/>
          <p:cNvSpPr/>
          <p:nvPr/>
        </p:nvSpPr>
        <p:spPr>
          <a:xfrm>
            <a:off x="9006840" y="13258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9006840" y="1691640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spikes cluster where sensors are thinnest.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006840" y="2514600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7C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Wagholi and Bhosari — the pilot’s low-income, sparse-sensor wards — showed the highest and most volatile burn-risk scores of all five wards, and the widest model-accuracy gap versus the better-instrumented wards.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9006840" y="4069080"/>
            <a:ext cx="2240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That’s why the app tracks a dedicated equity-gap metric, not just an average.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11274552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40080"/>
            <a:ext cx="566928" cy="566928"/>
          </a:xfrm>
          <a:prstGeom prst="ellipse">
            <a:avLst/>
          </a:prstGeom>
          <a:solidFill>
            <a:srgbClr val="00D4AA">
              <a:alpha val="15000"/>
            </a:srgbClr>
          </a:solidFill>
          <a:ln/>
        </p:spPr>
      </p:sp>
      <p:pic>
        <p:nvPicPr>
          <p:cNvPr id="3" name="Image 0" descr="/home/claude/portfolio-assets/icons/LuCpu-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361" y="78748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54480" y="71323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65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822960" y="10515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tools, one dataset, one mission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822960" y="17830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65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one dashboard trying to serve everyone, AeroBin is three small, single-purpose apps — each answering exactly one person’s question, driven by the same data-derived burn-risk score (0–100, banded red / amber / green).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22960" y="260604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363646">
                <a:alpha val="14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097280" y="2880360"/>
            <a:ext cx="548640" cy="548640"/>
          </a:xfrm>
          <a:prstGeom prst="ellipse">
            <a:avLst/>
          </a:prstGeom>
          <a:solidFill>
            <a:srgbClr val="00D4AA"/>
          </a:solidFill>
          <a:ln/>
        </p:spPr>
      </p:sp>
      <p:pic>
        <p:nvPicPr>
          <p:cNvPr id="9" name="Image 1" descr="/home/claude/portfolio-assets/icons/LuMapPin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9926" y="3023006"/>
            <a:ext cx="263347" cy="26334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97280" y="356616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STREET LEVEL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1097280" y="379476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Citizen Alert</a:t>
            </a:r>
            <a:endParaRPr lang="en-US" sz="1900" dirty="0"/>
          </a:p>
        </p:txBody>
      </p:sp>
      <p:sp>
        <p:nvSpPr>
          <p:cNvPr id="12" name="Text 8"/>
          <p:cNvSpPr/>
          <p:nvPr/>
        </p:nvSpPr>
        <p:spPr>
          <a:xfrm>
            <a:off x="1097280" y="4224528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65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“Is my ward burning today?”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1097280" y="4736592"/>
            <a:ext cx="2880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65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map, today’s high-risk wards, one tap to the nearest free dump point. Mobile-first, with a bottom-sheet detail view.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480560" y="260604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363646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754880" y="2880360"/>
            <a:ext cx="548640" cy="548640"/>
          </a:xfrm>
          <a:prstGeom prst="ellipse">
            <a:avLst/>
          </a:prstGeom>
          <a:solidFill>
            <a:srgbClr val="5B8DEF"/>
          </a:solidFill>
          <a:ln/>
        </p:spPr>
      </p:sp>
      <p:pic>
        <p:nvPicPr>
          <p:cNvPr id="16" name="Image 2" descr="/home/claude/portfolio-assets/icons/LuTruck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7526" y="3023006"/>
            <a:ext cx="263347" cy="26334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754880" y="356616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950" dirty="0"/>
          </a:p>
        </p:txBody>
      </p:sp>
      <p:sp>
        <p:nvSpPr>
          <p:cNvPr id="18" name="Text 13"/>
          <p:cNvSpPr/>
          <p:nvPr/>
        </p:nvSpPr>
        <p:spPr>
          <a:xfrm>
            <a:off x="4754880" y="379476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PMC Dispatch</a:t>
            </a:r>
            <a:endParaRPr lang="en-US" sz="1900" dirty="0"/>
          </a:p>
        </p:txBody>
      </p:sp>
      <p:sp>
        <p:nvSpPr>
          <p:cNvPr id="19" name="Text 14"/>
          <p:cNvSpPr/>
          <p:nvPr/>
        </p:nvSpPr>
        <p:spPr>
          <a:xfrm>
            <a:off x="4754880" y="4224528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65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“Which wards need a truck?”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4754880" y="4736592"/>
            <a:ext cx="2880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65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 console with a live dispatch queue, hover map tooltips, and a 100%-logged, auditable decision trail.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8138160" y="260604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363646">
                <a:alpha val="14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8412480" y="2880360"/>
            <a:ext cx="548640" cy="548640"/>
          </a:xfrm>
          <a:prstGeom prst="ellipse">
            <a:avLst/>
          </a:prstGeom>
          <a:solidFill>
            <a:srgbClr val="FFB020"/>
          </a:solidFill>
          <a:ln/>
        </p:spPr>
      </p:sp>
      <p:pic>
        <p:nvPicPr>
          <p:cNvPr id="23" name="Image 3" descr="/home/claude/portfolio-assets/icons/LuChartBar-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55126" y="3023006"/>
            <a:ext cx="263347" cy="263347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412480" y="356616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</a:t>
            </a:r>
            <a:endParaRPr lang="en-US" sz="950" dirty="0"/>
          </a:p>
        </p:txBody>
      </p:sp>
      <p:sp>
        <p:nvSpPr>
          <p:cNvPr id="25" name="Text 19"/>
          <p:cNvSpPr/>
          <p:nvPr/>
        </p:nvSpPr>
        <p:spPr>
          <a:xfrm>
            <a:off x="8412480" y="379476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 Analyst</a:t>
            </a:r>
            <a:endParaRPr lang="en-US" sz="1900" dirty="0"/>
          </a:p>
        </p:txBody>
      </p:sp>
      <p:sp>
        <p:nvSpPr>
          <p:cNvPr id="26" name="Text 20"/>
          <p:cNvSpPr/>
          <p:nvPr/>
        </p:nvSpPr>
        <p:spPr>
          <a:xfrm>
            <a:off x="8412480" y="4224528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65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“Did the pilot work? Ready to scale?”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8412480" y="4736592"/>
            <a:ext cx="2880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65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9-metric ESG scorecard, a 12-week scrubbable playback, and an exportable readiness report for funders.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822960" y="62636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with: </a:t>
            </a:r>
            <a:r>
              <a:rPr lang="en-US" sz="1050" dirty="0">
                <a:solidFill>
                  <a:srgbClr val="565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+ Vite  ·  Leaflet (live ward maps)  ·  Recharts (trend analytics)  ·  OpenWeatherMap Air Pollution API (live PM2.5)  ·  localStorage-backed audit trail</a:t>
            </a:r>
            <a:endParaRPr lang="en-US" sz="1050" dirty="0"/>
          </a:p>
        </p:txBody>
      </p:sp>
      <p:sp>
        <p:nvSpPr>
          <p:cNvPr id="29" name="Text 23"/>
          <p:cNvSpPr/>
          <p:nvPr/>
        </p:nvSpPr>
        <p:spPr>
          <a:xfrm>
            <a:off x="11274552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48640"/>
            <a:ext cx="566928" cy="566928"/>
          </a:xfrm>
          <a:prstGeom prst="ellipse">
            <a:avLst/>
          </a:prstGeom>
          <a:solidFill>
            <a:srgbClr val="00D4AA">
              <a:alpha val="15000"/>
            </a:srgbClr>
          </a:solidFill>
          <a:ln/>
        </p:spPr>
      </p:sp>
      <p:pic>
        <p:nvPicPr>
          <p:cNvPr id="3" name="Image 0" descr="/home/claude/portfolio-assets/icons/LuLayoutDashboard-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361" y="69604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54480" y="62179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65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822960" y="9601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residents and PMC officers actually see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ALERT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822960" y="2011680"/>
            <a:ext cx="521208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363646">
                <a:alpha val="16000"/>
              </a:srgbClr>
            </a:outerShdw>
          </a:effectLst>
        </p:spPr>
      </p:sp>
      <p:pic>
        <p:nvPicPr>
          <p:cNvPr id="8" name="Image 1" descr="/home/claude/portfolio-assets/04b-citizen-popup-crop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60120" y="2148840"/>
            <a:ext cx="4937760" cy="32918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22960" y="5669280"/>
            <a:ext cx="5212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65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a ward → see its risk band, score, and the nearest free dump point. A pulsing red marker means High risk; the bottom banner counts today’s alerts city-wide.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6263640" y="16916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PMC DISPATCH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6263640" y="2011680"/>
            <a:ext cx="521208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363646">
                <a:alpha val="16000"/>
              </a:srgbClr>
            </a:outerShdw>
          </a:effectLst>
        </p:spPr>
      </p:sp>
      <p:pic>
        <p:nvPicPr>
          <p:cNvPr id="12" name="Image 2" descr="/home/claude/portfolio-assets/13b-dispatch-clean-crop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400800" y="2148840"/>
            <a:ext cx="4937760" cy="32918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263640" y="5669280"/>
            <a:ext cx="5212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65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click logs a dispatch decision — permanently auditable. Hovering any marker shows ward name, risk, and PM2.5 without a click.</a:t>
            </a:r>
            <a:endParaRPr lang="en-US" sz="1050" dirty="0"/>
          </a:p>
        </p:txBody>
      </p:sp>
      <p:sp>
        <p:nvSpPr>
          <p:cNvPr id="14" name="Text 9"/>
          <p:cNvSpPr/>
          <p:nvPr/>
        </p:nvSpPr>
        <p:spPr>
          <a:xfrm>
            <a:off x="11274552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48640"/>
            <a:ext cx="566928" cy="566928"/>
          </a:xfrm>
          <a:prstGeom prst="ellipse">
            <a:avLst/>
          </a:prstGeom>
          <a:solidFill>
            <a:srgbClr val="FFB020">
              <a:alpha val="15000"/>
            </a:srgbClr>
          </a:solidFill>
          <a:ln/>
        </p:spPr>
      </p:sp>
      <p:pic>
        <p:nvPicPr>
          <p:cNvPr id="3" name="Image 0" descr="/home/claude/portfolio-assets/icons/LuChartBar-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361" y="69604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54480" y="62179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65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822960" y="9601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funders and PMC leadership see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822960" y="1783080"/>
            <a:ext cx="7223760" cy="452628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363646">
                <a:alpha val="16000"/>
              </a:srgbClr>
            </a:outerShdw>
          </a:effectLst>
        </p:spPr>
      </p:sp>
      <p:pic>
        <p:nvPicPr>
          <p:cNvPr id="7" name="Image 1" descr="/home/claude/portfolio-assets/11-analyst-playback-midweek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60120" y="1920240"/>
            <a:ext cx="6949440" cy="42519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8321040" y="1874520"/>
            <a:ext cx="82296" cy="1051560"/>
          </a:xfrm>
          <a:prstGeom prst="roundRect">
            <a:avLst/>
          </a:prstGeom>
          <a:solidFill>
            <a:srgbClr val="FFB020"/>
          </a:solidFill>
          <a:ln/>
        </p:spPr>
      </p:sp>
      <p:sp>
        <p:nvSpPr>
          <p:cNvPr id="9" name="Text 5"/>
          <p:cNvSpPr/>
          <p:nvPr/>
        </p:nvSpPr>
        <p:spPr>
          <a:xfrm>
            <a:off x="8549640" y="18288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Playback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8549640" y="214884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565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Scrub or auto-play all 12 weeks — the map, ward list, and every ESG sparkline’s tracking dot move together, so the trend and the map never tell two different stories.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8321040" y="3355848"/>
            <a:ext cx="82296" cy="1051560"/>
          </a:xfrm>
          <a:prstGeom prst="roundRect">
            <a:avLst/>
          </a:prstGeom>
          <a:solidFill>
            <a:srgbClr val="FFB020"/>
          </a:solidFill>
          <a:ln/>
        </p:spPr>
      </p:sp>
      <p:sp>
        <p:nvSpPr>
          <p:cNvPr id="12" name="Text 8"/>
          <p:cNvSpPr/>
          <p:nvPr/>
        </p:nvSpPr>
        <p:spPr>
          <a:xfrm>
            <a:off x="8549640" y="331012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status derivation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8549640" y="3630168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565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/ amber / red on every metric comes from a single, auditable rule (progress from baseline to target) — not a judgment call.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8321040" y="4837176"/>
            <a:ext cx="82296" cy="1051560"/>
          </a:xfrm>
          <a:prstGeom prst="roundRect">
            <a:avLst/>
          </a:prstGeom>
          <a:solidFill>
            <a:srgbClr val="FFB020"/>
          </a:solidFill>
          <a:ln/>
        </p:spPr>
      </p:sp>
      <p:sp>
        <p:nvSpPr>
          <p:cNvPr id="15" name="Text 11"/>
          <p:cNvSpPr/>
          <p:nvPr/>
        </p:nvSpPr>
        <p:spPr>
          <a:xfrm>
            <a:off x="8549640" y="4791456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export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8549640" y="5111496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565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funder-ready JSON report — all 9 metrics, phase progress, replication readiness — downloads directly from the scorecard.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11274552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40080"/>
            <a:ext cx="566928" cy="566928"/>
          </a:xfrm>
          <a:prstGeom prst="ellipse">
            <a:avLst/>
          </a:prstGeom>
          <a:solidFill>
            <a:srgbClr val="00D4AA">
              <a:alpha val="15000"/>
            </a:srgbClr>
          </a:solidFill>
          <a:ln/>
        </p:spPr>
      </p:sp>
      <p:pic>
        <p:nvPicPr>
          <p:cNvPr id="3" name="Image 0" descr="/home/claude/portfolio-assets/icons/LuTrendingUp-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361" y="78748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54480" y="71323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65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IMPLEMENTATION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822960" y="1051560"/>
            <a:ext cx="8686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Tested like a real product, not just demoed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822960" y="178308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65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feature was verified interacting with a real headless browser — not just read from the code and assumed to work — across 30+ automated scenarios covering all three apps, mobile layout, and the full dispatch/demo-mode lifecycle.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22960" y="2514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RESULTS</a:t>
            </a:r>
            <a:endParaRPr lang="en-US" sz="1100" dirty="0"/>
          </a:p>
        </p:txBody>
      </p:sp>
      <p:pic>
        <p:nvPicPr>
          <p:cNvPr id="8" name="Image 1" descr="/home/claude/portfolio-assets/icons/LuCircleCheckBig-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2880360"/>
            <a:ext cx="201168" cy="20116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70432" y="2825496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65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 audit trail: 100% of decisions logged, matching the pilot’s own governance metric</a:t>
            </a:r>
            <a:endParaRPr lang="en-US" sz="1050" dirty="0"/>
          </a:p>
        </p:txBody>
      </p:sp>
      <p:pic>
        <p:nvPicPr>
          <p:cNvPr id="10" name="Image 2" descr="/home/claude/portfolio-assets/icons/LuCircleCheckBig-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630168"/>
            <a:ext cx="201168" cy="20116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70432" y="3575304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65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87.1% PMC alert-response rate reproduced live in the Dispatch console</a:t>
            </a:r>
            <a:endParaRPr lang="en-US" sz="1050" dirty="0"/>
          </a:p>
        </p:txBody>
      </p:sp>
      <p:pic>
        <p:nvPicPr>
          <p:cNvPr id="12" name="Image 3" descr="/home/claude/portfolio-assets/icons/LuCircleCheckBig-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379976"/>
            <a:ext cx="201168" cy="20116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170432" y="4325112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65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console errors and zero lint warnings across the full build</a:t>
            </a:r>
            <a:endParaRPr lang="en-US" sz="1050" dirty="0"/>
          </a:p>
        </p:txBody>
      </p:sp>
      <p:pic>
        <p:nvPicPr>
          <p:cNvPr id="14" name="Image 4" descr="/home/claude/portfolio-assets/icons/LuCircleCheckBig-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5129784"/>
            <a:ext cx="201168" cy="20116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170432" y="5074920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65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bugs found by real contrast math — not eyeballing — and fixed: several risk badges measured as low as 1.7:1 contrast (fails WCAG AA); now 5.6–6.6:1</a:t>
            </a:r>
            <a:endParaRPr lang="en-US" sz="1050" dirty="0"/>
          </a:p>
        </p:txBody>
      </p:sp>
      <p:sp>
        <p:nvSpPr>
          <p:cNvPr id="16" name="Shape 9"/>
          <p:cNvSpPr/>
          <p:nvPr/>
        </p:nvSpPr>
        <p:spPr>
          <a:xfrm>
            <a:off x="5623560" y="2514600"/>
            <a:ext cx="5852160" cy="3703320"/>
          </a:xfrm>
          <a:prstGeom prst="roundRect">
            <a:avLst>
              <a:gd name="adj" fmla="val 2963"/>
            </a:avLst>
          </a:prstGeom>
          <a:solidFill>
            <a:srgbClr val="1A1A2E"/>
          </a:solidFill>
          <a:ln/>
        </p:spPr>
      </p:sp>
      <p:sp>
        <p:nvSpPr>
          <p:cNvPr id="17" name="Text 10"/>
          <p:cNvSpPr/>
          <p:nvPr/>
        </p:nvSpPr>
        <p:spPr>
          <a:xfrm>
            <a:off x="5897880" y="274320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3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CHALLENGE, HONESTLY TOLD</a:t>
            </a:r>
            <a:endParaRPr lang="en-US" sz="1000" dirty="0"/>
          </a:p>
        </p:txBody>
      </p:sp>
      <p:sp>
        <p:nvSpPr>
          <p:cNvPr id="18" name="Text 11"/>
          <p:cNvSpPr/>
          <p:nvPr/>
        </p:nvSpPr>
        <p:spPr>
          <a:xfrm>
            <a:off x="5897880" y="306324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dispatch button wouldn’t reset</a:t>
            </a:r>
            <a:endParaRPr lang="en-US" sz="1600" dirty="0"/>
          </a:p>
        </p:txBody>
      </p:sp>
      <p:sp>
        <p:nvSpPr>
          <p:cNvPr id="19" name="Text 12"/>
          <p:cNvSpPr/>
          <p:nvPr/>
        </p:nvSpPr>
        <p:spPr>
          <a:xfrm>
            <a:off x="5897880" y="352044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7C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demo-mode toggle for showcasing alert states left a ward stuck showing “Logged” even after turning demo mode off and back on.</a:t>
            </a:r>
            <a:endParaRPr lang="en-US" sz="1100" dirty="0"/>
          </a:p>
        </p:txBody>
      </p:sp>
      <p:sp>
        <p:nvSpPr>
          <p:cNvPr id="20" name="Text 13"/>
          <p:cNvSpPr/>
          <p:nvPr/>
        </p:nvSpPr>
        <p:spPr>
          <a:xfrm>
            <a:off x="5897880" y="4114800"/>
            <a:ext cx="5303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fix attempt — comparing a stored “was this demo mode” flag — looked right on paper but failed on re-test: the flag can’t tell “still the same session” from “a new one after a round trip through off.”</a:t>
            </a:r>
            <a:endParaRPr lang="en-US" sz="1050" dirty="0"/>
          </a:p>
        </p:txBody>
      </p:sp>
      <p:sp>
        <p:nvSpPr>
          <p:cNvPr id="21" name="Text 14"/>
          <p:cNvSpPr/>
          <p:nvPr/>
        </p:nvSpPr>
        <p:spPr>
          <a:xfrm>
            <a:off x="5897880" y="4937760"/>
            <a:ext cx="5303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fix: clear the log at the one place demo mode actually changes, not by detecting staleness afterward. Re-tested three ways — full navigation cycle, live in-page toggle, repeat cycle — all clean.</a:t>
            </a:r>
            <a:endParaRPr lang="en-US" sz="1100" dirty="0"/>
          </a:p>
        </p:txBody>
      </p:sp>
      <p:sp>
        <p:nvSpPr>
          <p:cNvPr id="22" name="Text 15"/>
          <p:cNvSpPr/>
          <p:nvPr/>
        </p:nvSpPr>
        <p:spPr>
          <a:xfrm>
            <a:off x="11274552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40080"/>
            <a:ext cx="658368" cy="658368"/>
          </a:xfrm>
          <a:prstGeom prst="ellipse">
            <a:avLst/>
          </a:prstGeom>
          <a:solidFill>
            <a:srgbClr val="00D4AA"/>
          </a:solidFill>
          <a:ln/>
        </p:spPr>
      </p:sp>
      <p:pic>
        <p:nvPicPr>
          <p:cNvPr id="3" name="Image 0" descr="/home/claude/portfolio-assets/icons/LuRocket-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136" y="811256"/>
            <a:ext cx="316017" cy="31601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45920" y="74980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WHAT’S NEXT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822960" y="1097280"/>
            <a:ext cx="9875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pilot to city-wide accountability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822960" y="182880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things stand between this pilot and a real PMC deployment.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822960" y="2423160"/>
            <a:ext cx="3429000" cy="3520440"/>
          </a:xfrm>
          <a:prstGeom prst="roundRect">
            <a:avLst>
              <a:gd name="adj" fmla="val 3200"/>
            </a:avLst>
          </a:prstGeom>
          <a:solidFill>
            <a:srgbClr val="2A3D52">
              <a:alpha val="70000"/>
            </a:srgbClr>
          </a:solidFill>
          <a:ln w="12700">
            <a:solidFill>
              <a:srgbClr val="00D4AA">
                <a:alpha val="55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97280" y="2697480"/>
            <a:ext cx="621792" cy="621792"/>
          </a:xfrm>
          <a:prstGeom prst="ellipse">
            <a:avLst/>
          </a:prstGeom>
          <a:solidFill>
            <a:srgbClr val="00D4AA"/>
          </a:solidFill>
          <a:ln/>
        </p:spPr>
      </p:sp>
      <p:pic>
        <p:nvPicPr>
          <p:cNvPr id="9" name="Image 1" descr="/home/claude/portfolio-assets/icons/LuTarget-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8946" y="2859146"/>
            <a:ext cx="298460" cy="2984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97280" y="3447288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milestone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1097280" y="4023360"/>
            <a:ext cx="64008" cy="64008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12" name="Text 8"/>
          <p:cNvSpPr/>
          <p:nvPr/>
        </p:nvSpPr>
        <p:spPr>
          <a:xfrm>
            <a:off x="1325880" y="3867912"/>
            <a:ext cx="2651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burn-detection source (satellite NASA FIRMS, or a PMC data-sharing agreement) replacing the static pilot snapshot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1097280" y="4983480"/>
            <a:ext cx="64008" cy="64008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14" name="Text 10"/>
          <p:cNvSpPr/>
          <p:nvPr/>
        </p:nvSpPr>
        <p:spPr>
          <a:xfrm>
            <a:off x="1325880" y="4828032"/>
            <a:ext cx="2651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backend (Firebase/Supabase) so dispatch logs persist across officers and devices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4480560" y="2423160"/>
            <a:ext cx="3429000" cy="3520440"/>
          </a:xfrm>
          <a:prstGeom prst="roundRect">
            <a:avLst>
              <a:gd name="adj" fmla="val 3200"/>
            </a:avLst>
          </a:prstGeom>
          <a:solidFill>
            <a:srgbClr val="2A3D52">
              <a:alpha val="70000"/>
            </a:srgbClr>
          </a:solidFill>
          <a:ln w="12700">
            <a:solidFill>
              <a:srgbClr val="1A5276">
                <a:alpha val="5500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754880" y="2697480"/>
            <a:ext cx="621792" cy="621792"/>
          </a:xfrm>
          <a:prstGeom prst="ellipse">
            <a:avLst/>
          </a:prstGeom>
          <a:solidFill>
            <a:srgbClr val="1A5276"/>
          </a:solidFill>
          <a:ln/>
        </p:spPr>
      </p:sp>
      <p:pic>
        <p:nvPicPr>
          <p:cNvPr id="17" name="Image 2" descr="/home/claude/portfolio-assets/icons/LuUsers-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6546" y="2859146"/>
            <a:ext cx="298460" cy="2984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754880" y="3447288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 required</a:t>
            </a:r>
            <a:endParaRPr lang="en-US" sz="1600" dirty="0"/>
          </a:p>
        </p:txBody>
      </p:sp>
      <p:sp>
        <p:nvSpPr>
          <p:cNvPr id="19" name="Shape 14"/>
          <p:cNvSpPr/>
          <p:nvPr/>
        </p:nvSpPr>
        <p:spPr>
          <a:xfrm>
            <a:off x="4754880" y="4023360"/>
            <a:ext cx="64008" cy="64008"/>
          </a:xfrm>
          <a:prstGeom prst="ellipse">
            <a:avLst/>
          </a:prstGeom>
          <a:solidFill>
            <a:srgbClr val="1A5276"/>
          </a:solidFill>
          <a:ln/>
        </p:spPr>
      </p:sp>
      <p:sp>
        <p:nvSpPr>
          <p:cNvPr id="20" name="Text 15"/>
          <p:cNvSpPr/>
          <p:nvPr/>
        </p:nvSpPr>
        <p:spPr>
          <a:xfrm>
            <a:off x="4983480" y="3867912"/>
            <a:ext cx="2651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PMC pilot partnership to test Dispatch with real ward officers, not simulated data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4754880" y="4983480"/>
            <a:ext cx="64008" cy="64008"/>
          </a:xfrm>
          <a:prstGeom prst="ellipse">
            <a:avLst/>
          </a:prstGeom>
          <a:solidFill>
            <a:srgbClr val="1A5276"/>
          </a:solidFill>
          <a:ln/>
        </p:spPr>
      </p:sp>
      <p:sp>
        <p:nvSpPr>
          <p:cNvPr id="22" name="Text 17"/>
          <p:cNvSpPr/>
          <p:nvPr/>
        </p:nvSpPr>
        <p:spPr>
          <a:xfrm>
            <a:off x="4983480" y="4828032"/>
            <a:ext cx="2651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Hosting, plus a live OpenWeatherMap key wired in for production PM2.5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8138160" y="2423160"/>
            <a:ext cx="3429000" cy="3520440"/>
          </a:xfrm>
          <a:prstGeom prst="roundRect">
            <a:avLst>
              <a:gd name="adj" fmla="val 3200"/>
            </a:avLst>
          </a:prstGeom>
          <a:solidFill>
            <a:srgbClr val="2A3D52">
              <a:alpha val="70000"/>
            </a:srgbClr>
          </a:solidFill>
          <a:ln w="12700">
            <a:solidFill>
              <a:srgbClr val="E67E22">
                <a:alpha val="55000"/>
              </a:srgbClr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8412480" y="2697480"/>
            <a:ext cx="621792" cy="621792"/>
          </a:xfrm>
          <a:prstGeom prst="ellipse">
            <a:avLst/>
          </a:prstGeom>
          <a:solidFill>
            <a:srgbClr val="E67E22"/>
          </a:solidFill>
          <a:ln/>
        </p:spPr>
      </p:sp>
      <p:pic>
        <p:nvPicPr>
          <p:cNvPr id="25" name="Image 3" descr="/home/claude/portfolio-assets/icons/LuSparkles-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4146" y="2859146"/>
            <a:ext cx="298460" cy="29846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8412480" y="3447288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scales</a:t>
            </a:r>
            <a:endParaRPr lang="en-US" sz="1600" dirty="0"/>
          </a:p>
        </p:txBody>
      </p:sp>
      <p:sp>
        <p:nvSpPr>
          <p:cNvPr id="27" name="Shape 21"/>
          <p:cNvSpPr/>
          <p:nvPr/>
        </p:nvSpPr>
        <p:spPr>
          <a:xfrm>
            <a:off x="8412480" y="4023360"/>
            <a:ext cx="64008" cy="64008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28" name="Text 22"/>
          <p:cNvSpPr/>
          <p:nvPr/>
        </p:nvSpPr>
        <p:spPr>
          <a:xfrm>
            <a:off x="8641080" y="3867912"/>
            <a:ext cx="2651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of 3 replication conditions already met; SMS adoption (28.8% vs. 50%) is the one gap to close first</a:t>
            </a:r>
            <a:endParaRPr lang="en-US" sz="1050" dirty="0"/>
          </a:p>
        </p:txBody>
      </p:sp>
      <p:sp>
        <p:nvSpPr>
          <p:cNvPr id="29" name="Shape 23"/>
          <p:cNvSpPr/>
          <p:nvPr/>
        </p:nvSpPr>
        <p:spPr>
          <a:xfrm>
            <a:off x="8412480" y="4983480"/>
            <a:ext cx="64008" cy="64008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30" name="Text 24"/>
          <p:cNvSpPr/>
          <p:nvPr/>
        </p:nvSpPr>
        <p:spPr>
          <a:xfrm>
            <a:off x="8641080" y="4828032"/>
            <a:ext cx="2651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3-app pattern replicates ward-by-ward to any city with comparable pilot data</a:t>
            </a:r>
            <a:endParaRPr lang="en-US" sz="1050" dirty="0"/>
          </a:p>
        </p:txBody>
      </p:sp>
      <p:sp>
        <p:nvSpPr>
          <p:cNvPr id="31" name="Shape 25"/>
          <p:cNvSpPr/>
          <p:nvPr/>
        </p:nvSpPr>
        <p:spPr>
          <a:xfrm>
            <a:off x="822960" y="6263640"/>
            <a:ext cx="2011680" cy="0"/>
          </a:xfrm>
          <a:prstGeom prst="line">
            <a:avLst/>
          </a:prstGeom>
          <a:noFill/>
          <a:ln w="15875">
            <a:solidFill>
              <a:srgbClr val="2A3D52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822960" y="6382512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AeroBin — Zaid Khan · 1M1B Internship on Green Skills and Applied AI for Climate Action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11274552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1211</Words>
  <Application>Microsoft Office PowerPoint</Application>
  <PresentationFormat>Widescreen</PresentationFormat>
  <Paragraphs>109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Zaid Khan</cp:lastModifiedBy>
  <cp:revision>2</cp:revision>
  <dcterms:created xsi:type="dcterms:W3CDTF">2026-07-27T02:59:11Z</dcterms:created>
  <dcterms:modified xsi:type="dcterms:W3CDTF">2026-07-27T03:18:44Z</dcterms:modified>
</cp:coreProperties>
</file>