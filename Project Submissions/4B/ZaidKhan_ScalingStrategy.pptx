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580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SUSTAINAI  ·  INTERN</a:t>
            </a: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ZAID KHAN</a:t>
            </a:r>
            <a:endParaRPr lang="en-US" sz="750" b="1" dirty="0"/>
          </a:p>
        </p:txBody>
      </p:sp>
      <p:sp>
        <p:nvSpPr>
          <p:cNvPr id="4" name="Shape 2"/>
          <p:cNvSpPr/>
          <p:nvPr/>
        </p:nvSpPr>
        <p:spPr>
          <a:xfrm>
            <a:off x="411480" y="1060704"/>
            <a:ext cx="100584" cy="10058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9144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AeroBin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3504" y="1554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&amp; Implementation Strategy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03504" y="2121408"/>
            <a:ext cx="6766560" cy="420624"/>
          </a:xfrm>
          <a:prstGeom prst="roundRect">
            <a:avLst>
              <a:gd name="adj" fmla="val 15217"/>
            </a:avLst>
          </a:prstGeom>
          <a:solidFill>
            <a:srgbClr val="1E2D3D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21408"/>
            <a:ext cx="6510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predicts which ward will burn 48 hours before it happens — and triggers waste collection before the smoke starts.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" y="2706624"/>
            <a:ext cx="2157984" cy="877824"/>
          </a:xfrm>
          <a:prstGeom prst="roundRect">
            <a:avLst>
              <a:gd name="adj" fmla="val 10417"/>
            </a:avLst>
          </a:prstGeom>
          <a:solidFill>
            <a:srgbClr val="243447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761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2,100t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4944" y="316382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waste generated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in Pune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2706624"/>
            <a:ext cx="2157984" cy="877824"/>
          </a:xfrm>
          <a:prstGeom prst="roundRect">
            <a:avLst>
              <a:gd name="adj" fmla="val 10417"/>
            </a:avLst>
          </a:prstGeom>
          <a:solidFill>
            <a:srgbClr val="243447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761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35808" y="316382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winter PM2.5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 burning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85232" y="2706624"/>
            <a:ext cx="2157984" cy="877824"/>
          </a:xfrm>
          <a:prstGeom prst="roundRect">
            <a:avLst>
              <a:gd name="adj" fmla="val 10417"/>
            </a:avLst>
          </a:prstGeom>
          <a:solidFill>
            <a:srgbClr val="243447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2761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76672" y="316382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at PMC today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" y="3712464"/>
            <a:ext cx="6766560" cy="475488"/>
          </a:xfrm>
          <a:prstGeom prst="roundRect">
            <a:avLst>
              <a:gd name="adj" fmla="val 13462"/>
            </a:avLst>
          </a:prstGeom>
          <a:solidFill>
            <a:srgbClr val="1E2D3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12464"/>
            <a:ext cx="6510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NCAP MANDATE  ·  </a:t>
            </a:r>
            <a:r>
              <a:rPr lang="en-US" sz="9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is legally committed to a 40% reduction in PM2.5 by 2026 under India's National Clean Air Programme. PMC has no ward-level mechanism to prove progress. AeroBin fills that gap.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AKI's Poona College, Pune ·  CPCB AQI data 2015–2025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06640" y="502920"/>
            <a:ext cx="1554480" cy="155448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6096" y="722376"/>
            <a:ext cx="1115568" cy="1115568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722376"/>
            <a:ext cx="11155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VALUE PROPOSITION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Scaling &amp; Implementation Strategy  ·  Zaid Khan  ·  SustainAI  ·  Pune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Built For — and What Flips Adoption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8449056" cy="274320"/>
          </a:xfrm>
          <a:prstGeom prst="roundRect">
            <a:avLst>
              <a:gd name="adj" fmla="val 20000"/>
            </a:avLst>
          </a:prstGeom>
          <a:solidFill>
            <a:srgbClr val="E6FAF6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115568"/>
            <a:ext cx="830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is the gatekeeper. Residents are the validators. Both must move together — each has a distinct adoption trigger.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481328"/>
            <a:ext cx="2706624" cy="331012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609344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6093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16093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Operations Officers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19385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6F7F3"/>
          </a:solidFill>
          <a:ln w="6350">
            <a:solidFill>
              <a:srgbClr val="0D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38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488" y="21579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accountable for air quality under NCAP but have no ward-level data to justify decisions or prove progress to government.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" y="28529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6F7F3"/>
          </a:solidFill>
          <a:ln w="6350">
            <a:solidFill>
              <a:srgbClr val="0D7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529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" y="30723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gives every dispatch decision a logged, auditable burn-risk score. Officers have a defensible record — and a NCAP compliance tool.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37673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6F7F3"/>
          </a:solidFill>
          <a:ln w="6350">
            <a:solidFill>
              <a:srgbClr val="0D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673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5488" y="39867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trigger: reduced accountability risk + NCAP reporting made automatic.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36976" y="1481328"/>
            <a:ext cx="2706624" cy="331012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64992" y="1609344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6093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03904" y="16093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in High-Risk Wards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4992" y="19385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AF2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1938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64992" y="21579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their ward's burn-risk or when to expect worse air. No convenient alternative to burning.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64992" y="28529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AF2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8529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64992" y="30723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dump-slot SMS arrives before the burning window. The solution meets residents where they are — WhatsApp, no app download required.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64992" y="37673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AF2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7673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64992" y="39867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trigger: immediate personal relevance — 'your ward is High risk today' lands differently than 'Pune's air is bad.'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1481328"/>
            <a:ext cx="2706624" cy="331012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54496" y="1609344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6093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93408" y="16093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SustainAI / Urban Sustainability Orgs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54496" y="19385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6350">
            <a:solidFill>
              <a:srgbClr val="7D660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1938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54496" y="21579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funding civic solutions but struggling to prove measurable impact to funders with real data.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54496" y="28529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6350">
            <a:solidFill>
              <a:srgbClr val="7D66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28529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54496" y="30723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AeroBin's 9 ESG metrics across Environmental, Social, and Governance pillars generate a structured impact report automatically — no manual data compilation, no anecdotes.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54496" y="3767328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6350">
            <a:solidFill>
              <a:srgbClr val="7D660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7673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54496" y="39867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trigger: ESG reporting made automatic — funders see real numbers, not narratives.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Scaling &amp; Implementation Strategy  ·  Zaid Khan  ·  SustainAI  ·  Pune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Vectors — Sequenced, Not Parallel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8449056" cy="27432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115568"/>
            <a:ext cx="8302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matters:  Partnerships unlock replication.  Replication enables open-source scale.  Each vector is the foundation for the next.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481328"/>
            <a:ext cx="2706624" cy="331012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89888" y="1591056"/>
            <a:ext cx="347472" cy="34747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19933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249424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6F7F3"/>
          </a:solidFill>
          <a:ln w="6350">
            <a:solidFill>
              <a:srgbClr val="0D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494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enabling layer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523744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/ MoEFCC — national data access + NCAP policy endorsement. If CPCB officially endorses AeroBin as a monitoring methodology, every municipal corporation has a reason to adopt.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29184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Mission — 100 Indian cities, active funding. AeroBin fits directly into Smart Cities reporting requirements — making it a compliance tool, not a discretionary one.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405993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CSR — health insurers save on respiratory claims. A CSR partner funds the pilot; the insurer validates health outcomes. Self-sustaining from Year 2.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90672" y="29443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36976" y="1481328"/>
            <a:ext cx="2706624" cy="331012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1591056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19933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Replication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249424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EAF2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2494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cities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64992" y="2523744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is City 2 — same Maharashtra regulatory environment, comparable winter AQI patterns, active Smart Cities Mission designation.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64992" y="329184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AeroBin's data pipeline (CPCB AQI + IMD + ward profiles) exists in all 23 CPCB-monitored Indian cities. Only the training data changes — the architecture is identical.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64992" y="405993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arc: Pilot (SustainAI / CSR grant) → Expansion (PMC operational savings redirected) → Full-scale (CPCB / MoEFCC as national infrastructure).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80176" y="29443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1481328"/>
            <a:ext cx="2706624" cy="331012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68896" y="1591056"/>
            <a:ext cx="347472" cy="347472"/>
          </a:xfrm>
          <a:prstGeom prst="ellipse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4496" y="19933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Release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2249424"/>
            <a:ext cx="2450592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6350">
            <a:solidFill>
              <a:srgbClr val="7D66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2494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scaling engine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54496" y="2523744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AeroBin's data pipeline, model architecture, and ESG reporting template on GitHub. Any municipal corporation can adapt it — SustainAI becomes platform provider, not implementer.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54496" y="329184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SustainAI's role: cities find the repo, build a prototype, come to SustainAI for implementation support. Scaling happens in the community before SustainAI knocks on a door.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54496" y="405993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DIGIT, iGOT Karmayogi, and Urban Data Exchange all scaled this way across Indian cities — open-source community replication, not direct implementation.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Scaling &amp; Implementation Strategy  ·  Zaid Khan  ·  SustainAI  ·  Pune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→ Expansion → Full-Scale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270662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115568"/>
            <a:ext cx="2706624" cy="347472"/>
          </a:xfrm>
          <a:prstGeom prst="roundRect">
            <a:avLst>
              <a:gd name="adj" fmla="val 26316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98448"/>
            <a:ext cx="2706624" cy="16459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1556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·  Months 1–3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4996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SustainAI intern + 1 PMC ward officer (nominated contact) + CPCB data team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wards, 50 bins, real CPCB AQI 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19456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transitions from simulated to real by Week 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5420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SMS alerts + free dump-slot booking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8895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ESG metric tracking begins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20299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36976" y="1115568"/>
            <a:ext cx="270662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1115568"/>
            <a:ext cx="2706624" cy="347472"/>
          </a:xfrm>
          <a:prstGeom prst="roundRect">
            <a:avLst>
              <a:gd name="adj" fmla="val 2631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6976" y="1298448"/>
            <a:ext cx="2706624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111556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 ·  Months 4–9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14996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Commissioner's office + SustainAI project lead + Ward-level field supervisors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PMC zones — model retrained on pilot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64992" y="219456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dashboard live, shared with PMC leadership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64992" y="25420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partnership formalised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64992" y="28895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Mission application submitted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80176" y="20299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1115568"/>
            <a:ext cx="270662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115568"/>
            <a:ext cx="2706624" cy="347472"/>
          </a:xfrm>
          <a:prstGeom prst="roundRect">
            <a:avLst>
              <a:gd name="adj" fmla="val 26316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298448"/>
            <a:ext cx="2706624" cy="16459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11556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 ·  Month 10+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4996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Mission nodal officer + State Environment Dept + Partner city PMC equivalent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54496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replication begins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54496" y="219456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open-sourced on GitHub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54496" y="25420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published as national template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54496" y="28895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operational savings fund ongoing costs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" y="3419856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 TRIGGERS  ·  What must be true before moving to the next phase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" y="3657600"/>
            <a:ext cx="2706624" cy="1133856"/>
          </a:xfrm>
          <a:prstGeom prst="roundRect">
            <a:avLst>
              <a:gd name="adj" fmla="val 6452"/>
            </a:avLst>
          </a:prstGeom>
          <a:solidFill>
            <a:srgbClr val="E6F7F3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7124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Expansion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39136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Alert Response Rate ≥ 80%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09651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Adoption Rate ≥ 25%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2793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trending ↓ in 3 of 5 wards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4805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condition: if PMC Alert Response Rate &lt; 50% at Week 8 → pause, retrain PMC staff before expanding.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36976" y="3657600"/>
            <a:ext cx="2706624" cy="1133856"/>
          </a:xfrm>
          <a:prstGeom prst="roundRect">
            <a:avLst>
              <a:gd name="adj" fmla="val 6452"/>
            </a:avLst>
          </a:prstGeom>
          <a:solidFill>
            <a:srgbClr val="EAF2FB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37124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→ Full-Scale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46704" y="39136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improvement city-wide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46704" y="409651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Equity Gap below 10%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46704" y="42793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Audit Trail at 100%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46704" y="44805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condition: if Model Accuracy Equity Gap &gt; 15% → fix model for low-income wards before replicating.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26480" y="3657600"/>
            <a:ext cx="2706624" cy="1133856"/>
          </a:xfrm>
          <a:prstGeom prst="roundRect">
            <a:avLst>
              <a:gd name="adj" fmla="val 6452"/>
            </a:avLst>
          </a:prstGeom>
          <a:solidFill>
            <a:srgbClr val="FEF5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37124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Results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36208" y="39136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triggers missed but trending right: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36208" y="409651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pilot by 4 weeks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36208" y="42793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+ re-evaluate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36208" y="44805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partial success = extend, not abandon. Document what 'promising but not ready' means.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Scaling &amp; Implementation Strategy  ·  Zaid Khan  ·  SustainAI  ·  Pune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E2D3D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Prioritised — Existential vs. Operational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8449056" cy="256032"/>
          </a:xfrm>
          <a:prstGeom prst="roundRect">
            <a:avLst>
              <a:gd name="adj" fmla="val 21429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097280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EXISTENTIAL  </a:t>
            </a: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stops if unaddressed    </a:t>
            </a: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OPERATIONAL  </a:t>
            </a: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delivery but recoverable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444752"/>
            <a:ext cx="2706624" cy="1554480"/>
          </a:xfrm>
          <a:prstGeom prst="roundRect">
            <a:avLst>
              <a:gd name="adj" fmla="val 588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55448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E74C3C">
              <a:alpha val="15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664208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77393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PMC Institutional Resistance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02996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may resist a system that creates accountability they don't want or undermines their discretion.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4505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as decision-support, not automation. Every score comes with an override — and every override is logged. Officers gain agency AND auditability.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36976" y="1444752"/>
            <a:ext cx="2706624" cy="1554480"/>
          </a:xfrm>
          <a:prstGeom prst="roundRect">
            <a:avLst>
              <a:gd name="adj" fmla="val 588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64992" y="155448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E74C3C">
              <a:alpha val="15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53712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64992" y="177393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Transition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02996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corporations change leadership every 5 years. A new administration may deprioritise the system.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24505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AeroBin in Smart Cities Mission compliance reporting — making it a mandate, not a discretionary tool. Harder to abandon.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1444752"/>
            <a:ext cx="2706624" cy="1554480"/>
          </a:xfrm>
          <a:prstGeom prst="roundRect">
            <a:avLst>
              <a:gd name="adj" fmla="val 588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54496" y="155448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E74C3C">
              <a:alpha val="15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7443216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54496" y="177393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 (DPDPA 2023)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02996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ward-level SMS alerts to residents touches India's Digital Personal Data Protection Act 2023. Non-compliance can shut the project down.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54496" y="24505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registration only. Citizen data stored locally on PMC servers, not cloud. Legal review before WhatsApp bot goes live.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3108960"/>
            <a:ext cx="2706624" cy="1554480"/>
          </a:xfrm>
          <a:prstGeom prst="roundRect">
            <a:avLst>
              <a:gd name="adj" fmla="val 588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" y="3218688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E67E22">
              <a:alpha val="15000"/>
            </a:srgbClr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218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664208" y="32186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343814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Labelling Quality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" y="369417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hotspots detect heat, not specifically waste burning. Cooking fires and kilns appear too — creating noisy training labels.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41148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10% of hotspots by PMC field staff in Pilot months 1–4 before model retrains on that data.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36976" y="3108960"/>
            <a:ext cx="2706624" cy="1554480"/>
          </a:xfrm>
          <a:prstGeom prst="roundRect">
            <a:avLst>
              <a:gd name="adj" fmla="val 588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64992" y="3218688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E67E22">
              <a:alpha val="15000"/>
            </a:srgbClr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218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553712" y="32186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64992" y="343814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Cost at Scale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64992" y="369417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 zones × 50,000 households, per-message API costs become significant operational expenses.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64992" y="41148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only High-risk wards (score ≥ 70) — typically 2–3 of 15 zones daily. ~10,000 messages/day, not 750,000.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26480" y="3108960"/>
            <a:ext cx="2706624" cy="1554480"/>
          </a:xfrm>
          <a:prstGeom prst="roundRect">
            <a:avLst>
              <a:gd name="adj" fmla="val 588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54496" y="3218688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E67E22">
              <a:alpha val="15000"/>
            </a:srgbClr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218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443216" y="32186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54496" y="343814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Accuracy Drop in New Cities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54496" y="369417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to Nagpur means retraining on Nagpur data — which won't exist for a full burning season.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54496" y="41148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Pune's model as a conservative baseline. Flag low-confidence predictions explicitly. Don't hide uncertainty from PMC officers.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1346</Words>
  <Application>Microsoft Office PowerPoint</Application>
  <PresentationFormat>On-screen Show (16:9)</PresentationFormat>
  <Paragraphs>151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AeroBin — Scaling &amp; Implementation Strategy</dc:title>
  <dc:subject>PptxGenJS Presentation</dc:subject>
  <dc:creator>Zaid Khan</dc:creator>
  <cp:lastModifiedBy>Zaid Khan</cp:lastModifiedBy>
  <cp:revision>3</cp:revision>
  <dcterms:created xsi:type="dcterms:W3CDTF">2026-07-05T17:56:41Z</dcterms:created>
  <dcterms:modified xsi:type="dcterms:W3CDTF">2026-07-05T18:06:21Z</dcterms:modified>
</cp:coreProperties>
</file>